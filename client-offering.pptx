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0D4FF"/>
          </a:solidFill>
          <a:ln/>
        </p:spPr>
      </p:sp>
      <p:sp>
        <p:nvSpPr>
          <p:cNvPr id="3" name="Text 1"/>
          <p:cNvSpPr/>
          <p:nvPr/>
        </p:nvSpPr>
        <p:spPr>
          <a:xfrm>
            <a:off x="731520" y="457200"/>
            <a:ext cx="7315200" cy="320040"/>
          </a:xfrm>
          <a:prstGeom prst="rect">
            <a:avLst/>
          </a:prstGeom>
          <a:noFill/>
          <a:ln/>
        </p:spPr>
        <p:txBody>
          <a:bodyPr wrap="square" lIns="0" tIns="0" rIns="0" bIns="0" rtlCol="0" anchor="ctr"/>
          <a:lstStyle/>
          <a:p>
            <a:pPr indent="0" marL="0">
              <a:buNone/>
            </a:pPr>
            <a:r>
              <a:rPr lang="en-US" sz="900" b="1" spc="400" kern="0" dirty="0">
                <a:solidFill>
                  <a:srgbClr val="00D4FF"/>
                </a:solidFill>
                <a:latin typeface="Calibri" pitchFamily="34" charset="0"/>
                <a:ea typeface="Calibri" pitchFamily="34" charset="-122"/>
                <a:cs typeface="Calibri" pitchFamily="34" charset="-120"/>
              </a:rPr>
              <a:t>NTT DATA  ·  DATA &amp; ANALYTICS</a:t>
            </a:r>
            <a:endParaRPr lang="en-US" sz="900" dirty="0"/>
          </a:p>
        </p:txBody>
      </p:sp>
      <p:sp>
        <p:nvSpPr>
          <p:cNvPr id="4" name="Text 2"/>
          <p:cNvSpPr/>
          <p:nvPr/>
        </p:nvSpPr>
        <p:spPr>
          <a:xfrm>
            <a:off x="731520" y="1188720"/>
            <a:ext cx="7315200" cy="2194560"/>
          </a:xfrm>
          <a:prstGeom prst="rect">
            <a:avLst/>
          </a:prstGeom>
          <a:noFill/>
          <a:ln/>
        </p:spPr>
        <p:txBody>
          <a:bodyPr wrap="square" lIns="0" tIns="0" rIns="0" bIns="0" rtlCol="0" anchor="ctr"/>
          <a:lstStyle/>
          <a:p>
            <a:pPr indent="0" marL="0">
              <a:buNone/>
            </a:pPr>
            <a:r>
              <a:rPr lang="en-US" sz="4400" b="1" i="1" dirty="0">
                <a:solidFill>
                  <a:srgbClr val="00D4FF"/>
                </a:solidFill>
                <a:latin typeface="Calibri" pitchFamily="34" charset="0"/>
                <a:ea typeface="Calibri" pitchFamily="34" charset="-122"/>
                <a:cs typeface="Calibri" pitchFamily="34" charset="-120"/>
              </a:rPr>
              <a:t>Autonomous</a:t>
            </a:r>
            <a:endParaRPr lang="en-US" sz="4400" dirty="0"/>
          </a:p>
          <a:p>
            <a:pPr indent="0" marL="0">
              <a:buNone/>
            </a:pPr>
            <a:r>
              <a:rPr lang="en-US" sz="4400" b="1" dirty="0">
                <a:solidFill>
                  <a:srgbClr val="FFFFFF"/>
                </a:solidFill>
                <a:latin typeface="Calibri" pitchFamily="34" charset="0"/>
                <a:ea typeface="Calibri" pitchFamily="34" charset="-122"/>
                <a:cs typeface="Calibri" pitchFamily="34" charset="-120"/>
              </a:rPr>
              <a:t>Intelligence</a:t>
            </a:r>
            <a:endParaRPr lang="en-US" sz="4400" dirty="0"/>
          </a:p>
        </p:txBody>
      </p:sp>
      <p:sp>
        <p:nvSpPr>
          <p:cNvPr id="5" name="Text 3"/>
          <p:cNvSpPr/>
          <p:nvPr/>
        </p:nvSpPr>
        <p:spPr>
          <a:xfrm>
            <a:off x="731520" y="3200400"/>
            <a:ext cx="6400800" cy="640080"/>
          </a:xfrm>
          <a:prstGeom prst="rect">
            <a:avLst/>
          </a:prstGeom>
          <a:noFill/>
          <a:ln/>
        </p:spPr>
        <p:txBody>
          <a:bodyPr wrap="square" lIns="0" tIns="0" rIns="0" bIns="0" rtlCol="0" anchor="ctr"/>
          <a:lstStyle/>
          <a:p>
            <a:pPr indent="0" marL="0">
              <a:buNone/>
            </a:pPr>
            <a:r>
              <a:rPr lang="en-US" sz="1300" dirty="0">
                <a:solidFill>
                  <a:srgbClr val="8B9DC3"/>
                </a:solidFill>
                <a:latin typeface="Calibri" pitchFamily="34" charset="0"/>
                <a:ea typeface="Calibri" pitchFamily="34" charset="-122"/>
                <a:cs typeface="Calibri" pitchFamily="34" charset="-120"/>
              </a:rPr>
              <a:t>AI-Native Data &amp; Analytics for the Enterprise  |  Accelerating decisions through intelligent automation, agentic AI, and governed data platforms.</a:t>
            </a:r>
            <a:endParaRPr lang="en-US" sz="1300" dirty="0"/>
          </a:p>
        </p:txBody>
      </p:sp>
      <p:sp>
        <p:nvSpPr>
          <p:cNvPr id="6" name="Shape 4"/>
          <p:cNvSpPr/>
          <p:nvPr/>
        </p:nvSpPr>
        <p:spPr>
          <a:xfrm>
            <a:off x="0" y="4389120"/>
            <a:ext cx="9144000" cy="754380"/>
          </a:xfrm>
          <a:prstGeom prst="rect">
            <a:avLst/>
          </a:prstGeom>
          <a:solidFill>
            <a:srgbClr val="0D1F3C"/>
          </a:solidFill>
          <a:ln/>
        </p:spPr>
      </p:sp>
      <p:sp>
        <p:nvSpPr>
          <p:cNvPr id="7" name="Text 5"/>
          <p:cNvSpPr/>
          <p:nvPr/>
        </p:nvSpPr>
        <p:spPr>
          <a:xfrm>
            <a:off x="731520" y="4526280"/>
            <a:ext cx="3657600" cy="365760"/>
          </a:xfrm>
          <a:prstGeom prst="rect">
            <a:avLst/>
          </a:prstGeom>
          <a:noFill/>
          <a:ln/>
        </p:spPr>
        <p:txBody>
          <a:bodyPr wrap="square" lIns="0" tIns="0" rIns="0" bIns="0" rtlCol="0" anchor="ctr"/>
          <a:lstStyle/>
          <a:p>
            <a:pPr indent="0" marL="0">
              <a:buNone/>
            </a:pPr>
            <a:r>
              <a:rPr lang="en-US" sz="900" dirty="0">
                <a:solidFill>
                  <a:srgbClr val="5A6F94"/>
                </a:solidFill>
                <a:latin typeface="Calibri" pitchFamily="34" charset="0"/>
                <a:ea typeface="Calibri" pitchFamily="34" charset="-122"/>
                <a:cs typeface="Calibri" pitchFamily="34" charset="-120"/>
              </a:rPr>
              <a:t>Confidential  ·  Client Presentation</a:t>
            </a:r>
            <a:endParaRPr lang="en-US" sz="900" dirty="0"/>
          </a:p>
        </p:txBody>
      </p:sp>
      <p:sp>
        <p:nvSpPr>
          <p:cNvPr id="8" name="Text 6"/>
          <p:cNvSpPr/>
          <p:nvPr/>
        </p:nvSpPr>
        <p:spPr>
          <a:xfrm>
            <a:off x="4572000" y="4526280"/>
            <a:ext cx="3840480" cy="365760"/>
          </a:xfrm>
          <a:prstGeom prst="rect">
            <a:avLst/>
          </a:prstGeom>
          <a:noFill/>
          <a:ln/>
        </p:spPr>
        <p:txBody>
          <a:bodyPr wrap="square" lIns="0" tIns="0" rIns="0" bIns="0" rtlCol="0" anchor="ctr"/>
          <a:lstStyle/>
          <a:p>
            <a:pPr algn="r" indent="0" marL="0">
              <a:buNone/>
            </a:pPr>
            <a:r>
              <a:rPr lang="en-US" sz="900" dirty="0">
                <a:solidFill>
                  <a:srgbClr val="5A6F94"/>
                </a:solidFill>
                <a:latin typeface="Calibri" pitchFamily="34" charset="0"/>
                <a:ea typeface="Calibri" pitchFamily="34" charset="-122"/>
                <a:cs typeface="Calibri" pitchFamily="34" charset="-120"/>
              </a:rPr>
              <a:t>© 2026 NTT DATA, Inc.</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0D4FF"/>
          </a:solidFill>
          <a:ln/>
        </p:spPr>
      </p:sp>
      <p:sp>
        <p:nvSpPr>
          <p:cNvPr id="3" name="Text 1"/>
          <p:cNvSpPr/>
          <p:nvPr/>
        </p:nvSpPr>
        <p:spPr>
          <a:xfrm>
            <a:off x="731520" y="274320"/>
            <a:ext cx="7315200" cy="320040"/>
          </a:xfrm>
          <a:prstGeom prst="rect">
            <a:avLst/>
          </a:prstGeom>
          <a:noFill/>
          <a:ln/>
        </p:spPr>
        <p:txBody>
          <a:bodyPr wrap="square" lIns="0" tIns="0" rIns="0" bIns="0" rtlCol="0" anchor="ctr"/>
          <a:lstStyle/>
          <a:p>
            <a:pPr indent="0" marL="0">
              <a:buNone/>
            </a:pPr>
            <a:r>
              <a:rPr lang="en-US" sz="900" b="1" spc="300" kern="0" dirty="0">
                <a:solidFill>
                  <a:srgbClr val="00D4FF"/>
                </a:solidFill>
                <a:latin typeface="Calibri" pitchFamily="34" charset="0"/>
                <a:ea typeface="Calibri" pitchFamily="34" charset="-122"/>
                <a:cs typeface="Calibri" pitchFamily="34" charset="-120"/>
              </a:rPr>
              <a:t>THE CHALLENGE</a:t>
            </a:r>
            <a:endParaRPr lang="en-US" sz="900" dirty="0"/>
          </a:p>
        </p:txBody>
      </p:sp>
      <p:sp>
        <p:nvSpPr>
          <p:cNvPr id="4" name="Text 2"/>
          <p:cNvSpPr/>
          <p:nvPr/>
        </p:nvSpPr>
        <p:spPr>
          <a:xfrm>
            <a:off x="731520" y="594360"/>
            <a:ext cx="7680960" cy="54864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Your Data Is Talking. Is Anyone Listening?</a:t>
            </a:r>
            <a:endParaRPr lang="en-US" sz="2600" dirty="0"/>
          </a:p>
        </p:txBody>
      </p:sp>
      <p:sp>
        <p:nvSpPr>
          <p:cNvPr id="5" name="Text 3"/>
          <p:cNvSpPr/>
          <p:nvPr/>
        </p:nvSpPr>
        <p:spPr>
          <a:xfrm>
            <a:off x="731520" y="1280160"/>
            <a:ext cx="7680960" cy="640080"/>
          </a:xfrm>
          <a:prstGeom prst="rect">
            <a:avLst/>
          </a:prstGeom>
          <a:noFill/>
          <a:ln/>
        </p:spPr>
        <p:txBody>
          <a:bodyPr wrap="square" lIns="0" tIns="0" rIns="0" bIns="0" rtlCol="0" anchor="ctr"/>
          <a:lstStyle/>
          <a:p>
            <a:pPr indent="0" marL="0">
              <a:buNone/>
            </a:pPr>
            <a:r>
              <a:rPr lang="en-US" sz="1100" dirty="0">
                <a:solidFill>
                  <a:srgbClr val="8B9DC3"/>
                </a:solidFill>
                <a:latin typeface="Calibri" pitchFamily="34" charset="0"/>
                <a:ea typeface="Calibri" pitchFamily="34" charset="-122"/>
                <a:cs typeface="Calibri" pitchFamily="34" charset="-120"/>
              </a:rPr>
              <a:t>Most enterprises sit on vast amounts of data but still make decisions based on intuition, outdated reports, or siloed insights. The gap between having data and acting on it intelligently is where competitive advantage is lost.</a:t>
            </a:r>
            <a:endParaRPr lang="en-US" sz="1100" dirty="0"/>
          </a:p>
        </p:txBody>
      </p:sp>
      <p:sp>
        <p:nvSpPr>
          <p:cNvPr id="6" name="Shape 4"/>
          <p:cNvSpPr/>
          <p:nvPr/>
        </p:nvSpPr>
        <p:spPr>
          <a:xfrm>
            <a:off x="731520" y="2148840"/>
            <a:ext cx="1874520" cy="137160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7" name="Text 5"/>
          <p:cNvSpPr/>
          <p:nvPr/>
        </p:nvSpPr>
        <p:spPr>
          <a:xfrm>
            <a:off x="731520" y="2240280"/>
            <a:ext cx="1874520" cy="640080"/>
          </a:xfrm>
          <a:prstGeom prst="rect">
            <a:avLst/>
          </a:prstGeom>
          <a:noFill/>
          <a:ln/>
        </p:spPr>
        <p:txBody>
          <a:bodyPr wrap="square" lIns="0" tIns="0" rIns="0" bIns="0" rtlCol="0" anchor="ctr"/>
          <a:lstStyle/>
          <a:p>
            <a:pPr algn="ctr" indent="0" marL="0">
              <a:buNone/>
            </a:pPr>
            <a:r>
              <a:rPr lang="en-US" sz="3000" b="1" dirty="0">
                <a:solidFill>
                  <a:srgbClr val="00D4FF"/>
                </a:solidFill>
                <a:latin typeface="Calibri" pitchFamily="34" charset="0"/>
                <a:ea typeface="Calibri" pitchFamily="34" charset="-122"/>
                <a:cs typeface="Calibri" pitchFamily="34" charset="-120"/>
              </a:rPr>
              <a:t>95%</a:t>
            </a:r>
            <a:endParaRPr lang="en-US" sz="3000" dirty="0"/>
          </a:p>
        </p:txBody>
      </p:sp>
      <p:sp>
        <p:nvSpPr>
          <p:cNvPr id="8" name="Text 6"/>
          <p:cNvSpPr/>
          <p:nvPr/>
        </p:nvSpPr>
        <p:spPr>
          <a:xfrm>
            <a:off x="731520" y="2834640"/>
            <a:ext cx="1874520" cy="594360"/>
          </a:xfrm>
          <a:prstGeom prst="rect">
            <a:avLst/>
          </a:prstGeom>
          <a:noFill/>
          <a:ln/>
        </p:spPr>
        <p:txBody>
          <a:bodyPr wrap="square" lIns="0" tIns="0" rIns="0" bIns="0" rtlCol="0" anchor="ctr"/>
          <a:lstStyle/>
          <a:p>
            <a:pPr algn="ctr" indent="0" marL="0">
              <a:buNone/>
            </a:pPr>
            <a:r>
              <a:rPr lang="en-US" sz="850" dirty="0">
                <a:solidFill>
                  <a:srgbClr val="8B9DC3"/>
                </a:solidFill>
                <a:latin typeface="Calibri" pitchFamily="34" charset="0"/>
                <a:ea typeface="Calibri" pitchFamily="34" charset="-122"/>
                <a:cs typeface="Calibri" pitchFamily="34" charset="-120"/>
              </a:rPr>
              <a:t>of organizations see</a:t>
            </a:r>
            <a:endParaRPr lang="en-US" sz="850" dirty="0"/>
          </a:p>
          <a:p>
            <a:pPr algn="ctr" indent="0" marL="0">
              <a:buNone/>
            </a:pPr>
            <a:r>
              <a:rPr lang="en-US" sz="850" dirty="0">
                <a:solidFill>
                  <a:srgbClr val="8B9DC3"/>
                </a:solidFill>
                <a:latin typeface="Calibri" pitchFamily="34" charset="0"/>
                <a:ea typeface="Calibri" pitchFamily="34" charset="-122"/>
                <a:cs typeface="Calibri" pitchFamily="34" charset="-120"/>
              </a:rPr>
              <a:t>zero return on AI</a:t>
            </a:r>
            <a:endParaRPr lang="en-US" sz="850" dirty="0"/>
          </a:p>
          <a:p>
            <a:pPr algn="ctr" indent="0" marL="0">
              <a:buNone/>
            </a:pPr>
            <a:r>
              <a:rPr lang="en-US" sz="850" dirty="0">
                <a:solidFill>
                  <a:srgbClr val="8B9DC3"/>
                </a:solidFill>
                <a:latin typeface="Calibri" pitchFamily="34" charset="0"/>
                <a:ea typeface="Calibri" pitchFamily="34" charset="-122"/>
                <a:cs typeface="Calibri" pitchFamily="34" charset="-120"/>
              </a:rPr>
              <a:t>investment (MIT)</a:t>
            </a:r>
            <a:endParaRPr lang="en-US" sz="850" dirty="0"/>
          </a:p>
        </p:txBody>
      </p:sp>
      <p:sp>
        <p:nvSpPr>
          <p:cNvPr id="9" name="Shape 7"/>
          <p:cNvSpPr/>
          <p:nvPr/>
        </p:nvSpPr>
        <p:spPr>
          <a:xfrm>
            <a:off x="2788920" y="2148840"/>
            <a:ext cx="1874520" cy="137160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10" name="Text 8"/>
          <p:cNvSpPr/>
          <p:nvPr/>
        </p:nvSpPr>
        <p:spPr>
          <a:xfrm>
            <a:off x="2788920" y="2240280"/>
            <a:ext cx="1874520" cy="640080"/>
          </a:xfrm>
          <a:prstGeom prst="rect">
            <a:avLst/>
          </a:prstGeom>
          <a:noFill/>
          <a:ln/>
        </p:spPr>
        <p:txBody>
          <a:bodyPr wrap="square" lIns="0" tIns="0" rIns="0" bIns="0" rtlCol="0" anchor="ctr"/>
          <a:lstStyle/>
          <a:p>
            <a:pPr algn="ctr" indent="0" marL="0">
              <a:buNone/>
            </a:pPr>
            <a:r>
              <a:rPr lang="en-US" sz="3000" b="1" dirty="0">
                <a:solidFill>
                  <a:srgbClr val="00D4FF"/>
                </a:solidFill>
                <a:latin typeface="Calibri" pitchFamily="34" charset="0"/>
                <a:ea typeface="Calibri" pitchFamily="34" charset="-122"/>
                <a:cs typeface="Calibri" pitchFamily="34" charset="-120"/>
              </a:rPr>
              <a:t>40%+</a:t>
            </a:r>
            <a:endParaRPr lang="en-US" sz="3000" dirty="0"/>
          </a:p>
        </p:txBody>
      </p:sp>
      <p:sp>
        <p:nvSpPr>
          <p:cNvPr id="11" name="Text 9"/>
          <p:cNvSpPr/>
          <p:nvPr/>
        </p:nvSpPr>
        <p:spPr>
          <a:xfrm>
            <a:off x="2788920" y="2834640"/>
            <a:ext cx="1874520" cy="594360"/>
          </a:xfrm>
          <a:prstGeom prst="rect">
            <a:avLst/>
          </a:prstGeom>
          <a:noFill/>
          <a:ln/>
        </p:spPr>
        <p:txBody>
          <a:bodyPr wrap="square" lIns="0" tIns="0" rIns="0" bIns="0" rtlCol="0" anchor="ctr"/>
          <a:lstStyle/>
          <a:p>
            <a:pPr algn="ctr" indent="0" marL="0">
              <a:buNone/>
            </a:pPr>
            <a:r>
              <a:rPr lang="en-US" sz="850" dirty="0">
                <a:solidFill>
                  <a:srgbClr val="8B9DC3"/>
                </a:solidFill>
                <a:latin typeface="Calibri" pitchFamily="34" charset="0"/>
                <a:ea typeface="Calibri" pitchFamily="34" charset="-122"/>
                <a:cs typeface="Calibri" pitchFamily="34" charset="-120"/>
              </a:rPr>
              <a:t>of agentic AI projects</a:t>
            </a:r>
            <a:endParaRPr lang="en-US" sz="850" dirty="0"/>
          </a:p>
          <a:p>
            <a:pPr algn="ctr" indent="0" marL="0">
              <a:buNone/>
            </a:pPr>
            <a:r>
              <a:rPr lang="en-US" sz="850" dirty="0">
                <a:solidFill>
                  <a:srgbClr val="8B9DC3"/>
                </a:solidFill>
                <a:latin typeface="Calibri" pitchFamily="34" charset="0"/>
                <a:ea typeface="Calibri" pitchFamily="34" charset="-122"/>
                <a:cs typeface="Calibri" pitchFamily="34" charset="-120"/>
              </a:rPr>
              <a:t>will be scrapped by</a:t>
            </a:r>
            <a:endParaRPr lang="en-US" sz="850" dirty="0"/>
          </a:p>
          <a:p>
            <a:pPr algn="ctr" indent="0" marL="0">
              <a:buNone/>
            </a:pPr>
            <a:r>
              <a:rPr lang="en-US" sz="850" dirty="0">
                <a:solidFill>
                  <a:srgbClr val="8B9DC3"/>
                </a:solidFill>
                <a:latin typeface="Calibri" pitchFamily="34" charset="0"/>
                <a:ea typeface="Calibri" pitchFamily="34" charset="-122"/>
                <a:cs typeface="Calibri" pitchFamily="34" charset="-120"/>
              </a:rPr>
              <a:t>2027 (Gartner)</a:t>
            </a:r>
            <a:endParaRPr lang="en-US" sz="850" dirty="0"/>
          </a:p>
        </p:txBody>
      </p:sp>
      <p:sp>
        <p:nvSpPr>
          <p:cNvPr id="12" name="Shape 10"/>
          <p:cNvSpPr/>
          <p:nvPr/>
        </p:nvSpPr>
        <p:spPr>
          <a:xfrm>
            <a:off x="4846320" y="2148840"/>
            <a:ext cx="1874520" cy="137160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13" name="Text 11"/>
          <p:cNvSpPr/>
          <p:nvPr/>
        </p:nvSpPr>
        <p:spPr>
          <a:xfrm>
            <a:off x="4846320" y="2240280"/>
            <a:ext cx="1874520" cy="640080"/>
          </a:xfrm>
          <a:prstGeom prst="rect">
            <a:avLst/>
          </a:prstGeom>
          <a:noFill/>
          <a:ln/>
        </p:spPr>
        <p:txBody>
          <a:bodyPr wrap="square" lIns="0" tIns="0" rIns="0" bIns="0" rtlCol="0" anchor="ctr"/>
          <a:lstStyle/>
          <a:p>
            <a:pPr algn="ctr" indent="0" marL="0">
              <a:buNone/>
            </a:pPr>
            <a:r>
              <a:rPr lang="en-US" sz="3000" b="1" dirty="0">
                <a:solidFill>
                  <a:srgbClr val="00D4FF"/>
                </a:solidFill>
                <a:latin typeface="Calibri" pitchFamily="34" charset="0"/>
                <a:ea typeface="Calibri" pitchFamily="34" charset="-122"/>
                <a:cs typeface="Calibri" pitchFamily="34" charset="-120"/>
              </a:rPr>
              <a:t>$420B</a:t>
            </a:r>
            <a:endParaRPr lang="en-US" sz="3000" dirty="0"/>
          </a:p>
        </p:txBody>
      </p:sp>
      <p:sp>
        <p:nvSpPr>
          <p:cNvPr id="14" name="Text 12"/>
          <p:cNvSpPr/>
          <p:nvPr/>
        </p:nvSpPr>
        <p:spPr>
          <a:xfrm>
            <a:off x="4846320" y="2834640"/>
            <a:ext cx="1874520" cy="594360"/>
          </a:xfrm>
          <a:prstGeom prst="rect">
            <a:avLst/>
          </a:prstGeom>
          <a:noFill/>
          <a:ln/>
        </p:spPr>
        <p:txBody>
          <a:bodyPr wrap="square" lIns="0" tIns="0" rIns="0" bIns="0" rtlCol="0" anchor="ctr"/>
          <a:lstStyle/>
          <a:p>
            <a:pPr algn="ctr" indent="0" marL="0">
              <a:buNone/>
            </a:pPr>
            <a:r>
              <a:rPr lang="en-US" sz="850" dirty="0">
                <a:solidFill>
                  <a:srgbClr val="8B9DC3"/>
                </a:solidFill>
                <a:latin typeface="Calibri" pitchFamily="34" charset="0"/>
                <a:ea typeface="Calibri" pitchFamily="34" charset="-122"/>
                <a:cs typeface="Calibri" pitchFamily="34" charset="-120"/>
              </a:rPr>
              <a:t>global D&amp;A spend</a:t>
            </a:r>
            <a:endParaRPr lang="en-US" sz="850" dirty="0"/>
          </a:p>
          <a:p>
            <a:pPr algn="ctr" indent="0" marL="0">
              <a:buNone/>
            </a:pPr>
            <a:r>
              <a:rPr lang="en-US" sz="850" dirty="0">
                <a:solidFill>
                  <a:srgbClr val="8B9DC3"/>
                </a:solidFill>
                <a:latin typeface="Calibri" pitchFamily="34" charset="0"/>
                <a:ea typeface="Calibri" pitchFamily="34" charset="-122"/>
                <a:cs typeface="Calibri" pitchFamily="34" charset="-120"/>
              </a:rPr>
              <a:t>in 2026 — yet most</a:t>
            </a:r>
            <a:endParaRPr lang="en-US" sz="850" dirty="0"/>
          </a:p>
          <a:p>
            <a:pPr algn="ctr" indent="0" marL="0">
              <a:buNone/>
            </a:pPr>
            <a:r>
              <a:rPr lang="en-US" sz="850" dirty="0">
                <a:solidFill>
                  <a:srgbClr val="8B9DC3"/>
                </a:solidFill>
                <a:latin typeface="Calibri" pitchFamily="34" charset="0"/>
                <a:ea typeface="Calibri" pitchFamily="34" charset="-122"/>
                <a:cs typeface="Calibri" pitchFamily="34" charset="-120"/>
              </a:rPr>
              <a:t>fails to drive action</a:t>
            </a:r>
            <a:endParaRPr lang="en-US" sz="850" dirty="0"/>
          </a:p>
        </p:txBody>
      </p:sp>
      <p:sp>
        <p:nvSpPr>
          <p:cNvPr id="15" name="Shape 13"/>
          <p:cNvSpPr/>
          <p:nvPr/>
        </p:nvSpPr>
        <p:spPr>
          <a:xfrm>
            <a:off x="6903720" y="2148840"/>
            <a:ext cx="1874520" cy="137160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16" name="Text 14"/>
          <p:cNvSpPr/>
          <p:nvPr/>
        </p:nvSpPr>
        <p:spPr>
          <a:xfrm>
            <a:off x="6903720" y="2240280"/>
            <a:ext cx="1874520" cy="640080"/>
          </a:xfrm>
          <a:prstGeom prst="rect">
            <a:avLst/>
          </a:prstGeom>
          <a:noFill/>
          <a:ln/>
        </p:spPr>
        <p:txBody>
          <a:bodyPr wrap="square" lIns="0" tIns="0" rIns="0" bIns="0" rtlCol="0" anchor="ctr"/>
          <a:lstStyle/>
          <a:p>
            <a:pPr algn="ctr" indent="0" marL="0">
              <a:buNone/>
            </a:pPr>
            <a:r>
              <a:rPr lang="en-US" sz="3000" b="1" dirty="0">
                <a:solidFill>
                  <a:srgbClr val="00D4FF"/>
                </a:solidFill>
                <a:latin typeface="Calibri" pitchFamily="34" charset="0"/>
                <a:ea typeface="Calibri" pitchFamily="34" charset="-122"/>
                <a:cs typeface="Calibri" pitchFamily="34" charset="-120"/>
              </a:rPr>
              <a:t>80%+</a:t>
            </a:r>
            <a:endParaRPr lang="en-US" sz="3000" dirty="0"/>
          </a:p>
        </p:txBody>
      </p:sp>
      <p:sp>
        <p:nvSpPr>
          <p:cNvPr id="17" name="Text 15"/>
          <p:cNvSpPr/>
          <p:nvPr/>
        </p:nvSpPr>
        <p:spPr>
          <a:xfrm>
            <a:off x="6903720" y="2834640"/>
            <a:ext cx="1874520" cy="594360"/>
          </a:xfrm>
          <a:prstGeom prst="rect">
            <a:avLst/>
          </a:prstGeom>
          <a:noFill/>
          <a:ln/>
        </p:spPr>
        <p:txBody>
          <a:bodyPr wrap="square" lIns="0" tIns="0" rIns="0" bIns="0" rtlCol="0" anchor="ctr"/>
          <a:lstStyle/>
          <a:p>
            <a:pPr algn="ctr" indent="0" marL="0">
              <a:buNone/>
            </a:pPr>
            <a:r>
              <a:rPr lang="en-US" sz="850" dirty="0">
                <a:solidFill>
                  <a:srgbClr val="8B9DC3"/>
                </a:solidFill>
                <a:latin typeface="Calibri" pitchFamily="34" charset="0"/>
                <a:ea typeface="Calibri" pitchFamily="34" charset="-122"/>
                <a:cs typeface="Calibri" pitchFamily="34" charset="-120"/>
              </a:rPr>
              <a:t>of enterprises will use</a:t>
            </a:r>
            <a:endParaRPr lang="en-US" sz="850" dirty="0"/>
          </a:p>
          <a:p>
            <a:pPr algn="ctr" indent="0" marL="0">
              <a:buNone/>
            </a:pPr>
            <a:r>
              <a:rPr lang="en-US" sz="850" dirty="0">
                <a:solidFill>
                  <a:srgbClr val="8B9DC3"/>
                </a:solidFill>
                <a:latin typeface="Calibri" pitchFamily="34" charset="0"/>
                <a:ea typeface="Calibri" pitchFamily="34" charset="-122"/>
                <a:cs typeface="Calibri" pitchFamily="34" charset="-120"/>
              </a:rPr>
              <a:t>GenAI APIs by 2026</a:t>
            </a:r>
            <a:endParaRPr lang="en-US" sz="850" dirty="0"/>
          </a:p>
          <a:p>
            <a:pPr algn="ctr" indent="0" marL="0">
              <a:buNone/>
            </a:pPr>
            <a:r>
              <a:rPr lang="en-US" sz="850" dirty="0">
                <a:solidFill>
                  <a:srgbClr val="8B9DC3"/>
                </a:solidFill>
                <a:latin typeface="Calibri" pitchFamily="34" charset="0"/>
                <a:ea typeface="Calibri" pitchFamily="34" charset="-122"/>
                <a:cs typeface="Calibri" pitchFamily="34" charset="-120"/>
              </a:rPr>
              <a:t>but few at scale</a:t>
            </a:r>
            <a:endParaRPr lang="en-US" sz="850" dirty="0"/>
          </a:p>
        </p:txBody>
      </p:sp>
      <p:sp>
        <p:nvSpPr>
          <p:cNvPr id="18" name="Shape 16"/>
          <p:cNvSpPr/>
          <p:nvPr/>
        </p:nvSpPr>
        <p:spPr>
          <a:xfrm>
            <a:off x="731520" y="3840480"/>
            <a:ext cx="7680960" cy="914400"/>
          </a:xfrm>
          <a:prstGeom prst="rect">
            <a:avLst/>
          </a:prstGeom>
          <a:solidFill>
            <a:srgbClr val="182440"/>
          </a:solidFill>
          <a:ln/>
        </p:spPr>
      </p:sp>
      <p:sp>
        <p:nvSpPr>
          <p:cNvPr id="19" name="Text 17"/>
          <p:cNvSpPr/>
          <p:nvPr/>
        </p:nvSpPr>
        <p:spPr>
          <a:xfrm>
            <a:off x="1097280" y="3977640"/>
            <a:ext cx="6949440" cy="640080"/>
          </a:xfrm>
          <a:prstGeom prst="rect">
            <a:avLst/>
          </a:prstGeom>
          <a:noFill/>
          <a:ln/>
        </p:spPr>
        <p:txBody>
          <a:bodyPr wrap="square" lIns="0" tIns="0" rIns="0" bIns="0" rtlCol="0" anchor="ctr"/>
          <a:lstStyle/>
          <a:p>
            <a:pPr indent="0" marL="0">
              <a:buNone/>
            </a:pPr>
            <a:r>
              <a:rPr lang="en-US" sz="1200" i="1" dirty="0">
                <a:solidFill>
                  <a:srgbClr val="8B9DC3"/>
                </a:solidFill>
                <a:latin typeface="Calibri" pitchFamily="34" charset="0"/>
                <a:ea typeface="Calibri" pitchFamily="34" charset="-122"/>
                <a:cs typeface="Calibri" pitchFamily="34" charset="-120"/>
              </a:rPr>
              <a:t>The question isn't whether to adopt AI-driven analytics — it's </a:t>
            </a:r>
            <a:pPr indent="0" marL="0">
              <a:buNone/>
            </a:pPr>
            <a:r>
              <a:rPr lang="en-US" sz="1200" b="1" i="1" dirty="0">
                <a:solidFill>
                  <a:srgbClr val="00D4FF"/>
                </a:solidFill>
                <a:latin typeface="Calibri" pitchFamily="34" charset="0"/>
                <a:ea typeface="Calibri" pitchFamily="34" charset="-122"/>
                <a:cs typeface="Calibri" pitchFamily="34" charset="-120"/>
              </a:rPr>
              <a:t>how to do it responsibly, at scale, and with measurable ROI.</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0D4FF"/>
          </a:solidFill>
          <a:ln/>
        </p:spPr>
      </p:sp>
      <p:sp>
        <p:nvSpPr>
          <p:cNvPr id="3" name="Text 1"/>
          <p:cNvSpPr/>
          <p:nvPr/>
        </p:nvSpPr>
        <p:spPr>
          <a:xfrm>
            <a:off x="731520" y="274320"/>
            <a:ext cx="7315200" cy="320040"/>
          </a:xfrm>
          <a:prstGeom prst="rect">
            <a:avLst/>
          </a:prstGeom>
          <a:noFill/>
          <a:ln/>
        </p:spPr>
        <p:txBody>
          <a:bodyPr wrap="square" lIns="0" tIns="0" rIns="0" bIns="0" rtlCol="0" anchor="ctr"/>
          <a:lstStyle/>
          <a:p>
            <a:pPr indent="0" marL="0">
              <a:buNone/>
            </a:pPr>
            <a:r>
              <a:rPr lang="en-US" sz="900" b="1" spc="300" kern="0" dirty="0">
                <a:solidFill>
                  <a:srgbClr val="00D4FF"/>
                </a:solidFill>
                <a:latin typeface="Calibri" pitchFamily="34" charset="0"/>
                <a:ea typeface="Calibri" pitchFamily="34" charset="-122"/>
                <a:cs typeface="Calibri" pitchFamily="34" charset="-120"/>
              </a:rPr>
              <a:t>OUR APPROACH</a:t>
            </a:r>
            <a:endParaRPr lang="en-US" sz="900" dirty="0"/>
          </a:p>
        </p:txBody>
      </p:sp>
      <p:sp>
        <p:nvSpPr>
          <p:cNvPr id="4" name="Text 2"/>
          <p:cNvSpPr/>
          <p:nvPr/>
        </p:nvSpPr>
        <p:spPr>
          <a:xfrm>
            <a:off x="731520" y="594360"/>
            <a:ext cx="7315200" cy="45720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Autonomous Intelligence: Six Pillars</a:t>
            </a:r>
            <a:endParaRPr lang="en-US" sz="2600" dirty="0"/>
          </a:p>
        </p:txBody>
      </p:sp>
      <p:sp>
        <p:nvSpPr>
          <p:cNvPr id="5" name="Text 3"/>
          <p:cNvSpPr/>
          <p:nvPr/>
        </p:nvSpPr>
        <p:spPr>
          <a:xfrm>
            <a:off x="731520" y="1051560"/>
            <a:ext cx="7315200" cy="320040"/>
          </a:xfrm>
          <a:prstGeom prst="rect">
            <a:avLst/>
          </a:prstGeom>
          <a:noFill/>
          <a:ln/>
        </p:spPr>
        <p:txBody>
          <a:bodyPr wrap="square" lIns="0" tIns="0" rIns="0" bIns="0" rtlCol="0" anchor="ctr"/>
          <a:lstStyle/>
          <a:p>
            <a:pPr indent="0" marL="0">
              <a:buNone/>
            </a:pPr>
            <a:r>
              <a:rPr lang="en-US" sz="1000" dirty="0">
                <a:solidFill>
                  <a:srgbClr val="8B9DC3"/>
                </a:solidFill>
                <a:latin typeface="Calibri" pitchFamily="34" charset="0"/>
                <a:ea typeface="Calibri" pitchFamily="34" charset="-122"/>
                <a:cs typeface="Calibri" pitchFamily="34" charset="-120"/>
              </a:rPr>
              <a:t>A modular, composable framework — each pillar delivers standalone value or combines into end-to-end AI transformation.</a:t>
            </a:r>
            <a:endParaRPr lang="en-US" sz="1000" dirty="0"/>
          </a:p>
        </p:txBody>
      </p:sp>
      <p:sp>
        <p:nvSpPr>
          <p:cNvPr id="6" name="Shape 4"/>
          <p:cNvSpPr/>
          <p:nvPr/>
        </p:nvSpPr>
        <p:spPr>
          <a:xfrm>
            <a:off x="731520" y="1508760"/>
            <a:ext cx="2514600" cy="160020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7" name="Shape 5"/>
          <p:cNvSpPr/>
          <p:nvPr/>
        </p:nvSpPr>
        <p:spPr>
          <a:xfrm>
            <a:off x="731520" y="1508760"/>
            <a:ext cx="2514600" cy="36576"/>
          </a:xfrm>
          <a:prstGeom prst="rect">
            <a:avLst/>
          </a:prstGeom>
          <a:solidFill>
            <a:srgbClr val="00D4FF"/>
          </a:solidFill>
          <a:ln/>
        </p:spPr>
      </p:sp>
      <p:pic>
        <p:nvPicPr>
          <p:cNvPr id="8" name="Image 0" descr="preencoded.png">    </p:cNvPr>
          <p:cNvPicPr>
            <a:picLocks noChangeAspect="1"/>
          </p:cNvPicPr>
          <p:nvPr/>
        </p:nvPicPr>
        <p:blipFill>
          <a:blip r:embed="rId1"/>
          <a:stretch>
            <a:fillRect/>
          </a:stretch>
        </p:blipFill>
        <p:spPr>
          <a:xfrm>
            <a:off x="868680" y="1645920"/>
            <a:ext cx="274320" cy="274320"/>
          </a:xfrm>
          <a:prstGeom prst="rect">
            <a:avLst/>
          </a:prstGeom>
        </p:spPr>
      </p:pic>
      <p:sp>
        <p:nvSpPr>
          <p:cNvPr id="9" name="Text 6"/>
          <p:cNvSpPr/>
          <p:nvPr/>
        </p:nvSpPr>
        <p:spPr>
          <a:xfrm>
            <a:off x="1234440" y="1618488"/>
            <a:ext cx="182880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Agentic AI &amp;</a:t>
            </a:r>
            <a:endParaRPr lang="en-US" sz="950" dirty="0"/>
          </a:p>
          <a:p>
            <a:pPr indent="0" marL="0">
              <a:buNone/>
            </a:pPr>
            <a:r>
              <a:rPr lang="en-US" sz="950" b="1" dirty="0">
                <a:solidFill>
                  <a:srgbClr val="FFFFFF"/>
                </a:solidFill>
                <a:latin typeface="Calibri" pitchFamily="34" charset="0"/>
                <a:ea typeface="Calibri" pitchFamily="34" charset="-122"/>
                <a:cs typeface="Calibri" pitchFamily="34" charset="-120"/>
              </a:rPr>
              <a:t>Multi-Agent Orchestration</a:t>
            </a:r>
            <a:endParaRPr lang="en-US" sz="950" dirty="0"/>
          </a:p>
        </p:txBody>
      </p:sp>
      <p:sp>
        <p:nvSpPr>
          <p:cNvPr id="10" name="Text 7"/>
          <p:cNvSpPr/>
          <p:nvPr/>
        </p:nvSpPr>
        <p:spPr>
          <a:xfrm>
            <a:off x="868680" y="2057400"/>
            <a:ext cx="2240280" cy="640080"/>
          </a:xfrm>
          <a:prstGeom prst="rect">
            <a:avLst/>
          </a:prstGeom>
          <a:noFill/>
          <a:ln/>
        </p:spPr>
        <p:txBody>
          <a:bodyPr wrap="square" lIns="0" tIns="0" rIns="0" bIns="0" rtlCol="0" anchor="ctr"/>
          <a:lstStyle/>
          <a:p>
            <a:pPr indent="0" marL="0">
              <a:buNone/>
            </a:pPr>
            <a:r>
              <a:rPr lang="en-US" sz="800" dirty="0">
                <a:solidFill>
                  <a:srgbClr val="8B9DC3"/>
                </a:solidFill>
                <a:latin typeface="Calibri" pitchFamily="34" charset="0"/>
                <a:ea typeface="Calibri" pitchFamily="34" charset="-122"/>
                <a:cs typeface="Calibri" pitchFamily="34" charset="-120"/>
              </a:rPr>
              <a:t>Autonomous agents that plan, execute,</a:t>
            </a:r>
            <a:endParaRPr lang="en-US" sz="800" dirty="0"/>
          </a:p>
          <a:p>
            <a:pPr indent="0" marL="0">
              <a:buNone/>
            </a:pPr>
            <a:r>
              <a:rPr lang="en-US" sz="800" dirty="0">
                <a:solidFill>
                  <a:srgbClr val="8B9DC3"/>
                </a:solidFill>
                <a:latin typeface="Calibri" pitchFamily="34" charset="0"/>
                <a:ea typeface="Calibri" pitchFamily="34" charset="-122"/>
                <a:cs typeface="Calibri" pitchFamily="34" charset="-120"/>
              </a:rPr>
              <a:t>and self-correct across workflows.</a:t>
            </a:r>
            <a:endParaRPr lang="en-US" sz="800" dirty="0"/>
          </a:p>
          <a:p>
            <a:pPr indent="0" marL="0">
              <a:buNone/>
            </a:pPr>
            <a:r>
              <a:rPr lang="en-US" sz="800" dirty="0">
                <a:solidFill>
                  <a:srgbClr val="8B9DC3"/>
                </a:solidFill>
                <a:latin typeface="Calibri" pitchFamily="34" charset="0"/>
                <a:ea typeface="Calibri" pitchFamily="34" charset="-122"/>
                <a:cs typeface="Calibri" pitchFamily="34" charset="-120"/>
              </a:rPr>
              <a:t>Human-in-the-loop governance.</a:t>
            </a:r>
            <a:endParaRPr lang="en-US" sz="800" dirty="0"/>
          </a:p>
        </p:txBody>
      </p:sp>
      <p:sp>
        <p:nvSpPr>
          <p:cNvPr id="11" name="Shape 8"/>
          <p:cNvSpPr/>
          <p:nvPr/>
        </p:nvSpPr>
        <p:spPr>
          <a:xfrm>
            <a:off x="3429000" y="1508760"/>
            <a:ext cx="2514600" cy="160020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12" name="Shape 9"/>
          <p:cNvSpPr/>
          <p:nvPr/>
        </p:nvSpPr>
        <p:spPr>
          <a:xfrm>
            <a:off x="3429000" y="1508760"/>
            <a:ext cx="2514600" cy="36576"/>
          </a:xfrm>
          <a:prstGeom prst="rect">
            <a:avLst/>
          </a:prstGeom>
          <a:solidFill>
            <a:srgbClr val="7B61FF"/>
          </a:solidFill>
          <a:ln/>
        </p:spPr>
      </p:sp>
      <p:pic>
        <p:nvPicPr>
          <p:cNvPr id="13" name="Image 1" descr="preencoded.png">    </p:cNvPr>
          <p:cNvPicPr>
            <a:picLocks noChangeAspect="1"/>
          </p:cNvPicPr>
          <p:nvPr/>
        </p:nvPicPr>
        <p:blipFill>
          <a:blip r:embed="rId2"/>
          <a:stretch>
            <a:fillRect/>
          </a:stretch>
        </p:blipFill>
        <p:spPr>
          <a:xfrm>
            <a:off x="3566160" y="1645920"/>
            <a:ext cx="274320" cy="274320"/>
          </a:xfrm>
          <a:prstGeom prst="rect">
            <a:avLst/>
          </a:prstGeom>
        </p:spPr>
      </p:pic>
      <p:sp>
        <p:nvSpPr>
          <p:cNvPr id="14" name="Text 10"/>
          <p:cNvSpPr/>
          <p:nvPr/>
        </p:nvSpPr>
        <p:spPr>
          <a:xfrm>
            <a:off x="3931920" y="1618488"/>
            <a:ext cx="182880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AI-Native</a:t>
            </a:r>
            <a:endParaRPr lang="en-US" sz="950" dirty="0"/>
          </a:p>
          <a:p>
            <a:pPr indent="0" marL="0">
              <a:buNone/>
            </a:pPr>
            <a:r>
              <a:rPr lang="en-US" sz="950" b="1" dirty="0">
                <a:solidFill>
                  <a:srgbClr val="FFFFFF"/>
                </a:solidFill>
                <a:latin typeface="Calibri" pitchFamily="34" charset="0"/>
                <a:ea typeface="Calibri" pitchFamily="34" charset="-122"/>
                <a:cs typeface="Calibri" pitchFamily="34" charset="-120"/>
              </a:rPr>
              <a:t>Data Platforms</a:t>
            </a:r>
            <a:endParaRPr lang="en-US" sz="950" dirty="0"/>
          </a:p>
        </p:txBody>
      </p:sp>
      <p:sp>
        <p:nvSpPr>
          <p:cNvPr id="15" name="Text 11"/>
          <p:cNvSpPr/>
          <p:nvPr/>
        </p:nvSpPr>
        <p:spPr>
          <a:xfrm>
            <a:off x="3566160" y="2057400"/>
            <a:ext cx="2240280" cy="640080"/>
          </a:xfrm>
          <a:prstGeom prst="rect">
            <a:avLst/>
          </a:prstGeom>
          <a:noFill/>
          <a:ln/>
        </p:spPr>
        <p:txBody>
          <a:bodyPr wrap="square" lIns="0" tIns="0" rIns="0" bIns="0" rtlCol="0" anchor="ctr"/>
          <a:lstStyle/>
          <a:p>
            <a:pPr indent="0" marL="0">
              <a:buNone/>
            </a:pPr>
            <a:r>
              <a:rPr lang="en-US" sz="800" dirty="0">
                <a:solidFill>
                  <a:srgbClr val="8B9DC3"/>
                </a:solidFill>
                <a:latin typeface="Calibri" pitchFamily="34" charset="0"/>
                <a:ea typeface="Calibri" pitchFamily="34" charset="-122"/>
                <a:cs typeface="Calibri" pitchFamily="34" charset="-120"/>
              </a:rPr>
              <a:t>Modern data ecosystems: Data Mesh,</a:t>
            </a:r>
            <a:endParaRPr lang="en-US" sz="800" dirty="0"/>
          </a:p>
          <a:p>
            <a:pPr indent="0" marL="0">
              <a:buNone/>
            </a:pPr>
            <a:r>
              <a:rPr lang="en-US" sz="800" dirty="0">
                <a:solidFill>
                  <a:srgbClr val="8B9DC3"/>
                </a:solidFill>
                <a:latin typeface="Calibri" pitchFamily="34" charset="0"/>
                <a:ea typeface="Calibri" pitchFamily="34" charset="-122"/>
                <a:cs typeface="Calibri" pitchFamily="34" charset="-120"/>
              </a:rPr>
              <a:t>real-time streaming, semantic layers.</a:t>
            </a:r>
            <a:endParaRPr lang="en-US" sz="800" dirty="0"/>
          </a:p>
          <a:p>
            <a:pPr indent="0" marL="0">
              <a:buNone/>
            </a:pPr>
            <a:r>
              <a:rPr lang="en-US" sz="800" dirty="0">
                <a:solidFill>
                  <a:srgbClr val="8B9DC3"/>
                </a:solidFill>
                <a:latin typeface="Calibri" pitchFamily="34" charset="0"/>
                <a:ea typeface="Calibri" pitchFamily="34" charset="-122"/>
                <a:cs typeface="Calibri" pitchFamily="34" charset="-120"/>
              </a:rPr>
              <a:t>Data as a product.</a:t>
            </a:r>
            <a:endParaRPr lang="en-US" sz="800" dirty="0"/>
          </a:p>
        </p:txBody>
      </p:sp>
      <p:sp>
        <p:nvSpPr>
          <p:cNvPr id="16" name="Shape 12"/>
          <p:cNvSpPr/>
          <p:nvPr/>
        </p:nvSpPr>
        <p:spPr>
          <a:xfrm>
            <a:off x="6126480" y="1508760"/>
            <a:ext cx="2514600" cy="160020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17" name="Shape 13"/>
          <p:cNvSpPr/>
          <p:nvPr/>
        </p:nvSpPr>
        <p:spPr>
          <a:xfrm>
            <a:off x="6126480" y="1508760"/>
            <a:ext cx="2514600" cy="36576"/>
          </a:xfrm>
          <a:prstGeom prst="rect">
            <a:avLst/>
          </a:prstGeom>
          <a:solidFill>
            <a:srgbClr val="00C9A7"/>
          </a:solidFill>
          <a:ln/>
        </p:spPr>
      </p:sp>
      <p:pic>
        <p:nvPicPr>
          <p:cNvPr id="18" name="Image 2" descr="preencoded.png">    </p:cNvPr>
          <p:cNvPicPr>
            <a:picLocks noChangeAspect="1"/>
          </p:cNvPicPr>
          <p:nvPr/>
        </p:nvPicPr>
        <p:blipFill>
          <a:blip r:embed="rId3"/>
          <a:stretch>
            <a:fillRect/>
          </a:stretch>
        </p:blipFill>
        <p:spPr>
          <a:xfrm>
            <a:off x="6263640" y="1645920"/>
            <a:ext cx="274320" cy="274320"/>
          </a:xfrm>
          <a:prstGeom prst="rect">
            <a:avLst/>
          </a:prstGeom>
        </p:spPr>
      </p:pic>
      <p:sp>
        <p:nvSpPr>
          <p:cNvPr id="19" name="Text 14"/>
          <p:cNvSpPr/>
          <p:nvPr/>
        </p:nvSpPr>
        <p:spPr>
          <a:xfrm>
            <a:off x="6629400" y="1618488"/>
            <a:ext cx="182880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Decision Intelligence &amp;</a:t>
            </a:r>
            <a:endParaRPr lang="en-US" sz="950" dirty="0"/>
          </a:p>
          <a:p>
            <a:pPr indent="0" marL="0">
              <a:buNone/>
            </a:pPr>
            <a:r>
              <a:rPr lang="en-US" sz="950" b="1" dirty="0">
                <a:solidFill>
                  <a:srgbClr val="FFFFFF"/>
                </a:solidFill>
                <a:latin typeface="Calibri" pitchFamily="34" charset="0"/>
                <a:ea typeface="Calibri" pitchFamily="34" charset="-122"/>
                <a:cs typeface="Calibri" pitchFamily="34" charset="-120"/>
              </a:rPr>
              <a:t>Closed-Loop Analytics</a:t>
            </a:r>
            <a:endParaRPr lang="en-US" sz="950" dirty="0"/>
          </a:p>
        </p:txBody>
      </p:sp>
      <p:sp>
        <p:nvSpPr>
          <p:cNvPr id="20" name="Text 15"/>
          <p:cNvSpPr/>
          <p:nvPr/>
        </p:nvSpPr>
        <p:spPr>
          <a:xfrm>
            <a:off x="6263640" y="2057400"/>
            <a:ext cx="2240280" cy="640080"/>
          </a:xfrm>
          <a:prstGeom prst="rect">
            <a:avLst/>
          </a:prstGeom>
          <a:noFill/>
          <a:ln/>
        </p:spPr>
        <p:txBody>
          <a:bodyPr wrap="square" lIns="0" tIns="0" rIns="0" bIns="0" rtlCol="0" anchor="ctr"/>
          <a:lstStyle/>
          <a:p>
            <a:pPr indent="0" marL="0">
              <a:buNone/>
            </a:pPr>
            <a:r>
              <a:rPr lang="en-US" sz="800" dirty="0">
                <a:solidFill>
                  <a:srgbClr val="8B9DC3"/>
                </a:solidFill>
                <a:latin typeface="Calibri" pitchFamily="34" charset="0"/>
                <a:ea typeface="Calibri" pitchFamily="34" charset="-122"/>
                <a:cs typeface="Calibri" pitchFamily="34" charset="-120"/>
              </a:rPr>
              <a:t>From dashboards to decision engines.</a:t>
            </a:r>
            <a:endParaRPr lang="en-US" sz="800" dirty="0"/>
          </a:p>
          <a:p>
            <a:pPr indent="0" marL="0">
              <a:buNone/>
            </a:pPr>
            <a:r>
              <a:rPr lang="en-US" sz="800" dirty="0">
                <a:solidFill>
                  <a:srgbClr val="8B9DC3"/>
                </a:solidFill>
                <a:latin typeface="Calibri" pitchFamily="34" charset="0"/>
                <a:ea typeface="Calibri" pitchFamily="34" charset="-122"/>
                <a:cs typeface="Calibri" pitchFamily="34" charset="-120"/>
              </a:rPr>
              <a:t>Every prediction feeds back as a</a:t>
            </a:r>
            <a:endParaRPr lang="en-US" sz="800" dirty="0"/>
          </a:p>
          <a:p>
            <a:pPr indent="0" marL="0">
              <a:buNone/>
            </a:pPr>
            <a:r>
              <a:rPr lang="en-US" sz="800" dirty="0">
                <a:solidFill>
                  <a:srgbClr val="8B9DC3"/>
                </a:solidFill>
                <a:latin typeface="Calibri" pitchFamily="34" charset="0"/>
                <a:ea typeface="Calibri" pitchFamily="34" charset="-122"/>
                <a:cs typeface="Calibri" pitchFamily="34" charset="-120"/>
              </a:rPr>
              <a:t>learning signal.</a:t>
            </a:r>
            <a:endParaRPr lang="en-US" sz="800" dirty="0"/>
          </a:p>
        </p:txBody>
      </p:sp>
      <p:sp>
        <p:nvSpPr>
          <p:cNvPr id="21" name="Shape 16"/>
          <p:cNvSpPr/>
          <p:nvPr/>
        </p:nvSpPr>
        <p:spPr>
          <a:xfrm>
            <a:off x="731520" y="3246120"/>
            <a:ext cx="2514600" cy="160020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22" name="Shape 17"/>
          <p:cNvSpPr/>
          <p:nvPr/>
        </p:nvSpPr>
        <p:spPr>
          <a:xfrm>
            <a:off x="731520" y="3246120"/>
            <a:ext cx="2514600" cy="36576"/>
          </a:xfrm>
          <a:prstGeom prst="rect">
            <a:avLst/>
          </a:prstGeom>
          <a:solidFill>
            <a:srgbClr val="FFB547"/>
          </a:solidFill>
          <a:ln/>
        </p:spPr>
      </p:sp>
      <p:pic>
        <p:nvPicPr>
          <p:cNvPr id="23" name="Image 3" descr="preencoded.png">    </p:cNvPr>
          <p:cNvPicPr>
            <a:picLocks noChangeAspect="1"/>
          </p:cNvPicPr>
          <p:nvPr/>
        </p:nvPicPr>
        <p:blipFill>
          <a:blip r:embed="rId4"/>
          <a:stretch>
            <a:fillRect/>
          </a:stretch>
        </p:blipFill>
        <p:spPr>
          <a:xfrm>
            <a:off x="868680" y="3383280"/>
            <a:ext cx="274320" cy="274320"/>
          </a:xfrm>
          <a:prstGeom prst="rect">
            <a:avLst/>
          </a:prstGeom>
        </p:spPr>
      </p:pic>
      <p:sp>
        <p:nvSpPr>
          <p:cNvPr id="24" name="Text 18"/>
          <p:cNvSpPr/>
          <p:nvPr/>
        </p:nvSpPr>
        <p:spPr>
          <a:xfrm>
            <a:off x="1234440" y="3355848"/>
            <a:ext cx="182880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AI Factory &amp;</a:t>
            </a:r>
            <a:endParaRPr lang="en-US" sz="950" dirty="0"/>
          </a:p>
          <a:p>
            <a:pPr indent="0" marL="0">
              <a:buNone/>
            </a:pPr>
            <a:r>
              <a:rPr lang="en-US" sz="950" b="1" dirty="0">
                <a:solidFill>
                  <a:srgbClr val="FFFFFF"/>
                </a:solidFill>
                <a:latin typeface="Calibri" pitchFamily="34" charset="0"/>
                <a:ea typeface="Calibri" pitchFamily="34" charset="-122"/>
                <a:cs typeface="Calibri" pitchFamily="34" charset="-120"/>
              </a:rPr>
              <a:t>GenAI Industrialization</a:t>
            </a:r>
            <a:endParaRPr lang="en-US" sz="950" dirty="0"/>
          </a:p>
        </p:txBody>
      </p:sp>
      <p:sp>
        <p:nvSpPr>
          <p:cNvPr id="25" name="Text 19"/>
          <p:cNvSpPr/>
          <p:nvPr/>
        </p:nvSpPr>
        <p:spPr>
          <a:xfrm>
            <a:off x="868680" y="3794760"/>
            <a:ext cx="2240280" cy="640080"/>
          </a:xfrm>
          <a:prstGeom prst="rect">
            <a:avLst/>
          </a:prstGeom>
          <a:noFill/>
          <a:ln/>
        </p:spPr>
        <p:txBody>
          <a:bodyPr wrap="square" lIns="0" tIns="0" rIns="0" bIns="0" rtlCol="0" anchor="ctr"/>
          <a:lstStyle/>
          <a:p>
            <a:pPr indent="0" marL="0">
              <a:buNone/>
            </a:pPr>
            <a:r>
              <a:rPr lang="en-US" sz="800" dirty="0">
                <a:solidFill>
                  <a:srgbClr val="8B9DC3"/>
                </a:solidFill>
                <a:latin typeface="Calibri" pitchFamily="34" charset="0"/>
                <a:ea typeface="Calibri" pitchFamily="34" charset="-122"/>
                <a:cs typeface="Calibri" pitchFamily="34" charset="-120"/>
              </a:rPr>
              <a:t>Scale AI at enterprise level: model</a:t>
            </a:r>
            <a:endParaRPr lang="en-US" sz="800" dirty="0"/>
          </a:p>
          <a:p>
            <a:pPr indent="0" marL="0">
              <a:buNone/>
            </a:pPr>
            <a:r>
              <a:rPr lang="en-US" sz="800" dirty="0">
                <a:solidFill>
                  <a:srgbClr val="8B9DC3"/>
                </a:solidFill>
                <a:latin typeface="Calibri" pitchFamily="34" charset="0"/>
                <a:ea typeface="Calibri" pitchFamily="34" charset="-122"/>
                <a:cs typeface="Calibri" pitchFamily="34" charset="-120"/>
              </a:rPr>
              <a:t>registries, RAG pipelines, FinOps,</a:t>
            </a:r>
            <a:endParaRPr lang="en-US" sz="800" dirty="0"/>
          </a:p>
          <a:p>
            <a:pPr indent="0" marL="0">
              <a:buNone/>
            </a:pPr>
            <a:r>
              <a:rPr lang="en-US" sz="800" dirty="0">
                <a:solidFill>
                  <a:srgbClr val="8B9DC3"/>
                </a:solidFill>
                <a:latin typeface="Calibri" pitchFamily="34" charset="0"/>
                <a:ea typeface="Calibri" pitchFamily="34" charset="-122"/>
                <a:cs typeface="Calibri" pitchFamily="34" charset="-120"/>
              </a:rPr>
              <a:t>prompt management.</a:t>
            </a:r>
            <a:endParaRPr lang="en-US" sz="800" dirty="0"/>
          </a:p>
        </p:txBody>
      </p:sp>
      <p:sp>
        <p:nvSpPr>
          <p:cNvPr id="26" name="Shape 20"/>
          <p:cNvSpPr/>
          <p:nvPr/>
        </p:nvSpPr>
        <p:spPr>
          <a:xfrm>
            <a:off x="3429000" y="3246120"/>
            <a:ext cx="2514600" cy="160020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27" name="Shape 21"/>
          <p:cNvSpPr/>
          <p:nvPr/>
        </p:nvSpPr>
        <p:spPr>
          <a:xfrm>
            <a:off x="3429000" y="3246120"/>
            <a:ext cx="2514600" cy="36576"/>
          </a:xfrm>
          <a:prstGeom prst="rect">
            <a:avLst/>
          </a:prstGeom>
          <a:solidFill>
            <a:srgbClr val="FF6B8A"/>
          </a:solidFill>
          <a:ln/>
        </p:spPr>
      </p:sp>
      <p:pic>
        <p:nvPicPr>
          <p:cNvPr id="28" name="Image 4" descr="preencoded.png">    </p:cNvPr>
          <p:cNvPicPr>
            <a:picLocks noChangeAspect="1"/>
          </p:cNvPicPr>
          <p:nvPr/>
        </p:nvPicPr>
        <p:blipFill>
          <a:blip r:embed="rId5"/>
          <a:stretch>
            <a:fillRect/>
          </a:stretch>
        </p:blipFill>
        <p:spPr>
          <a:xfrm>
            <a:off x="3566160" y="3383280"/>
            <a:ext cx="274320" cy="274320"/>
          </a:xfrm>
          <a:prstGeom prst="rect">
            <a:avLst/>
          </a:prstGeom>
        </p:spPr>
      </p:pic>
      <p:sp>
        <p:nvSpPr>
          <p:cNvPr id="29" name="Text 22"/>
          <p:cNvSpPr/>
          <p:nvPr/>
        </p:nvSpPr>
        <p:spPr>
          <a:xfrm>
            <a:off x="3931920" y="3355848"/>
            <a:ext cx="182880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Responsible AI</a:t>
            </a:r>
            <a:endParaRPr lang="en-US" sz="950" dirty="0"/>
          </a:p>
          <a:p>
            <a:pPr indent="0" marL="0">
              <a:buNone/>
            </a:pPr>
            <a:r>
              <a:rPr lang="en-US" sz="950" b="1" dirty="0">
                <a:solidFill>
                  <a:srgbClr val="FFFFFF"/>
                </a:solidFill>
                <a:latin typeface="Calibri" pitchFamily="34" charset="0"/>
                <a:ea typeface="Calibri" pitchFamily="34" charset="-122"/>
                <a:cs typeface="Calibri" pitchFamily="34" charset="-120"/>
              </a:rPr>
              <a:t>&amp; Governance</a:t>
            </a:r>
            <a:endParaRPr lang="en-US" sz="950" dirty="0"/>
          </a:p>
        </p:txBody>
      </p:sp>
      <p:sp>
        <p:nvSpPr>
          <p:cNvPr id="30" name="Text 23"/>
          <p:cNvSpPr/>
          <p:nvPr/>
        </p:nvSpPr>
        <p:spPr>
          <a:xfrm>
            <a:off x="3566160" y="3794760"/>
            <a:ext cx="2240280" cy="640080"/>
          </a:xfrm>
          <a:prstGeom prst="rect">
            <a:avLst/>
          </a:prstGeom>
          <a:noFill/>
          <a:ln/>
        </p:spPr>
        <p:txBody>
          <a:bodyPr wrap="square" lIns="0" tIns="0" rIns="0" bIns="0" rtlCol="0" anchor="ctr"/>
          <a:lstStyle/>
          <a:p>
            <a:pPr indent="0" marL="0">
              <a:buNone/>
            </a:pPr>
            <a:r>
              <a:rPr lang="en-US" sz="800" dirty="0">
                <a:solidFill>
                  <a:srgbClr val="8B9DC3"/>
                </a:solidFill>
                <a:latin typeface="Calibri" pitchFamily="34" charset="0"/>
                <a:ea typeface="Calibri" pitchFamily="34" charset="-122"/>
                <a:cs typeface="Calibri" pitchFamily="34" charset="-120"/>
              </a:rPr>
              <a:t>Explainability, bias detection, model</a:t>
            </a:r>
            <a:endParaRPr lang="en-US" sz="800" dirty="0"/>
          </a:p>
          <a:p>
            <a:pPr indent="0" marL="0">
              <a:buNone/>
            </a:pPr>
            <a:r>
              <a:rPr lang="en-US" sz="800" dirty="0">
                <a:solidFill>
                  <a:srgbClr val="8B9DC3"/>
                </a:solidFill>
                <a:latin typeface="Calibri" pitchFamily="34" charset="0"/>
                <a:ea typeface="Calibri" pitchFamily="34" charset="-122"/>
                <a:cs typeface="Calibri" pitchFamily="34" charset="-120"/>
              </a:rPr>
              <a:t>lineage. EU AI Act ready.</a:t>
            </a:r>
            <a:endParaRPr lang="en-US" sz="800" dirty="0"/>
          </a:p>
          <a:p>
            <a:pPr indent="0" marL="0">
              <a:buNone/>
            </a:pPr>
            <a:r>
              <a:rPr lang="en-US" sz="800" dirty="0">
                <a:solidFill>
                  <a:srgbClr val="8B9DC3"/>
                </a:solidFill>
                <a:latin typeface="Calibri" pitchFamily="34" charset="0"/>
                <a:ea typeface="Calibri" pitchFamily="34" charset="-122"/>
                <a:cs typeface="Calibri" pitchFamily="34" charset="-120"/>
              </a:rPr>
              <a:t>Built-in compliance.</a:t>
            </a:r>
            <a:endParaRPr lang="en-US" sz="800" dirty="0"/>
          </a:p>
        </p:txBody>
      </p:sp>
      <p:sp>
        <p:nvSpPr>
          <p:cNvPr id="31" name="Shape 24"/>
          <p:cNvSpPr/>
          <p:nvPr/>
        </p:nvSpPr>
        <p:spPr>
          <a:xfrm>
            <a:off x="6126480" y="3246120"/>
            <a:ext cx="2514600" cy="160020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32" name="Shape 25"/>
          <p:cNvSpPr/>
          <p:nvPr/>
        </p:nvSpPr>
        <p:spPr>
          <a:xfrm>
            <a:off x="6126480" y="3246120"/>
            <a:ext cx="2514600" cy="36576"/>
          </a:xfrm>
          <a:prstGeom prst="rect">
            <a:avLst/>
          </a:prstGeom>
          <a:solidFill>
            <a:srgbClr val="0072BC"/>
          </a:solidFill>
          <a:ln/>
        </p:spPr>
      </p:sp>
      <p:pic>
        <p:nvPicPr>
          <p:cNvPr id="33" name="Image 5" descr="preencoded.png">    </p:cNvPr>
          <p:cNvPicPr>
            <a:picLocks noChangeAspect="1"/>
          </p:cNvPicPr>
          <p:nvPr/>
        </p:nvPicPr>
        <p:blipFill>
          <a:blip r:embed="rId6"/>
          <a:stretch>
            <a:fillRect/>
          </a:stretch>
        </p:blipFill>
        <p:spPr>
          <a:xfrm>
            <a:off x="6263640" y="3383280"/>
            <a:ext cx="274320" cy="274320"/>
          </a:xfrm>
          <a:prstGeom prst="rect">
            <a:avLst/>
          </a:prstGeom>
        </p:spPr>
      </p:pic>
      <p:sp>
        <p:nvSpPr>
          <p:cNvPr id="34" name="Text 26"/>
          <p:cNvSpPr/>
          <p:nvPr/>
        </p:nvSpPr>
        <p:spPr>
          <a:xfrm>
            <a:off x="6629400" y="3355848"/>
            <a:ext cx="182880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Autonomous</a:t>
            </a:r>
            <a:endParaRPr lang="en-US" sz="950" dirty="0"/>
          </a:p>
          <a:p>
            <a:pPr indent="0" marL="0">
              <a:buNone/>
            </a:pPr>
            <a:r>
              <a:rPr lang="en-US" sz="950" b="1" dirty="0">
                <a:solidFill>
                  <a:srgbClr val="FFFFFF"/>
                </a:solidFill>
                <a:latin typeface="Calibri" pitchFamily="34" charset="0"/>
                <a:ea typeface="Calibri" pitchFamily="34" charset="-122"/>
                <a:cs typeface="Calibri" pitchFamily="34" charset="-120"/>
              </a:rPr>
              <a:t>Analytics Copilots</a:t>
            </a:r>
            <a:endParaRPr lang="en-US" sz="950" dirty="0"/>
          </a:p>
        </p:txBody>
      </p:sp>
      <p:sp>
        <p:nvSpPr>
          <p:cNvPr id="35" name="Text 27"/>
          <p:cNvSpPr/>
          <p:nvPr/>
        </p:nvSpPr>
        <p:spPr>
          <a:xfrm>
            <a:off x="6263640" y="3794760"/>
            <a:ext cx="2240280" cy="640080"/>
          </a:xfrm>
          <a:prstGeom prst="rect">
            <a:avLst/>
          </a:prstGeom>
          <a:noFill/>
          <a:ln/>
        </p:spPr>
        <p:txBody>
          <a:bodyPr wrap="square" lIns="0" tIns="0" rIns="0" bIns="0" rtlCol="0" anchor="ctr"/>
          <a:lstStyle/>
          <a:p>
            <a:pPr indent="0" marL="0">
              <a:buNone/>
            </a:pPr>
            <a:r>
              <a:rPr lang="en-US" sz="800" dirty="0">
                <a:solidFill>
                  <a:srgbClr val="8B9DC3"/>
                </a:solidFill>
                <a:latin typeface="Calibri" pitchFamily="34" charset="0"/>
                <a:ea typeface="Calibri" pitchFamily="34" charset="-122"/>
                <a:cs typeface="Calibri" pitchFamily="34" charset="-120"/>
              </a:rPr>
              <a:t>Natural-language analytics replacing</a:t>
            </a:r>
            <a:endParaRPr lang="en-US" sz="800" dirty="0"/>
          </a:p>
          <a:p>
            <a:pPr indent="0" marL="0">
              <a:buNone/>
            </a:pPr>
            <a:r>
              <a:rPr lang="en-US" sz="800" dirty="0">
                <a:solidFill>
                  <a:srgbClr val="8B9DC3"/>
                </a:solidFill>
                <a:latin typeface="Calibri" pitchFamily="34" charset="0"/>
                <a:ea typeface="Calibri" pitchFamily="34" charset="-122"/>
                <a:cs typeface="Calibri" pitchFamily="34" charset="-120"/>
              </a:rPr>
              <a:t>SQL and dashboards. Self-service</a:t>
            </a:r>
            <a:endParaRPr lang="en-US" sz="800" dirty="0"/>
          </a:p>
          <a:p>
            <a:pPr indent="0" marL="0">
              <a:buNone/>
            </a:pPr>
            <a:r>
              <a:rPr lang="en-US" sz="800" dirty="0">
                <a:solidFill>
                  <a:srgbClr val="8B9DC3"/>
                </a:solidFill>
                <a:latin typeface="Calibri" pitchFamily="34" charset="0"/>
                <a:ea typeface="Calibri" pitchFamily="34" charset="-122"/>
                <a:cs typeface="Calibri" pitchFamily="34" charset="-120"/>
              </a:rPr>
              <a:t>with trust and lineage.</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0D4FF"/>
          </a:solidFill>
          <a:ln/>
        </p:spPr>
      </p:sp>
      <p:sp>
        <p:nvSpPr>
          <p:cNvPr id="3" name="Text 1"/>
          <p:cNvSpPr/>
          <p:nvPr/>
        </p:nvSpPr>
        <p:spPr>
          <a:xfrm>
            <a:off x="731520" y="274320"/>
            <a:ext cx="7315200" cy="320040"/>
          </a:xfrm>
          <a:prstGeom prst="rect">
            <a:avLst/>
          </a:prstGeom>
          <a:noFill/>
          <a:ln/>
        </p:spPr>
        <p:txBody>
          <a:bodyPr wrap="square" lIns="0" tIns="0" rIns="0" bIns="0" rtlCol="0" anchor="ctr"/>
          <a:lstStyle/>
          <a:p>
            <a:pPr indent="0" marL="0">
              <a:buNone/>
            </a:pPr>
            <a:r>
              <a:rPr lang="en-US" sz="900" b="1" spc="300" kern="0" dirty="0">
                <a:solidFill>
                  <a:srgbClr val="00D4FF"/>
                </a:solidFill>
                <a:latin typeface="Calibri" pitchFamily="34" charset="0"/>
                <a:ea typeface="Calibri" pitchFamily="34" charset="-122"/>
                <a:cs typeface="Calibri" pitchFamily="34" charset="-120"/>
              </a:rPr>
              <a:t>PILLAR 01</a:t>
            </a:r>
            <a:endParaRPr lang="en-US" sz="900" dirty="0"/>
          </a:p>
        </p:txBody>
      </p:sp>
      <p:sp>
        <p:nvSpPr>
          <p:cNvPr id="4" name="Text 2"/>
          <p:cNvSpPr/>
          <p:nvPr/>
        </p:nvSpPr>
        <p:spPr>
          <a:xfrm>
            <a:off x="731520" y="594360"/>
            <a:ext cx="7315200" cy="45720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Agentic AI &amp; Multi-Agent Orchestration</a:t>
            </a:r>
            <a:endParaRPr lang="en-US" sz="2400" dirty="0"/>
          </a:p>
        </p:txBody>
      </p:sp>
      <p:sp>
        <p:nvSpPr>
          <p:cNvPr id="5" name="Text 3"/>
          <p:cNvSpPr/>
          <p:nvPr/>
        </p:nvSpPr>
        <p:spPr>
          <a:xfrm>
            <a:off x="731520" y="1097280"/>
            <a:ext cx="7680960" cy="457200"/>
          </a:xfrm>
          <a:prstGeom prst="rect">
            <a:avLst/>
          </a:prstGeom>
          <a:noFill/>
          <a:ln/>
        </p:spPr>
        <p:txBody>
          <a:bodyPr wrap="square" lIns="0" tIns="0" rIns="0" bIns="0" rtlCol="0" anchor="ctr"/>
          <a:lstStyle/>
          <a:p>
            <a:pPr indent="0" marL="0">
              <a:buNone/>
            </a:pPr>
            <a:r>
              <a:rPr lang="en-US" sz="1100" dirty="0">
                <a:solidFill>
                  <a:srgbClr val="8B9DC3"/>
                </a:solidFill>
                <a:latin typeface="Calibri" pitchFamily="34" charset="0"/>
                <a:ea typeface="Calibri" pitchFamily="34" charset="-122"/>
                <a:cs typeface="Calibri" pitchFamily="34" charset="-120"/>
              </a:rPr>
              <a:t>AI agents that don't just answer questions — they plan, execute, and self-correct across your business workflows with human oversight at every critical step.</a:t>
            </a:r>
            <a:endParaRPr lang="en-US" sz="1100" dirty="0"/>
          </a:p>
        </p:txBody>
      </p:sp>
      <p:sp>
        <p:nvSpPr>
          <p:cNvPr id="6" name="Shape 4"/>
          <p:cNvSpPr/>
          <p:nvPr/>
        </p:nvSpPr>
        <p:spPr>
          <a:xfrm>
            <a:off x="731520" y="1737360"/>
            <a:ext cx="3840480" cy="1188720"/>
          </a:xfrm>
          <a:prstGeom prst="rect">
            <a:avLst/>
          </a:prstGeom>
          <a:solidFill>
            <a:srgbClr val="131D33"/>
          </a:solidFill>
          <a:ln/>
          <a:effectLst>
            <a:outerShdw sx="100000" sy="100000" kx="0" ky="0" algn="bl" rotWithShape="0" blurRad="76200" dist="25400" dir="8100000">
              <a:srgbClr val="000000">
                <a:alpha val="12000"/>
              </a:srgbClr>
            </a:outerShdw>
          </a:effectLst>
        </p:spPr>
      </p:sp>
      <p:pic>
        <p:nvPicPr>
          <p:cNvPr id="7" name="Image 0" descr="preencoded.png">    </p:cNvPr>
          <p:cNvPicPr>
            <a:picLocks noChangeAspect="1"/>
          </p:cNvPicPr>
          <p:nvPr/>
        </p:nvPicPr>
        <p:blipFill>
          <a:blip r:embed="rId1"/>
          <a:stretch>
            <a:fillRect/>
          </a:stretch>
        </p:blipFill>
        <p:spPr>
          <a:xfrm>
            <a:off x="914400" y="1920240"/>
            <a:ext cx="274320" cy="274320"/>
          </a:xfrm>
          <a:prstGeom prst="rect">
            <a:avLst/>
          </a:prstGeom>
        </p:spPr>
      </p:pic>
      <p:sp>
        <p:nvSpPr>
          <p:cNvPr id="8" name="Text 5"/>
          <p:cNvSpPr/>
          <p:nvPr/>
        </p:nvSpPr>
        <p:spPr>
          <a:xfrm>
            <a:off x="1325880" y="1874520"/>
            <a:ext cx="3017520" cy="32004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Financial Reconciliation</a:t>
            </a:r>
            <a:endParaRPr lang="en-US" sz="1100" dirty="0"/>
          </a:p>
        </p:txBody>
      </p:sp>
      <p:sp>
        <p:nvSpPr>
          <p:cNvPr id="9" name="Text 6"/>
          <p:cNvSpPr/>
          <p:nvPr/>
        </p:nvSpPr>
        <p:spPr>
          <a:xfrm>
            <a:off x="1325880" y="2194560"/>
            <a:ext cx="3017520" cy="548640"/>
          </a:xfrm>
          <a:prstGeom prst="rect">
            <a:avLst/>
          </a:prstGeom>
          <a:noFill/>
          <a:ln/>
        </p:spPr>
        <p:txBody>
          <a:bodyPr wrap="square" lIns="0" tIns="0" rIns="0" bIns="0" rtlCol="0" anchor="ctr"/>
          <a:lstStyle/>
          <a:p>
            <a:pPr indent="0" marL="0">
              <a:buNone/>
            </a:pPr>
            <a:r>
              <a:rPr lang="en-US" sz="850" dirty="0">
                <a:solidFill>
                  <a:srgbClr val="8B9DC3"/>
                </a:solidFill>
                <a:latin typeface="Calibri" pitchFamily="34" charset="0"/>
                <a:ea typeface="Calibri" pitchFamily="34" charset="-122"/>
                <a:cs typeface="Calibri" pitchFamily="34" charset="-120"/>
              </a:rPr>
              <a:t>Agents that match, classify, and resolve exceptions across thousands of transactions per hour.</a:t>
            </a:r>
            <a:endParaRPr lang="en-US" sz="850" dirty="0"/>
          </a:p>
        </p:txBody>
      </p:sp>
      <p:sp>
        <p:nvSpPr>
          <p:cNvPr id="10" name="Shape 7"/>
          <p:cNvSpPr/>
          <p:nvPr/>
        </p:nvSpPr>
        <p:spPr>
          <a:xfrm>
            <a:off x="4846320" y="1737360"/>
            <a:ext cx="3840480" cy="1188720"/>
          </a:xfrm>
          <a:prstGeom prst="rect">
            <a:avLst/>
          </a:prstGeom>
          <a:solidFill>
            <a:srgbClr val="131D33"/>
          </a:solidFill>
          <a:ln/>
          <a:effectLst>
            <a:outerShdw sx="100000" sy="100000" kx="0" ky="0" algn="bl" rotWithShape="0" blurRad="76200" dist="25400" dir="8100000">
              <a:srgbClr val="000000">
                <a:alpha val="12000"/>
              </a:srgbClr>
            </a:outerShdw>
          </a:effectLst>
        </p:spPr>
      </p:sp>
      <p:pic>
        <p:nvPicPr>
          <p:cNvPr id="11" name="Image 1" descr="preencoded.png">    </p:cNvPr>
          <p:cNvPicPr>
            <a:picLocks noChangeAspect="1"/>
          </p:cNvPicPr>
          <p:nvPr/>
        </p:nvPicPr>
        <p:blipFill>
          <a:blip r:embed="rId2"/>
          <a:stretch>
            <a:fillRect/>
          </a:stretch>
        </p:blipFill>
        <p:spPr>
          <a:xfrm>
            <a:off x="5029200" y="1920240"/>
            <a:ext cx="274320" cy="274320"/>
          </a:xfrm>
          <a:prstGeom prst="rect">
            <a:avLst/>
          </a:prstGeom>
        </p:spPr>
      </p:pic>
      <p:sp>
        <p:nvSpPr>
          <p:cNvPr id="12" name="Text 8"/>
          <p:cNvSpPr/>
          <p:nvPr/>
        </p:nvSpPr>
        <p:spPr>
          <a:xfrm>
            <a:off x="5440680" y="1874520"/>
            <a:ext cx="3017520" cy="32004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Customer Service Escalation</a:t>
            </a:r>
            <a:endParaRPr lang="en-US" sz="1100" dirty="0"/>
          </a:p>
        </p:txBody>
      </p:sp>
      <p:sp>
        <p:nvSpPr>
          <p:cNvPr id="13" name="Text 9"/>
          <p:cNvSpPr/>
          <p:nvPr/>
        </p:nvSpPr>
        <p:spPr>
          <a:xfrm>
            <a:off x="5440680" y="2194560"/>
            <a:ext cx="3017520" cy="548640"/>
          </a:xfrm>
          <a:prstGeom prst="rect">
            <a:avLst/>
          </a:prstGeom>
          <a:noFill/>
          <a:ln/>
        </p:spPr>
        <p:txBody>
          <a:bodyPr wrap="square" lIns="0" tIns="0" rIns="0" bIns="0" rtlCol="0" anchor="ctr"/>
          <a:lstStyle/>
          <a:p>
            <a:pPr indent="0" marL="0">
              <a:buNone/>
            </a:pPr>
            <a:r>
              <a:rPr lang="en-US" sz="850" dirty="0">
                <a:solidFill>
                  <a:srgbClr val="8B9DC3"/>
                </a:solidFill>
                <a:latin typeface="Calibri" pitchFamily="34" charset="0"/>
                <a:ea typeface="Calibri" pitchFamily="34" charset="-122"/>
                <a:cs typeface="Calibri" pitchFamily="34" charset="-120"/>
              </a:rPr>
              <a:t>Multi-agent system: understands context, retrieves knowledge, resolves tier-1 issues, escalates intelligently.</a:t>
            </a:r>
            <a:endParaRPr lang="en-US" sz="850" dirty="0"/>
          </a:p>
        </p:txBody>
      </p:sp>
      <p:sp>
        <p:nvSpPr>
          <p:cNvPr id="14" name="Shape 10"/>
          <p:cNvSpPr/>
          <p:nvPr/>
        </p:nvSpPr>
        <p:spPr>
          <a:xfrm>
            <a:off x="731520" y="3108960"/>
            <a:ext cx="3840480" cy="1188720"/>
          </a:xfrm>
          <a:prstGeom prst="rect">
            <a:avLst/>
          </a:prstGeom>
          <a:solidFill>
            <a:srgbClr val="131D33"/>
          </a:solidFill>
          <a:ln/>
          <a:effectLst>
            <a:outerShdw sx="100000" sy="100000" kx="0" ky="0" algn="bl" rotWithShape="0" blurRad="76200" dist="25400" dir="8100000">
              <a:srgbClr val="000000">
                <a:alpha val="12000"/>
              </a:srgbClr>
            </a:outerShdw>
          </a:effectLst>
        </p:spPr>
      </p:sp>
      <p:pic>
        <p:nvPicPr>
          <p:cNvPr id="15" name="Image 2" descr="preencoded.png">    </p:cNvPr>
          <p:cNvPicPr>
            <a:picLocks noChangeAspect="1"/>
          </p:cNvPicPr>
          <p:nvPr/>
        </p:nvPicPr>
        <p:blipFill>
          <a:blip r:embed="rId3"/>
          <a:stretch>
            <a:fillRect/>
          </a:stretch>
        </p:blipFill>
        <p:spPr>
          <a:xfrm>
            <a:off x="914400" y="3291840"/>
            <a:ext cx="274320" cy="274320"/>
          </a:xfrm>
          <a:prstGeom prst="rect">
            <a:avLst/>
          </a:prstGeom>
        </p:spPr>
      </p:pic>
      <p:sp>
        <p:nvSpPr>
          <p:cNvPr id="16" name="Text 11"/>
          <p:cNvSpPr/>
          <p:nvPr/>
        </p:nvSpPr>
        <p:spPr>
          <a:xfrm>
            <a:off x="1325880" y="3246120"/>
            <a:ext cx="3017520" cy="32004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Supplier Negotiation</a:t>
            </a:r>
            <a:endParaRPr lang="en-US" sz="1100" dirty="0"/>
          </a:p>
        </p:txBody>
      </p:sp>
      <p:sp>
        <p:nvSpPr>
          <p:cNvPr id="17" name="Text 12"/>
          <p:cNvSpPr/>
          <p:nvPr/>
        </p:nvSpPr>
        <p:spPr>
          <a:xfrm>
            <a:off x="1325880" y="3566160"/>
            <a:ext cx="3017520" cy="548640"/>
          </a:xfrm>
          <a:prstGeom prst="rect">
            <a:avLst/>
          </a:prstGeom>
          <a:noFill/>
          <a:ln/>
        </p:spPr>
        <p:txBody>
          <a:bodyPr wrap="square" lIns="0" tIns="0" rIns="0" bIns="0" rtlCol="0" anchor="ctr"/>
          <a:lstStyle/>
          <a:p>
            <a:pPr indent="0" marL="0">
              <a:buNone/>
            </a:pPr>
            <a:r>
              <a:rPr lang="en-US" sz="850" dirty="0">
                <a:solidFill>
                  <a:srgbClr val="8B9DC3"/>
                </a:solidFill>
                <a:latin typeface="Calibri" pitchFamily="34" charset="0"/>
                <a:ea typeface="Calibri" pitchFamily="34" charset="-122"/>
                <a:cs typeface="Calibri" pitchFamily="34" charset="-120"/>
              </a:rPr>
              <a:t>Autonomous agents that analyze market data, compare quotes, and propose optimal procurement terms.</a:t>
            </a:r>
            <a:endParaRPr lang="en-US" sz="850" dirty="0"/>
          </a:p>
        </p:txBody>
      </p:sp>
      <p:sp>
        <p:nvSpPr>
          <p:cNvPr id="18" name="Shape 13"/>
          <p:cNvSpPr/>
          <p:nvPr/>
        </p:nvSpPr>
        <p:spPr>
          <a:xfrm>
            <a:off x="4846320" y="3108960"/>
            <a:ext cx="3840480" cy="1188720"/>
          </a:xfrm>
          <a:prstGeom prst="rect">
            <a:avLst/>
          </a:prstGeom>
          <a:solidFill>
            <a:srgbClr val="131D33"/>
          </a:solidFill>
          <a:ln/>
          <a:effectLst>
            <a:outerShdw sx="100000" sy="100000" kx="0" ky="0" algn="bl" rotWithShape="0" blurRad="76200" dist="25400" dir="8100000">
              <a:srgbClr val="000000">
                <a:alpha val="12000"/>
              </a:srgbClr>
            </a:outerShdw>
          </a:effectLst>
        </p:spPr>
      </p:sp>
      <p:pic>
        <p:nvPicPr>
          <p:cNvPr id="19" name="Image 3" descr="preencoded.png">    </p:cNvPr>
          <p:cNvPicPr>
            <a:picLocks noChangeAspect="1"/>
          </p:cNvPicPr>
          <p:nvPr/>
        </p:nvPicPr>
        <p:blipFill>
          <a:blip r:embed="rId4"/>
          <a:stretch>
            <a:fillRect/>
          </a:stretch>
        </p:blipFill>
        <p:spPr>
          <a:xfrm>
            <a:off x="5029200" y="3291840"/>
            <a:ext cx="274320" cy="274320"/>
          </a:xfrm>
          <a:prstGeom prst="rect">
            <a:avLst/>
          </a:prstGeom>
        </p:spPr>
      </p:pic>
      <p:sp>
        <p:nvSpPr>
          <p:cNvPr id="20" name="Text 14"/>
          <p:cNvSpPr/>
          <p:nvPr/>
        </p:nvSpPr>
        <p:spPr>
          <a:xfrm>
            <a:off x="5440680" y="3246120"/>
            <a:ext cx="3017520" cy="32004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Regulatory Reporting</a:t>
            </a:r>
            <a:endParaRPr lang="en-US" sz="1100" dirty="0"/>
          </a:p>
        </p:txBody>
      </p:sp>
      <p:sp>
        <p:nvSpPr>
          <p:cNvPr id="21" name="Text 15"/>
          <p:cNvSpPr/>
          <p:nvPr/>
        </p:nvSpPr>
        <p:spPr>
          <a:xfrm>
            <a:off x="5440680" y="3566160"/>
            <a:ext cx="3017520" cy="548640"/>
          </a:xfrm>
          <a:prstGeom prst="rect">
            <a:avLst/>
          </a:prstGeom>
          <a:noFill/>
          <a:ln/>
        </p:spPr>
        <p:txBody>
          <a:bodyPr wrap="square" lIns="0" tIns="0" rIns="0" bIns="0" rtlCol="0" anchor="ctr"/>
          <a:lstStyle/>
          <a:p>
            <a:pPr indent="0" marL="0">
              <a:buNone/>
            </a:pPr>
            <a:r>
              <a:rPr lang="en-US" sz="850" dirty="0">
                <a:solidFill>
                  <a:srgbClr val="8B9DC3"/>
                </a:solidFill>
                <a:latin typeface="Calibri" pitchFamily="34" charset="0"/>
                <a:ea typeface="Calibri" pitchFamily="34" charset="-122"/>
                <a:cs typeface="Calibri" pitchFamily="34" charset="-120"/>
              </a:rPr>
              <a:t>Agents that monitor compliance, generate reports, and flag anomalies with full audit trails.</a:t>
            </a:r>
            <a:endParaRPr lang="en-US" sz="850" dirty="0"/>
          </a:p>
        </p:txBody>
      </p:sp>
      <p:sp>
        <p:nvSpPr>
          <p:cNvPr id="22" name="Text 16"/>
          <p:cNvSpPr/>
          <p:nvPr/>
        </p:nvSpPr>
        <p:spPr>
          <a:xfrm>
            <a:off x="731520" y="4526280"/>
            <a:ext cx="1828800" cy="228600"/>
          </a:xfrm>
          <a:prstGeom prst="rect">
            <a:avLst/>
          </a:prstGeom>
          <a:noFill/>
          <a:ln/>
        </p:spPr>
        <p:txBody>
          <a:bodyPr wrap="square" lIns="0" tIns="0" rIns="0" bIns="0" rtlCol="0" anchor="ctr"/>
          <a:lstStyle/>
          <a:p>
            <a:pPr indent="0" marL="0">
              <a:buNone/>
            </a:pPr>
            <a:r>
              <a:rPr lang="en-US" sz="800" b="1" spc="200" kern="0" dirty="0">
                <a:solidFill>
                  <a:srgbClr val="00C9A7"/>
                </a:solidFill>
                <a:latin typeface="Calibri" pitchFamily="34" charset="0"/>
                <a:ea typeface="Calibri" pitchFamily="34" charset="-122"/>
                <a:cs typeface="Calibri" pitchFamily="34" charset="-120"/>
              </a:rPr>
              <a:t>TECHNOLOGY</a:t>
            </a:r>
            <a:endParaRPr lang="en-US" sz="800" dirty="0"/>
          </a:p>
        </p:txBody>
      </p:sp>
      <p:sp>
        <p:nvSpPr>
          <p:cNvPr id="23" name="Text 17"/>
          <p:cNvSpPr/>
          <p:nvPr/>
        </p:nvSpPr>
        <p:spPr>
          <a:xfrm>
            <a:off x="731520" y="4709160"/>
            <a:ext cx="7315200" cy="228600"/>
          </a:xfrm>
          <a:prstGeom prst="rect">
            <a:avLst/>
          </a:prstGeom>
          <a:noFill/>
          <a:ln/>
        </p:spPr>
        <p:txBody>
          <a:bodyPr wrap="square" lIns="0" tIns="0" rIns="0" bIns="0" rtlCol="0" anchor="ctr"/>
          <a:lstStyle/>
          <a:p>
            <a:pPr indent="0" marL="0">
              <a:buNone/>
            </a:pPr>
            <a:r>
              <a:rPr lang="en-US" sz="900" dirty="0">
                <a:solidFill>
                  <a:srgbClr val="5A6F94"/>
                </a:solidFill>
                <a:latin typeface="Calibri" pitchFamily="34" charset="0"/>
                <a:ea typeface="Calibri" pitchFamily="34" charset="-122"/>
                <a:cs typeface="Calibri" pitchFamily="34" charset="-120"/>
              </a:rPr>
              <a:t>LangGraph  ·  CrewAI  ·  Microsoft AutoGen  ·  Semantic Kernel  ·  MCP Protocol  ·  NTT Smart AI Agent™</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0D4FF"/>
          </a:solidFill>
          <a:ln/>
        </p:spPr>
      </p:sp>
      <p:sp>
        <p:nvSpPr>
          <p:cNvPr id="3" name="Text 1"/>
          <p:cNvSpPr/>
          <p:nvPr/>
        </p:nvSpPr>
        <p:spPr>
          <a:xfrm>
            <a:off x="731520" y="274320"/>
            <a:ext cx="7315200" cy="320040"/>
          </a:xfrm>
          <a:prstGeom prst="rect">
            <a:avLst/>
          </a:prstGeom>
          <a:noFill/>
          <a:ln/>
        </p:spPr>
        <p:txBody>
          <a:bodyPr wrap="square" lIns="0" tIns="0" rIns="0" bIns="0" rtlCol="0" anchor="ctr"/>
          <a:lstStyle/>
          <a:p>
            <a:pPr indent="0" marL="0">
              <a:buNone/>
            </a:pPr>
            <a:r>
              <a:rPr lang="en-US" sz="900" b="1" spc="300" kern="0" dirty="0">
                <a:solidFill>
                  <a:srgbClr val="00D4FF"/>
                </a:solidFill>
                <a:latin typeface="Calibri" pitchFamily="34" charset="0"/>
                <a:ea typeface="Calibri" pitchFamily="34" charset="-122"/>
                <a:cs typeface="Calibri" pitchFamily="34" charset="-120"/>
              </a:rPr>
              <a:t>TECHNOLOGY ARCHITECTURE</a:t>
            </a:r>
            <a:endParaRPr lang="en-US" sz="900" dirty="0"/>
          </a:p>
        </p:txBody>
      </p:sp>
      <p:sp>
        <p:nvSpPr>
          <p:cNvPr id="4" name="Text 2"/>
          <p:cNvSpPr/>
          <p:nvPr/>
        </p:nvSpPr>
        <p:spPr>
          <a:xfrm>
            <a:off x="731520" y="594360"/>
            <a:ext cx="7315200" cy="45720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The Intelligence Stack</a:t>
            </a:r>
            <a:endParaRPr lang="en-US" sz="2400" dirty="0"/>
          </a:p>
        </p:txBody>
      </p:sp>
      <p:sp>
        <p:nvSpPr>
          <p:cNvPr id="5" name="Text 3"/>
          <p:cNvSpPr/>
          <p:nvPr/>
        </p:nvSpPr>
        <p:spPr>
          <a:xfrm>
            <a:off x="731520" y="1051560"/>
            <a:ext cx="7315200" cy="274320"/>
          </a:xfrm>
          <a:prstGeom prst="rect">
            <a:avLst/>
          </a:prstGeom>
          <a:noFill/>
          <a:ln/>
        </p:spPr>
        <p:txBody>
          <a:bodyPr wrap="square" lIns="0" tIns="0" rIns="0" bIns="0" rtlCol="0" anchor="ctr"/>
          <a:lstStyle/>
          <a:p>
            <a:pPr indent="0" marL="0">
              <a:buNone/>
            </a:pPr>
            <a:r>
              <a:rPr lang="en-US" sz="1000" dirty="0">
                <a:solidFill>
                  <a:srgbClr val="8B9DC3"/>
                </a:solidFill>
                <a:latin typeface="Calibri" pitchFamily="34" charset="0"/>
                <a:ea typeface="Calibri" pitchFamily="34" charset="-122"/>
                <a:cs typeface="Calibri" pitchFamily="34" charset="-120"/>
              </a:rPr>
              <a:t>Cloud-agnostic, composable architecture. Four layers from raw data to autonomous action.</a:t>
            </a:r>
            <a:endParaRPr lang="en-US" sz="1000" dirty="0"/>
          </a:p>
        </p:txBody>
      </p:sp>
      <p:sp>
        <p:nvSpPr>
          <p:cNvPr id="6" name="Shape 4"/>
          <p:cNvSpPr/>
          <p:nvPr/>
        </p:nvSpPr>
        <p:spPr>
          <a:xfrm>
            <a:off x="731520" y="1463040"/>
            <a:ext cx="7680960" cy="731520"/>
          </a:xfrm>
          <a:prstGeom prst="rect">
            <a:avLst/>
          </a:prstGeom>
          <a:solidFill>
            <a:srgbClr val="131D33"/>
          </a:solidFill>
          <a:ln/>
        </p:spPr>
      </p:sp>
      <p:sp>
        <p:nvSpPr>
          <p:cNvPr id="7" name="Shape 5"/>
          <p:cNvSpPr/>
          <p:nvPr/>
        </p:nvSpPr>
        <p:spPr>
          <a:xfrm>
            <a:off x="731520" y="1463040"/>
            <a:ext cx="54864" cy="731520"/>
          </a:xfrm>
          <a:prstGeom prst="rect">
            <a:avLst/>
          </a:prstGeom>
          <a:solidFill>
            <a:srgbClr val="00D4FF"/>
          </a:solidFill>
          <a:ln/>
        </p:spPr>
      </p:sp>
      <p:sp>
        <p:nvSpPr>
          <p:cNvPr id="8" name="Text 6"/>
          <p:cNvSpPr/>
          <p:nvPr/>
        </p:nvSpPr>
        <p:spPr>
          <a:xfrm>
            <a:off x="1005840" y="1508760"/>
            <a:ext cx="1645920" cy="201168"/>
          </a:xfrm>
          <a:prstGeom prst="rect">
            <a:avLst/>
          </a:prstGeom>
          <a:noFill/>
          <a:ln/>
        </p:spPr>
        <p:txBody>
          <a:bodyPr wrap="square" lIns="0" tIns="0" rIns="0" bIns="0" rtlCol="0" anchor="ctr"/>
          <a:lstStyle/>
          <a:p>
            <a:pPr indent="0" marL="0">
              <a:buNone/>
            </a:pPr>
            <a:r>
              <a:rPr lang="en-US" sz="750" b="1" spc="200" kern="0" dirty="0">
                <a:solidFill>
                  <a:srgbClr val="00D4FF"/>
                </a:solidFill>
                <a:latin typeface="Calibri" pitchFamily="34" charset="0"/>
                <a:ea typeface="Calibri" pitchFamily="34" charset="-122"/>
                <a:cs typeface="Calibri" pitchFamily="34" charset="-120"/>
              </a:rPr>
              <a:t>ACTION</a:t>
            </a:r>
            <a:endParaRPr lang="en-US" sz="750" dirty="0"/>
          </a:p>
        </p:txBody>
      </p:sp>
      <p:sp>
        <p:nvSpPr>
          <p:cNvPr id="9" name="Text 7"/>
          <p:cNvSpPr/>
          <p:nvPr/>
        </p:nvSpPr>
        <p:spPr>
          <a:xfrm>
            <a:off x="1005840" y="1719072"/>
            <a:ext cx="164592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Autonomous Execution</a:t>
            </a:r>
            <a:endParaRPr lang="en-US" sz="1300" dirty="0"/>
          </a:p>
        </p:txBody>
      </p:sp>
      <p:sp>
        <p:nvSpPr>
          <p:cNvPr id="10" name="Text 8"/>
          <p:cNvSpPr/>
          <p:nvPr/>
        </p:nvSpPr>
        <p:spPr>
          <a:xfrm>
            <a:off x="3017520" y="1554480"/>
            <a:ext cx="5212080" cy="548640"/>
          </a:xfrm>
          <a:prstGeom prst="rect">
            <a:avLst/>
          </a:prstGeom>
          <a:noFill/>
          <a:ln/>
        </p:spPr>
        <p:txBody>
          <a:bodyPr wrap="square" lIns="0" tIns="0" rIns="0" bIns="0" rtlCol="0" anchor="ctr"/>
          <a:lstStyle/>
          <a:p>
            <a:pPr indent="0" marL="0">
              <a:buNone/>
            </a:pPr>
            <a:r>
              <a:rPr lang="en-US" sz="900" dirty="0">
                <a:solidFill>
                  <a:srgbClr val="8B9DC3"/>
                </a:solidFill>
                <a:latin typeface="Calibri" pitchFamily="34" charset="0"/>
                <a:ea typeface="Calibri" pitchFamily="34" charset="-122"/>
                <a:cs typeface="Calibri" pitchFamily="34" charset="-120"/>
              </a:rPr>
              <a:t>LangGraph / CrewAI  ·  AutoGen  ·  Semantic Kernel  ·  MCP  ·  UiPath + AI</a:t>
            </a:r>
            <a:endParaRPr lang="en-US" sz="900" dirty="0"/>
          </a:p>
        </p:txBody>
      </p:sp>
      <p:sp>
        <p:nvSpPr>
          <p:cNvPr id="11" name="Shape 9"/>
          <p:cNvSpPr/>
          <p:nvPr/>
        </p:nvSpPr>
        <p:spPr>
          <a:xfrm>
            <a:off x="731520" y="2331720"/>
            <a:ext cx="7680960" cy="731520"/>
          </a:xfrm>
          <a:prstGeom prst="rect">
            <a:avLst/>
          </a:prstGeom>
          <a:solidFill>
            <a:srgbClr val="131D33"/>
          </a:solidFill>
          <a:ln/>
        </p:spPr>
      </p:sp>
      <p:sp>
        <p:nvSpPr>
          <p:cNvPr id="12" name="Shape 10"/>
          <p:cNvSpPr/>
          <p:nvPr/>
        </p:nvSpPr>
        <p:spPr>
          <a:xfrm>
            <a:off x="731520" y="2331720"/>
            <a:ext cx="54864" cy="731520"/>
          </a:xfrm>
          <a:prstGeom prst="rect">
            <a:avLst/>
          </a:prstGeom>
          <a:solidFill>
            <a:srgbClr val="7B61FF"/>
          </a:solidFill>
          <a:ln/>
        </p:spPr>
      </p:sp>
      <p:sp>
        <p:nvSpPr>
          <p:cNvPr id="13" name="Text 11"/>
          <p:cNvSpPr/>
          <p:nvPr/>
        </p:nvSpPr>
        <p:spPr>
          <a:xfrm>
            <a:off x="1005840" y="2377440"/>
            <a:ext cx="1645920" cy="201168"/>
          </a:xfrm>
          <a:prstGeom prst="rect">
            <a:avLst/>
          </a:prstGeom>
          <a:noFill/>
          <a:ln/>
        </p:spPr>
        <p:txBody>
          <a:bodyPr wrap="square" lIns="0" tIns="0" rIns="0" bIns="0" rtlCol="0" anchor="ctr"/>
          <a:lstStyle/>
          <a:p>
            <a:pPr indent="0" marL="0">
              <a:buNone/>
            </a:pPr>
            <a:r>
              <a:rPr lang="en-US" sz="750" b="1" spc="200" kern="0" dirty="0">
                <a:solidFill>
                  <a:srgbClr val="7B61FF"/>
                </a:solidFill>
                <a:latin typeface="Calibri" pitchFamily="34" charset="0"/>
                <a:ea typeface="Calibri" pitchFamily="34" charset="-122"/>
                <a:cs typeface="Calibri" pitchFamily="34" charset="-120"/>
              </a:rPr>
              <a:t>INTELLIGENCE</a:t>
            </a:r>
            <a:endParaRPr lang="en-US" sz="750" dirty="0"/>
          </a:p>
        </p:txBody>
      </p:sp>
      <p:sp>
        <p:nvSpPr>
          <p:cNvPr id="14" name="Text 12"/>
          <p:cNvSpPr/>
          <p:nvPr/>
        </p:nvSpPr>
        <p:spPr>
          <a:xfrm>
            <a:off x="1005840" y="2587752"/>
            <a:ext cx="164592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AI &amp; GenAI Models</a:t>
            </a:r>
            <a:endParaRPr lang="en-US" sz="1300" dirty="0"/>
          </a:p>
        </p:txBody>
      </p:sp>
      <p:sp>
        <p:nvSpPr>
          <p:cNvPr id="15" name="Text 13"/>
          <p:cNvSpPr/>
          <p:nvPr/>
        </p:nvSpPr>
        <p:spPr>
          <a:xfrm>
            <a:off x="3017520" y="2423160"/>
            <a:ext cx="5212080" cy="548640"/>
          </a:xfrm>
          <a:prstGeom prst="rect">
            <a:avLst/>
          </a:prstGeom>
          <a:noFill/>
          <a:ln/>
        </p:spPr>
        <p:txBody>
          <a:bodyPr wrap="square" lIns="0" tIns="0" rIns="0" bIns="0" rtlCol="0" anchor="ctr"/>
          <a:lstStyle/>
          <a:p>
            <a:pPr indent="0" marL="0">
              <a:buNone/>
            </a:pPr>
            <a:r>
              <a:rPr lang="en-US" sz="900" dirty="0">
                <a:solidFill>
                  <a:srgbClr val="8B9DC3"/>
                </a:solidFill>
                <a:latin typeface="Calibri" pitchFamily="34" charset="0"/>
                <a:ea typeface="Calibri" pitchFamily="34" charset="-122"/>
                <a:cs typeface="Calibri" pitchFamily="34" charset="-120"/>
              </a:rPr>
              <a:t>Azure OpenAI  ·  Vertex AI  ·  Bedrock  ·  NTT Smart AI Agent™  ·  Syntphony</a:t>
            </a:r>
            <a:endParaRPr lang="en-US" sz="900" dirty="0"/>
          </a:p>
        </p:txBody>
      </p:sp>
      <p:sp>
        <p:nvSpPr>
          <p:cNvPr id="16" name="Shape 14"/>
          <p:cNvSpPr/>
          <p:nvPr/>
        </p:nvSpPr>
        <p:spPr>
          <a:xfrm>
            <a:off x="731520" y="3200400"/>
            <a:ext cx="7680960" cy="731520"/>
          </a:xfrm>
          <a:prstGeom prst="rect">
            <a:avLst/>
          </a:prstGeom>
          <a:solidFill>
            <a:srgbClr val="131D33"/>
          </a:solidFill>
          <a:ln/>
        </p:spPr>
      </p:sp>
      <p:sp>
        <p:nvSpPr>
          <p:cNvPr id="17" name="Shape 15"/>
          <p:cNvSpPr/>
          <p:nvPr/>
        </p:nvSpPr>
        <p:spPr>
          <a:xfrm>
            <a:off x="731520" y="3200400"/>
            <a:ext cx="54864" cy="731520"/>
          </a:xfrm>
          <a:prstGeom prst="rect">
            <a:avLst/>
          </a:prstGeom>
          <a:solidFill>
            <a:srgbClr val="00C9A7"/>
          </a:solidFill>
          <a:ln/>
        </p:spPr>
      </p:sp>
      <p:sp>
        <p:nvSpPr>
          <p:cNvPr id="18" name="Text 16"/>
          <p:cNvSpPr/>
          <p:nvPr/>
        </p:nvSpPr>
        <p:spPr>
          <a:xfrm>
            <a:off x="1005840" y="3246120"/>
            <a:ext cx="1645920" cy="201168"/>
          </a:xfrm>
          <a:prstGeom prst="rect">
            <a:avLst/>
          </a:prstGeom>
          <a:noFill/>
          <a:ln/>
        </p:spPr>
        <p:txBody>
          <a:bodyPr wrap="square" lIns="0" tIns="0" rIns="0" bIns="0" rtlCol="0" anchor="ctr"/>
          <a:lstStyle/>
          <a:p>
            <a:pPr indent="0" marL="0">
              <a:buNone/>
            </a:pPr>
            <a:r>
              <a:rPr lang="en-US" sz="750" b="1" spc="200" kern="0" dirty="0">
                <a:solidFill>
                  <a:srgbClr val="00C9A7"/>
                </a:solidFill>
                <a:latin typeface="Calibri" pitchFamily="34" charset="0"/>
                <a:ea typeface="Calibri" pitchFamily="34" charset="-122"/>
                <a:cs typeface="Calibri" pitchFamily="34" charset="-120"/>
              </a:rPr>
              <a:t>ANALYTICS</a:t>
            </a:r>
            <a:endParaRPr lang="en-US" sz="750" dirty="0"/>
          </a:p>
        </p:txBody>
      </p:sp>
      <p:sp>
        <p:nvSpPr>
          <p:cNvPr id="19" name="Text 17"/>
          <p:cNvSpPr/>
          <p:nvPr/>
        </p:nvSpPr>
        <p:spPr>
          <a:xfrm>
            <a:off x="1005840" y="3456432"/>
            <a:ext cx="164592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Insight &amp; Decision</a:t>
            </a:r>
            <a:endParaRPr lang="en-US" sz="1300" dirty="0"/>
          </a:p>
        </p:txBody>
      </p:sp>
      <p:sp>
        <p:nvSpPr>
          <p:cNvPr id="20" name="Text 18"/>
          <p:cNvSpPr/>
          <p:nvPr/>
        </p:nvSpPr>
        <p:spPr>
          <a:xfrm>
            <a:off x="3017520" y="3291840"/>
            <a:ext cx="5212080" cy="548640"/>
          </a:xfrm>
          <a:prstGeom prst="rect">
            <a:avLst/>
          </a:prstGeom>
          <a:noFill/>
          <a:ln/>
        </p:spPr>
        <p:txBody>
          <a:bodyPr wrap="square" lIns="0" tIns="0" rIns="0" bIns="0" rtlCol="0" anchor="ctr"/>
          <a:lstStyle/>
          <a:p>
            <a:pPr indent="0" marL="0">
              <a:buNone/>
            </a:pPr>
            <a:r>
              <a:rPr lang="en-US" sz="900" dirty="0">
                <a:solidFill>
                  <a:srgbClr val="8B9DC3"/>
                </a:solidFill>
                <a:latin typeface="Calibri" pitchFamily="34" charset="0"/>
                <a:ea typeface="Calibri" pitchFamily="34" charset="-122"/>
                <a:cs typeface="Calibri" pitchFamily="34" charset="-120"/>
              </a:rPr>
              <a:t>Power BI + Copilot  ·  Tableau  ·  Celonis  ·  Databricks ML  ·  Superset</a:t>
            </a:r>
            <a:endParaRPr lang="en-US" sz="900" dirty="0"/>
          </a:p>
        </p:txBody>
      </p:sp>
      <p:sp>
        <p:nvSpPr>
          <p:cNvPr id="21" name="Shape 19"/>
          <p:cNvSpPr/>
          <p:nvPr/>
        </p:nvSpPr>
        <p:spPr>
          <a:xfrm>
            <a:off x="731520" y="4069080"/>
            <a:ext cx="7680960" cy="731520"/>
          </a:xfrm>
          <a:prstGeom prst="rect">
            <a:avLst/>
          </a:prstGeom>
          <a:solidFill>
            <a:srgbClr val="131D33"/>
          </a:solidFill>
          <a:ln/>
        </p:spPr>
      </p:sp>
      <p:sp>
        <p:nvSpPr>
          <p:cNvPr id="22" name="Shape 20"/>
          <p:cNvSpPr/>
          <p:nvPr/>
        </p:nvSpPr>
        <p:spPr>
          <a:xfrm>
            <a:off x="731520" y="4069080"/>
            <a:ext cx="54864" cy="731520"/>
          </a:xfrm>
          <a:prstGeom prst="rect">
            <a:avLst/>
          </a:prstGeom>
          <a:solidFill>
            <a:srgbClr val="FFB547"/>
          </a:solidFill>
          <a:ln/>
        </p:spPr>
      </p:sp>
      <p:sp>
        <p:nvSpPr>
          <p:cNvPr id="23" name="Text 21"/>
          <p:cNvSpPr/>
          <p:nvPr/>
        </p:nvSpPr>
        <p:spPr>
          <a:xfrm>
            <a:off x="1005840" y="4114800"/>
            <a:ext cx="1645920" cy="201168"/>
          </a:xfrm>
          <a:prstGeom prst="rect">
            <a:avLst/>
          </a:prstGeom>
          <a:noFill/>
          <a:ln/>
        </p:spPr>
        <p:txBody>
          <a:bodyPr wrap="square" lIns="0" tIns="0" rIns="0" bIns="0" rtlCol="0" anchor="ctr"/>
          <a:lstStyle/>
          <a:p>
            <a:pPr indent="0" marL="0">
              <a:buNone/>
            </a:pPr>
            <a:r>
              <a:rPr lang="en-US" sz="750" b="1" spc="200" kern="0" dirty="0">
                <a:solidFill>
                  <a:srgbClr val="FFB547"/>
                </a:solidFill>
                <a:latin typeface="Calibri" pitchFamily="34" charset="0"/>
                <a:ea typeface="Calibri" pitchFamily="34" charset="-122"/>
                <a:cs typeface="Calibri" pitchFamily="34" charset="-120"/>
              </a:rPr>
              <a:t>FOUNDATION</a:t>
            </a:r>
            <a:endParaRPr lang="en-US" sz="750" dirty="0"/>
          </a:p>
        </p:txBody>
      </p:sp>
      <p:sp>
        <p:nvSpPr>
          <p:cNvPr id="24" name="Text 22"/>
          <p:cNvSpPr/>
          <p:nvPr/>
        </p:nvSpPr>
        <p:spPr>
          <a:xfrm>
            <a:off x="1005840" y="4325112"/>
            <a:ext cx="164592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Data Platform</a:t>
            </a:r>
            <a:endParaRPr lang="en-US" sz="1300" dirty="0"/>
          </a:p>
        </p:txBody>
      </p:sp>
      <p:sp>
        <p:nvSpPr>
          <p:cNvPr id="25" name="Text 23"/>
          <p:cNvSpPr/>
          <p:nvPr/>
        </p:nvSpPr>
        <p:spPr>
          <a:xfrm>
            <a:off x="3017520" y="4160520"/>
            <a:ext cx="5212080" cy="548640"/>
          </a:xfrm>
          <a:prstGeom prst="rect">
            <a:avLst/>
          </a:prstGeom>
          <a:noFill/>
          <a:ln/>
        </p:spPr>
        <p:txBody>
          <a:bodyPr wrap="square" lIns="0" tIns="0" rIns="0" bIns="0" rtlCol="0" anchor="ctr"/>
          <a:lstStyle/>
          <a:p>
            <a:pPr indent="0" marL="0">
              <a:buNone/>
            </a:pPr>
            <a:r>
              <a:rPr lang="en-US" sz="900" dirty="0">
                <a:solidFill>
                  <a:srgbClr val="8B9DC3"/>
                </a:solidFill>
                <a:latin typeface="Calibri" pitchFamily="34" charset="0"/>
                <a:ea typeface="Calibri" pitchFamily="34" charset="-122"/>
                <a:cs typeface="Calibri" pitchFamily="34" charset="-120"/>
              </a:rPr>
              <a:t>Databricks  ·  Snowflake  ·  dbt / Airflow  ·  Kafka  ·  BigQuery  ·  Synapse</a:t>
            </a:r>
            <a:endParaRPr lang="en-US" sz="900" dirty="0"/>
          </a:p>
        </p:txBody>
      </p:sp>
      <p:sp>
        <p:nvSpPr>
          <p:cNvPr id="26" name="Shape 24"/>
          <p:cNvSpPr/>
          <p:nvPr/>
        </p:nvSpPr>
        <p:spPr>
          <a:xfrm>
            <a:off x="731520" y="4572000"/>
            <a:ext cx="7680960" cy="411480"/>
          </a:xfrm>
          <a:prstGeom prst="rect">
            <a:avLst/>
          </a:prstGeom>
          <a:solidFill>
            <a:srgbClr val="182440"/>
          </a:solidFill>
          <a:ln/>
        </p:spPr>
      </p:sp>
      <p:sp>
        <p:nvSpPr>
          <p:cNvPr id="27" name="Text 25"/>
          <p:cNvSpPr/>
          <p:nvPr/>
        </p:nvSpPr>
        <p:spPr>
          <a:xfrm>
            <a:off x="1005840" y="4617720"/>
            <a:ext cx="7132320" cy="320040"/>
          </a:xfrm>
          <a:prstGeom prst="rect">
            <a:avLst/>
          </a:prstGeom>
          <a:noFill/>
          <a:ln/>
        </p:spPr>
        <p:txBody>
          <a:bodyPr wrap="square" lIns="0" tIns="0" rIns="0" bIns="0" rtlCol="0" anchor="ctr"/>
          <a:lstStyle/>
          <a:p>
            <a:pPr indent="0" marL="0">
              <a:buNone/>
            </a:pPr>
            <a:r>
              <a:rPr lang="en-US" sz="850" dirty="0">
                <a:solidFill>
                  <a:srgbClr val="FF6B8A"/>
                </a:solidFill>
                <a:latin typeface="Calibri" pitchFamily="34" charset="0"/>
                <a:ea typeface="Calibri" pitchFamily="34" charset="-122"/>
                <a:cs typeface="Calibri" pitchFamily="34" charset="-120"/>
              </a:rPr>
              <a:t>CROSS-CUTTING:  Responsible AI  ·  EU AI Act Compliance  ·  Explainability  ·  Model Lineage  ·  FinOps</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0D4FF"/>
          </a:solidFill>
          <a:ln/>
        </p:spPr>
      </p:sp>
      <p:sp>
        <p:nvSpPr>
          <p:cNvPr id="3" name="Text 1"/>
          <p:cNvSpPr/>
          <p:nvPr/>
        </p:nvSpPr>
        <p:spPr>
          <a:xfrm>
            <a:off x="731520" y="274320"/>
            <a:ext cx="7315200" cy="320040"/>
          </a:xfrm>
          <a:prstGeom prst="rect">
            <a:avLst/>
          </a:prstGeom>
          <a:noFill/>
          <a:ln/>
        </p:spPr>
        <p:txBody>
          <a:bodyPr wrap="square" lIns="0" tIns="0" rIns="0" bIns="0" rtlCol="0" anchor="ctr"/>
          <a:lstStyle/>
          <a:p>
            <a:pPr indent="0" marL="0">
              <a:buNone/>
            </a:pPr>
            <a:r>
              <a:rPr lang="en-US" sz="900" b="1" spc="300" kern="0" dirty="0">
                <a:solidFill>
                  <a:srgbClr val="00D4FF"/>
                </a:solidFill>
                <a:latin typeface="Calibri" pitchFamily="34" charset="0"/>
                <a:ea typeface="Calibri" pitchFamily="34" charset="-122"/>
                <a:cs typeface="Calibri" pitchFamily="34" charset="-120"/>
              </a:rPr>
              <a:t>RAPID VALUE DEMONSTRATION</a:t>
            </a:r>
            <a:endParaRPr lang="en-US" sz="900" dirty="0"/>
          </a:p>
        </p:txBody>
      </p:sp>
      <p:sp>
        <p:nvSpPr>
          <p:cNvPr id="4" name="Text 2"/>
          <p:cNvSpPr/>
          <p:nvPr/>
        </p:nvSpPr>
        <p:spPr>
          <a:xfrm>
            <a:off x="731520" y="594360"/>
            <a:ext cx="7315200" cy="45720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See Results in 4 Weeks</a:t>
            </a:r>
            <a:endParaRPr lang="en-US" sz="2600" dirty="0"/>
          </a:p>
        </p:txBody>
      </p:sp>
      <p:sp>
        <p:nvSpPr>
          <p:cNvPr id="5" name="Text 3"/>
          <p:cNvSpPr/>
          <p:nvPr/>
        </p:nvSpPr>
        <p:spPr>
          <a:xfrm>
            <a:off x="731520" y="1051560"/>
            <a:ext cx="7315200" cy="411480"/>
          </a:xfrm>
          <a:prstGeom prst="rect">
            <a:avLst/>
          </a:prstGeom>
          <a:noFill/>
          <a:ln/>
        </p:spPr>
        <p:txBody>
          <a:bodyPr wrap="square" lIns="0" tIns="0" rIns="0" bIns="0" rtlCol="0" anchor="ctr"/>
          <a:lstStyle/>
          <a:p>
            <a:pPr indent="0" marL="0">
              <a:buNone/>
            </a:pPr>
            <a:r>
              <a:rPr lang="en-US" sz="1050" dirty="0">
                <a:solidFill>
                  <a:srgbClr val="8B9DC3"/>
                </a:solidFill>
                <a:latin typeface="Calibri" pitchFamily="34" charset="0"/>
                <a:ea typeface="Calibri" pitchFamily="34" charset="-122"/>
                <a:cs typeface="Calibri" pitchFamily="34" charset="-120"/>
              </a:rPr>
              <a:t>We don't ask you to commit before seeing value. Our Rapid PoC framework delivers measurable results in 4 weeks — de-risking your investment before scaling.</a:t>
            </a:r>
            <a:endParaRPr lang="en-US" sz="1050" dirty="0"/>
          </a:p>
        </p:txBody>
      </p:sp>
      <p:sp>
        <p:nvSpPr>
          <p:cNvPr id="6" name="Shape 4"/>
          <p:cNvSpPr/>
          <p:nvPr/>
        </p:nvSpPr>
        <p:spPr>
          <a:xfrm>
            <a:off x="731520" y="1691640"/>
            <a:ext cx="1920240" cy="201168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7" name="Shape 5"/>
          <p:cNvSpPr/>
          <p:nvPr/>
        </p:nvSpPr>
        <p:spPr>
          <a:xfrm>
            <a:off x="731520" y="1691640"/>
            <a:ext cx="1920240" cy="36576"/>
          </a:xfrm>
          <a:prstGeom prst="rect">
            <a:avLst/>
          </a:prstGeom>
          <a:solidFill>
            <a:srgbClr val="00D4FF"/>
          </a:solidFill>
          <a:ln/>
        </p:spPr>
      </p:sp>
      <p:sp>
        <p:nvSpPr>
          <p:cNvPr id="8" name="Text 6"/>
          <p:cNvSpPr/>
          <p:nvPr/>
        </p:nvSpPr>
        <p:spPr>
          <a:xfrm>
            <a:off x="868680" y="1801368"/>
            <a:ext cx="1645920" cy="201168"/>
          </a:xfrm>
          <a:prstGeom prst="rect">
            <a:avLst/>
          </a:prstGeom>
          <a:noFill/>
          <a:ln/>
        </p:spPr>
        <p:txBody>
          <a:bodyPr wrap="square" lIns="0" tIns="0" rIns="0" bIns="0" rtlCol="0" anchor="ctr"/>
          <a:lstStyle/>
          <a:p>
            <a:pPr indent="0" marL="0">
              <a:buNone/>
            </a:pPr>
            <a:r>
              <a:rPr lang="en-US" sz="800" b="1" spc="200" kern="0" dirty="0">
                <a:solidFill>
                  <a:srgbClr val="00D4FF"/>
                </a:solidFill>
                <a:latin typeface="Calibri" pitchFamily="34" charset="0"/>
                <a:ea typeface="Calibri" pitchFamily="34" charset="-122"/>
                <a:cs typeface="Calibri" pitchFamily="34" charset="-120"/>
              </a:rPr>
              <a:t>WEEK 1</a:t>
            </a:r>
            <a:endParaRPr lang="en-US" sz="800" dirty="0"/>
          </a:p>
        </p:txBody>
      </p:sp>
      <p:sp>
        <p:nvSpPr>
          <p:cNvPr id="9" name="Text 7"/>
          <p:cNvSpPr/>
          <p:nvPr/>
        </p:nvSpPr>
        <p:spPr>
          <a:xfrm>
            <a:off x="868680" y="2029968"/>
            <a:ext cx="16459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Discovery</a:t>
            </a:r>
            <a:endParaRPr lang="en-US" sz="1400" dirty="0"/>
          </a:p>
        </p:txBody>
      </p:sp>
      <p:sp>
        <p:nvSpPr>
          <p:cNvPr id="10" name="Text 8"/>
          <p:cNvSpPr/>
          <p:nvPr/>
        </p:nvSpPr>
        <p:spPr>
          <a:xfrm>
            <a:off x="868680" y="2423160"/>
            <a:ext cx="1645920" cy="822960"/>
          </a:xfrm>
          <a:prstGeom prst="rect">
            <a:avLst/>
          </a:prstGeom>
          <a:noFill/>
          <a:ln/>
        </p:spPr>
        <p:txBody>
          <a:bodyPr wrap="square" lIns="0" tIns="0" rIns="0" bIns="0" rtlCol="0" anchor="ctr"/>
          <a:lstStyle/>
          <a:p>
            <a:pPr indent="0" marL="0">
              <a:buNone/>
            </a:pPr>
            <a:r>
              <a:rPr lang="en-US" sz="850" dirty="0">
                <a:solidFill>
                  <a:srgbClr val="8B9DC3"/>
                </a:solidFill>
                <a:latin typeface="Calibri" pitchFamily="34" charset="0"/>
                <a:ea typeface="Calibri" pitchFamily="34" charset="-122"/>
                <a:cs typeface="Calibri" pitchFamily="34" charset="-120"/>
              </a:rPr>
              <a:t>Data readiness</a:t>
            </a:r>
            <a:endParaRPr lang="en-US" sz="850" dirty="0"/>
          </a:p>
          <a:p>
            <a:pPr indent="0" marL="0">
              <a:buNone/>
            </a:pPr>
            <a:r>
              <a:rPr lang="en-US" sz="850" dirty="0">
                <a:solidFill>
                  <a:srgbClr val="8B9DC3"/>
                </a:solidFill>
                <a:latin typeface="Calibri" pitchFamily="34" charset="0"/>
                <a:ea typeface="Calibri" pitchFamily="34" charset="-122"/>
                <a:cs typeface="Calibri" pitchFamily="34" charset="-120"/>
              </a:rPr>
              <a:t>assessment, use case</a:t>
            </a:r>
            <a:endParaRPr lang="en-US" sz="850" dirty="0"/>
          </a:p>
          <a:p>
            <a:pPr indent="0" marL="0">
              <a:buNone/>
            </a:pPr>
            <a:r>
              <a:rPr lang="en-US" sz="850" dirty="0">
                <a:solidFill>
                  <a:srgbClr val="8B9DC3"/>
                </a:solidFill>
                <a:latin typeface="Calibri" pitchFamily="34" charset="0"/>
                <a:ea typeface="Calibri" pitchFamily="34" charset="-122"/>
                <a:cs typeface="Calibri" pitchFamily="34" charset="-120"/>
              </a:rPr>
              <a:t>prioritization, KPIs</a:t>
            </a:r>
            <a:endParaRPr lang="en-US" sz="850" dirty="0"/>
          </a:p>
        </p:txBody>
      </p:sp>
      <p:sp>
        <p:nvSpPr>
          <p:cNvPr id="11" name="Text 9"/>
          <p:cNvSpPr/>
          <p:nvPr/>
        </p:nvSpPr>
        <p:spPr>
          <a:xfrm>
            <a:off x="2651760" y="2468880"/>
            <a:ext cx="182880" cy="274320"/>
          </a:xfrm>
          <a:prstGeom prst="rect">
            <a:avLst/>
          </a:prstGeom>
          <a:noFill/>
          <a:ln/>
        </p:spPr>
        <p:txBody>
          <a:bodyPr wrap="square" lIns="0" tIns="0" rIns="0" bIns="0" rtlCol="0" anchor="ctr"/>
          <a:lstStyle/>
          <a:p>
            <a:pPr algn="ctr" indent="0" marL="0">
              <a:buNone/>
            </a:pPr>
            <a:r>
              <a:rPr lang="en-US" sz="1400" dirty="0">
                <a:solidFill>
                  <a:srgbClr val="5A6F94"/>
                </a:solidFill>
                <a:latin typeface="Calibri" pitchFamily="34" charset="0"/>
                <a:ea typeface="Calibri" pitchFamily="34" charset="-122"/>
                <a:cs typeface="Calibri" pitchFamily="34" charset="-120"/>
              </a:rPr>
              <a:t>→</a:t>
            </a:r>
            <a:endParaRPr lang="en-US" sz="1400" dirty="0"/>
          </a:p>
        </p:txBody>
      </p:sp>
      <p:sp>
        <p:nvSpPr>
          <p:cNvPr id="12" name="Shape 10"/>
          <p:cNvSpPr/>
          <p:nvPr/>
        </p:nvSpPr>
        <p:spPr>
          <a:xfrm>
            <a:off x="2834640" y="1691640"/>
            <a:ext cx="1920240" cy="201168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13" name="Shape 11"/>
          <p:cNvSpPr/>
          <p:nvPr/>
        </p:nvSpPr>
        <p:spPr>
          <a:xfrm>
            <a:off x="2834640" y="1691640"/>
            <a:ext cx="1920240" cy="36576"/>
          </a:xfrm>
          <a:prstGeom prst="rect">
            <a:avLst/>
          </a:prstGeom>
          <a:solidFill>
            <a:srgbClr val="00D4FF"/>
          </a:solidFill>
          <a:ln/>
        </p:spPr>
      </p:sp>
      <p:sp>
        <p:nvSpPr>
          <p:cNvPr id="14" name="Text 12"/>
          <p:cNvSpPr/>
          <p:nvPr/>
        </p:nvSpPr>
        <p:spPr>
          <a:xfrm>
            <a:off x="2971800" y="1801368"/>
            <a:ext cx="1645920" cy="201168"/>
          </a:xfrm>
          <a:prstGeom prst="rect">
            <a:avLst/>
          </a:prstGeom>
          <a:noFill/>
          <a:ln/>
        </p:spPr>
        <p:txBody>
          <a:bodyPr wrap="square" lIns="0" tIns="0" rIns="0" bIns="0" rtlCol="0" anchor="ctr"/>
          <a:lstStyle/>
          <a:p>
            <a:pPr indent="0" marL="0">
              <a:buNone/>
            </a:pPr>
            <a:r>
              <a:rPr lang="en-US" sz="800" b="1" spc="200" kern="0" dirty="0">
                <a:solidFill>
                  <a:srgbClr val="00D4FF"/>
                </a:solidFill>
                <a:latin typeface="Calibri" pitchFamily="34" charset="0"/>
                <a:ea typeface="Calibri" pitchFamily="34" charset="-122"/>
                <a:cs typeface="Calibri" pitchFamily="34" charset="-120"/>
              </a:rPr>
              <a:t>WEEK 2</a:t>
            </a:r>
            <a:endParaRPr lang="en-US" sz="800" dirty="0"/>
          </a:p>
        </p:txBody>
      </p:sp>
      <p:sp>
        <p:nvSpPr>
          <p:cNvPr id="15" name="Text 13"/>
          <p:cNvSpPr/>
          <p:nvPr/>
        </p:nvSpPr>
        <p:spPr>
          <a:xfrm>
            <a:off x="2971800" y="2029968"/>
            <a:ext cx="16459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Build</a:t>
            </a:r>
            <a:endParaRPr lang="en-US" sz="1400" dirty="0"/>
          </a:p>
        </p:txBody>
      </p:sp>
      <p:sp>
        <p:nvSpPr>
          <p:cNvPr id="16" name="Text 14"/>
          <p:cNvSpPr/>
          <p:nvPr/>
        </p:nvSpPr>
        <p:spPr>
          <a:xfrm>
            <a:off x="2971800" y="2423160"/>
            <a:ext cx="1645920" cy="822960"/>
          </a:xfrm>
          <a:prstGeom prst="rect">
            <a:avLst/>
          </a:prstGeom>
          <a:noFill/>
          <a:ln/>
        </p:spPr>
        <p:txBody>
          <a:bodyPr wrap="square" lIns="0" tIns="0" rIns="0" bIns="0" rtlCol="0" anchor="ctr"/>
          <a:lstStyle/>
          <a:p>
            <a:pPr indent="0" marL="0">
              <a:buNone/>
            </a:pPr>
            <a:r>
              <a:rPr lang="en-US" sz="850" dirty="0">
                <a:solidFill>
                  <a:srgbClr val="8B9DC3"/>
                </a:solidFill>
                <a:latin typeface="Calibri" pitchFamily="34" charset="0"/>
                <a:ea typeface="Calibri" pitchFamily="34" charset="-122"/>
                <a:cs typeface="Calibri" pitchFamily="34" charset="-120"/>
              </a:rPr>
              <a:t>Working prototype</a:t>
            </a:r>
            <a:endParaRPr lang="en-US" sz="850" dirty="0"/>
          </a:p>
          <a:p>
            <a:pPr indent="0" marL="0">
              <a:buNone/>
            </a:pPr>
            <a:r>
              <a:rPr lang="en-US" sz="850" dirty="0">
                <a:solidFill>
                  <a:srgbClr val="8B9DC3"/>
                </a:solidFill>
                <a:latin typeface="Calibri" pitchFamily="34" charset="0"/>
                <a:ea typeface="Calibri" pitchFamily="34" charset="-122"/>
                <a:cs typeface="Calibri" pitchFamily="34" charset="-120"/>
              </a:rPr>
              <a:t>with real data</a:t>
            </a:r>
            <a:endParaRPr lang="en-US" sz="850" dirty="0"/>
          </a:p>
          <a:p>
            <a:pPr indent="0" marL="0">
              <a:buNone/>
            </a:pPr>
            <a:r>
              <a:rPr lang="en-US" sz="850" dirty="0">
                <a:solidFill>
                  <a:srgbClr val="8B9DC3"/>
                </a:solidFill>
                <a:latin typeface="Calibri" pitchFamily="34" charset="0"/>
                <a:ea typeface="Calibri" pitchFamily="34" charset="-122"/>
                <a:cs typeface="Calibri" pitchFamily="34" charset="-120"/>
              </a:rPr>
              <a:t>and agent workflows</a:t>
            </a:r>
            <a:endParaRPr lang="en-US" sz="850" dirty="0"/>
          </a:p>
        </p:txBody>
      </p:sp>
      <p:sp>
        <p:nvSpPr>
          <p:cNvPr id="17" name="Text 15"/>
          <p:cNvSpPr/>
          <p:nvPr/>
        </p:nvSpPr>
        <p:spPr>
          <a:xfrm>
            <a:off x="4754880" y="2468880"/>
            <a:ext cx="182880" cy="274320"/>
          </a:xfrm>
          <a:prstGeom prst="rect">
            <a:avLst/>
          </a:prstGeom>
          <a:noFill/>
          <a:ln/>
        </p:spPr>
        <p:txBody>
          <a:bodyPr wrap="square" lIns="0" tIns="0" rIns="0" bIns="0" rtlCol="0" anchor="ctr"/>
          <a:lstStyle/>
          <a:p>
            <a:pPr algn="ctr" indent="0" marL="0">
              <a:buNone/>
            </a:pPr>
            <a:r>
              <a:rPr lang="en-US" sz="1400" dirty="0">
                <a:solidFill>
                  <a:srgbClr val="5A6F94"/>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4937760" y="1691640"/>
            <a:ext cx="1920240" cy="201168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19" name="Shape 17"/>
          <p:cNvSpPr/>
          <p:nvPr/>
        </p:nvSpPr>
        <p:spPr>
          <a:xfrm>
            <a:off x="4937760" y="1691640"/>
            <a:ext cx="1920240" cy="36576"/>
          </a:xfrm>
          <a:prstGeom prst="rect">
            <a:avLst/>
          </a:prstGeom>
          <a:solidFill>
            <a:srgbClr val="00D4FF"/>
          </a:solidFill>
          <a:ln/>
        </p:spPr>
      </p:sp>
      <p:sp>
        <p:nvSpPr>
          <p:cNvPr id="20" name="Text 18"/>
          <p:cNvSpPr/>
          <p:nvPr/>
        </p:nvSpPr>
        <p:spPr>
          <a:xfrm>
            <a:off x="5074920" y="1801368"/>
            <a:ext cx="1645920" cy="201168"/>
          </a:xfrm>
          <a:prstGeom prst="rect">
            <a:avLst/>
          </a:prstGeom>
          <a:noFill/>
          <a:ln/>
        </p:spPr>
        <p:txBody>
          <a:bodyPr wrap="square" lIns="0" tIns="0" rIns="0" bIns="0" rtlCol="0" anchor="ctr"/>
          <a:lstStyle/>
          <a:p>
            <a:pPr indent="0" marL="0">
              <a:buNone/>
            </a:pPr>
            <a:r>
              <a:rPr lang="en-US" sz="800" b="1" spc="200" kern="0" dirty="0">
                <a:solidFill>
                  <a:srgbClr val="00D4FF"/>
                </a:solidFill>
                <a:latin typeface="Calibri" pitchFamily="34" charset="0"/>
                <a:ea typeface="Calibri" pitchFamily="34" charset="-122"/>
                <a:cs typeface="Calibri" pitchFamily="34" charset="-120"/>
              </a:rPr>
              <a:t>WEEK 3</a:t>
            </a:r>
            <a:endParaRPr lang="en-US" sz="800" dirty="0"/>
          </a:p>
        </p:txBody>
      </p:sp>
      <p:sp>
        <p:nvSpPr>
          <p:cNvPr id="21" name="Text 19"/>
          <p:cNvSpPr/>
          <p:nvPr/>
        </p:nvSpPr>
        <p:spPr>
          <a:xfrm>
            <a:off x="5074920" y="2029968"/>
            <a:ext cx="16459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Validate</a:t>
            </a:r>
            <a:endParaRPr lang="en-US" sz="1400" dirty="0"/>
          </a:p>
        </p:txBody>
      </p:sp>
      <p:sp>
        <p:nvSpPr>
          <p:cNvPr id="22" name="Text 20"/>
          <p:cNvSpPr/>
          <p:nvPr/>
        </p:nvSpPr>
        <p:spPr>
          <a:xfrm>
            <a:off x="5074920" y="2423160"/>
            <a:ext cx="1645920" cy="822960"/>
          </a:xfrm>
          <a:prstGeom prst="rect">
            <a:avLst/>
          </a:prstGeom>
          <a:noFill/>
          <a:ln/>
        </p:spPr>
        <p:txBody>
          <a:bodyPr wrap="square" lIns="0" tIns="0" rIns="0" bIns="0" rtlCol="0" anchor="ctr"/>
          <a:lstStyle/>
          <a:p>
            <a:pPr indent="0" marL="0">
              <a:buNone/>
            </a:pPr>
            <a:r>
              <a:rPr lang="en-US" sz="850" dirty="0">
                <a:solidFill>
                  <a:srgbClr val="8B9DC3"/>
                </a:solidFill>
                <a:latin typeface="Calibri" pitchFamily="34" charset="0"/>
                <a:ea typeface="Calibri" pitchFamily="34" charset="-122"/>
                <a:cs typeface="Calibri" pitchFamily="34" charset="-120"/>
              </a:rPr>
              <a:t>Real users test,</a:t>
            </a:r>
            <a:endParaRPr lang="en-US" sz="850" dirty="0"/>
          </a:p>
          <a:p>
            <a:pPr indent="0" marL="0">
              <a:buNone/>
            </a:pPr>
            <a:r>
              <a:rPr lang="en-US" sz="850" dirty="0">
                <a:solidFill>
                  <a:srgbClr val="8B9DC3"/>
                </a:solidFill>
                <a:latin typeface="Calibri" pitchFamily="34" charset="0"/>
                <a:ea typeface="Calibri" pitchFamily="34" charset="-122"/>
                <a:cs typeface="Calibri" pitchFamily="34" charset="-120"/>
              </a:rPr>
              <a:t>feedback, iterate,</a:t>
            </a:r>
            <a:endParaRPr lang="en-US" sz="850" dirty="0"/>
          </a:p>
          <a:p>
            <a:pPr indent="0" marL="0">
              <a:buNone/>
            </a:pPr>
            <a:r>
              <a:rPr lang="en-US" sz="850" dirty="0">
                <a:solidFill>
                  <a:srgbClr val="8B9DC3"/>
                </a:solidFill>
                <a:latin typeface="Calibri" pitchFamily="34" charset="0"/>
                <a:ea typeface="Calibri" pitchFamily="34" charset="-122"/>
                <a:cs typeface="Calibri" pitchFamily="34" charset="-120"/>
              </a:rPr>
              <a:t>measure accuracy</a:t>
            </a:r>
            <a:endParaRPr lang="en-US" sz="850" dirty="0"/>
          </a:p>
        </p:txBody>
      </p:sp>
      <p:sp>
        <p:nvSpPr>
          <p:cNvPr id="23" name="Text 21"/>
          <p:cNvSpPr/>
          <p:nvPr/>
        </p:nvSpPr>
        <p:spPr>
          <a:xfrm>
            <a:off x="6858000" y="2468880"/>
            <a:ext cx="182880" cy="274320"/>
          </a:xfrm>
          <a:prstGeom prst="rect">
            <a:avLst/>
          </a:prstGeom>
          <a:noFill/>
          <a:ln/>
        </p:spPr>
        <p:txBody>
          <a:bodyPr wrap="square" lIns="0" tIns="0" rIns="0" bIns="0" rtlCol="0" anchor="ctr"/>
          <a:lstStyle/>
          <a:p>
            <a:pPr algn="ctr" indent="0" marL="0">
              <a:buNone/>
            </a:pPr>
            <a:r>
              <a:rPr lang="en-US" sz="1400" dirty="0">
                <a:solidFill>
                  <a:srgbClr val="5A6F94"/>
                </a:solidFill>
                <a:latin typeface="Calibri" pitchFamily="34" charset="0"/>
                <a:ea typeface="Calibri" pitchFamily="34" charset="-122"/>
                <a:cs typeface="Calibri" pitchFamily="34" charset="-120"/>
              </a:rPr>
              <a:t>→</a:t>
            </a:r>
            <a:endParaRPr lang="en-US" sz="1400" dirty="0"/>
          </a:p>
        </p:txBody>
      </p:sp>
      <p:sp>
        <p:nvSpPr>
          <p:cNvPr id="24" name="Shape 22"/>
          <p:cNvSpPr/>
          <p:nvPr/>
        </p:nvSpPr>
        <p:spPr>
          <a:xfrm>
            <a:off x="7040880" y="1691640"/>
            <a:ext cx="1920240" cy="201168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25" name="Shape 23"/>
          <p:cNvSpPr/>
          <p:nvPr/>
        </p:nvSpPr>
        <p:spPr>
          <a:xfrm>
            <a:off x="7040880" y="1691640"/>
            <a:ext cx="1920240" cy="36576"/>
          </a:xfrm>
          <a:prstGeom prst="rect">
            <a:avLst/>
          </a:prstGeom>
          <a:solidFill>
            <a:srgbClr val="00D4FF"/>
          </a:solidFill>
          <a:ln/>
        </p:spPr>
      </p:sp>
      <p:sp>
        <p:nvSpPr>
          <p:cNvPr id="26" name="Text 24"/>
          <p:cNvSpPr/>
          <p:nvPr/>
        </p:nvSpPr>
        <p:spPr>
          <a:xfrm>
            <a:off x="7178040" y="1801368"/>
            <a:ext cx="1645920" cy="201168"/>
          </a:xfrm>
          <a:prstGeom prst="rect">
            <a:avLst/>
          </a:prstGeom>
          <a:noFill/>
          <a:ln/>
        </p:spPr>
        <p:txBody>
          <a:bodyPr wrap="square" lIns="0" tIns="0" rIns="0" bIns="0" rtlCol="0" anchor="ctr"/>
          <a:lstStyle/>
          <a:p>
            <a:pPr indent="0" marL="0">
              <a:buNone/>
            </a:pPr>
            <a:r>
              <a:rPr lang="en-US" sz="800" b="1" spc="200" kern="0" dirty="0">
                <a:solidFill>
                  <a:srgbClr val="00D4FF"/>
                </a:solidFill>
                <a:latin typeface="Calibri" pitchFamily="34" charset="0"/>
                <a:ea typeface="Calibri" pitchFamily="34" charset="-122"/>
                <a:cs typeface="Calibri" pitchFamily="34" charset="-120"/>
              </a:rPr>
              <a:t>WEEK 4</a:t>
            </a:r>
            <a:endParaRPr lang="en-US" sz="800" dirty="0"/>
          </a:p>
        </p:txBody>
      </p:sp>
      <p:sp>
        <p:nvSpPr>
          <p:cNvPr id="27" name="Text 25"/>
          <p:cNvSpPr/>
          <p:nvPr/>
        </p:nvSpPr>
        <p:spPr>
          <a:xfrm>
            <a:off x="7178040" y="2029968"/>
            <a:ext cx="16459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Scale Plan</a:t>
            </a:r>
            <a:endParaRPr lang="en-US" sz="1400" dirty="0"/>
          </a:p>
        </p:txBody>
      </p:sp>
      <p:sp>
        <p:nvSpPr>
          <p:cNvPr id="28" name="Text 26"/>
          <p:cNvSpPr/>
          <p:nvPr/>
        </p:nvSpPr>
        <p:spPr>
          <a:xfrm>
            <a:off x="7178040" y="2423160"/>
            <a:ext cx="1645920" cy="822960"/>
          </a:xfrm>
          <a:prstGeom prst="rect">
            <a:avLst/>
          </a:prstGeom>
          <a:noFill/>
          <a:ln/>
        </p:spPr>
        <p:txBody>
          <a:bodyPr wrap="square" lIns="0" tIns="0" rIns="0" bIns="0" rtlCol="0" anchor="ctr"/>
          <a:lstStyle/>
          <a:p>
            <a:pPr indent="0" marL="0">
              <a:buNone/>
            </a:pPr>
            <a:r>
              <a:rPr lang="en-US" sz="850" dirty="0">
                <a:solidFill>
                  <a:srgbClr val="8B9DC3"/>
                </a:solidFill>
                <a:latin typeface="Calibri" pitchFamily="34" charset="0"/>
                <a:ea typeface="Calibri" pitchFamily="34" charset="-122"/>
                <a:cs typeface="Calibri" pitchFamily="34" charset="-120"/>
              </a:rPr>
              <a:t>ROI projection,</a:t>
            </a:r>
            <a:endParaRPr lang="en-US" sz="850" dirty="0"/>
          </a:p>
          <a:p>
            <a:pPr indent="0" marL="0">
              <a:buNone/>
            </a:pPr>
            <a:r>
              <a:rPr lang="en-US" sz="850" dirty="0">
                <a:solidFill>
                  <a:srgbClr val="8B9DC3"/>
                </a:solidFill>
                <a:latin typeface="Calibri" pitchFamily="34" charset="0"/>
                <a:ea typeface="Calibri" pitchFamily="34" charset="-122"/>
                <a:cs typeface="Calibri" pitchFamily="34" charset="-120"/>
              </a:rPr>
              <a:t>business case,</a:t>
            </a:r>
            <a:endParaRPr lang="en-US" sz="850" dirty="0"/>
          </a:p>
          <a:p>
            <a:pPr indent="0" marL="0">
              <a:buNone/>
            </a:pPr>
            <a:r>
              <a:rPr lang="en-US" sz="850" dirty="0">
                <a:solidFill>
                  <a:srgbClr val="8B9DC3"/>
                </a:solidFill>
                <a:latin typeface="Calibri" pitchFamily="34" charset="0"/>
                <a:ea typeface="Calibri" pitchFamily="34" charset="-122"/>
                <a:cs typeface="Calibri" pitchFamily="34" charset="-120"/>
              </a:rPr>
              <a:t>industrialization roadmap</a:t>
            </a:r>
            <a:endParaRPr lang="en-US" sz="850" dirty="0"/>
          </a:p>
        </p:txBody>
      </p:sp>
      <p:sp>
        <p:nvSpPr>
          <p:cNvPr id="29" name="Text 27"/>
          <p:cNvSpPr/>
          <p:nvPr/>
        </p:nvSpPr>
        <p:spPr>
          <a:xfrm>
            <a:off x="731520" y="3931920"/>
            <a:ext cx="4572000" cy="228600"/>
          </a:xfrm>
          <a:prstGeom prst="rect">
            <a:avLst/>
          </a:prstGeom>
          <a:noFill/>
          <a:ln/>
        </p:spPr>
        <p:txBody>
          <a:bodyPr wrap="square" lIns="0" tIns="0" rIns="0" bIns="0" rtlCol="0" anchor="ctr"/>
          <a:lstStyle/>
          <a:p>
            <a:pPr indent="0" marL="0">
              <a:buNone/>
            </a:pPr>
            <a:r>
              <a:rPr lang="en-US" sz="800" b="1" spc="200" kern="0" dirty="0">
                <a:solidFill>
                  <a:srgbClr val="00C9A7"/>
                </a:solidFill>
                <a:latin typeface="Calibri" pitchFamily="34" charset="0"/>
                <a:ea typeface="Calibri" pitchFamily="34" charset="-122"/>
                <a:cs typeface="Calibri" pitchFamily="34" charset="-120"/>
              </a:rPr>
              <a:t>READY-TO-DEPLOY TEMPLATES</a:t>
            </a:r>
            <a:endParaRPr lang="en-US" sz="800" dirty="0"/>
          </a:p>
        </p:txBody>
      </p:sp>
      <p:pic>
        <p:nvPicPr>
          <p:cNvPr id="30" name="Image 0" descr="preencoded.png">    </p:cNvPr>
          <p:cNvPicPr>
            <a:picLocks noChangeAspect="1"/>
          </p:cNvPicPr>
          <p:nvPr/>
        </p:nvPicPr>
        <p:blipFill>
          <a:blip r:embed="rId1"/>
          <a:stretch>
            <a:fillRect/>
          </a:stretch>
        </p:blipFill>
        <p:spPr>
          <a:xfrm>
            <a:off x="731520" y="4224528"/>
            <a:ext cx="137160" cy="137160"/>
          </a:xfrm>
          <a:prstGeom prst="rect">
            <a:avLst/>
          </a:prstGeom>
        </p:spPr>
      </p:pic>
      <p:sp>
        <p:nvSpPr>
          <p:cNvPr id="31" name="Text 28"/>
          <p:cNvSpPr/>
          <p:nvPr/>
        </p:nvSpPr>
        <p:spPr>
          <a:xfrm>
            <a:off x="914400" y="4187952"/>
            <a:ext cx="2560320" cy="228600"/>
          </a:xfrm>
          <a:prstGeom prst="rect">
            <a:avLst/>
          </a:prstGeom>
          <a:noFill/>
          <a:ln/>
        </p:spPr>
        <p:txBody>
          <a:bodyPr wrap="square" lIns="0" tIns="0" rIns="0" bIns="0" rtlCol="0" anchor="ctr"/>
          <a:lstStyle/>
          <a:p>
            <a:pPr indent="0" marL="0">
              <a:buNone/>
            </a:pPr>
            <a:r>
              <a:rPr lang="en-US" sz="900" dirty="0">
                <a:solidFill>
                  <a:srgbClr val="8B9DC3"/>
                </a:solidFill>
                <a:latin typeface="Calibri" pitchFamily="34" charset="0"/>
                <a:ea typeface="Calibri" pitchFamily="34" charset="-122"/>
                <a:cs typeface="Calibri" pitchFamily="34" charset="-120"/>
              </a:rPr>
              <a:t>Intelligent Document Processing</a:t>
            </a:r>
            <a:endParaRPr lang="en-US" sz="900" dirty="0"/>
          </a:p>
        </p:txBody>
      </p:sp>
      <p:pic>
        <p:nvPicPr>
          <p:cNvPr id="32" name="Image 1" descr="preencoded.png">    </p:cNvPr>
          <p:cNvPicPr>
            <a:picLocks noChangeAspect="1"/>
          </p:cNvPicPr>
          <p:nvPr/>
        </p:nvPicPr>
        <p:blipFill>
          <a:blip r:embed="rId2"/>
          <a:stretch>
            <a:fillRect/>
          </a:stretch>
        </p:blipFill>
        <p:spPr>
          <a:xfrm>
            <a:off x="3566160" y="4224528"/>
            <a:ext cx="137160" cy="137160"/>
          </a:xfrm>
          <a:prstGeom prst="rect">
            <a:avLst/>
          </a:prstGeom>
        </p:spPr>
      </p:pic>
      <p:sp>
        <p:nvSpPr>
          <p:cNvPr id="33" name="Text 29"/>
          <p:cNvSpPr/>
          <p:nvPr/>
        </p:nvSpPr>
        <p:spPr>
          <a:xfrm>
            <a:off x="3749040" y="4187952"/>
            <a:ext cx="2560320" cy="228600"/>
          </a:xfrm>
          <a:prstGeom prst="rect">
            <a:avLst/>
          </a:prstGeom>
          <a:noFill/>
          <a:ln/>
        </p:spPr>
        <p:txBody>
          <a:bodyPr wrap="square" lIns="0" tIns="0" rIns="0" bIns="0" rtlCol="0" anchor="ctr"/>
          <a:lstStyle/>
          <a:p>
            <a:pPr indent="0" marL="0">
              <a:buNone/>
            </a:pPr>
            <a:r>
              <a:rPr lang="en-US" sz="900" dirty="0">
                <a:solidFill>
                  <a:srgbClr val="8B9DC3"/>
                </a:solidFill>
                <a:latin typeface="Calibri" pitchFamily="34" charset="0"/>
                <a:ea typeface="Calibri" pitchFamily="34" charset="-122"/>
                <a:cs typeface="Calibri" pitchFamily="34" charset="-120"/>
              </a:rPr>
              <a:t>Predictive Revenue Analytics</a:t>
            </a:r>
            <a:endParaRPr lang="en-US" sz="900" dirty="0"/>
          </a:p>
        </p:txBody>
      </p:sp>
      <p:pic>
        <p:nvPicPr>
          <p:cNvPr id="34" name="Image 2" descr="preencoded.png">    </p:cNvPr>
          <p:cNvPicPr>
            <a:picLocks noChangeAspect="1"/>
          </p:cNvPicPr>
          <p:nvPr/>
        </p:nvPicPr>
        <p:blipFill>
          <a:blip r:embed="rId3"/>
          <a:stretch>
            <a:fillRect/>
          </a:stretch>
        </p:blipFill>
        <p:spPr>
          <a:xfrm>
            <a:off x="6400800" y="4224528"/>
            <a:ext cx="137160" cy="137160"/>
          </a:xfrm>
          <a:prstGeom prst="rect">
            <a:avLst/>
          </a:prstGeom>
        </p:spPr>
      </p:pic>
      <p:sp>
        <p:nvSpPr>
          <p:cNvPr id="35" name="Text 30"/>
          <p:cNvSpPr/>
          <p:nvPr/>
        </p:nvSpPr>
        <p:spPr>
          <a:xfrm>
            <a:off x="6583680" y="4187952"/>
            <a:ext cx="2560320" cy="228600"/>
          </a:xfrm>
          <a:prstGeom prst="rect">
            <a:avLst/>
          </a:prstGeom>
          <a:noFill/>
          <a:ln/>
        </p:spPr>
        <p:txBody>
          <a:bodyPr wrap="square" lIns="0" tIns="0" rIns="0" bIns="0" rtlCol="0" anchor="ctr"/>
          <a:lstStyle/>
          <a:p>
            <a:pPr indent="0" marL="0">
              <a:buNone/>
            </a:pPr>
            <a:r>
              <a:rPr lang="en-US" sz="900" dirty="0">
                <a:solidFill>
                  <a:srgbClr val="8B9DC3"/>
                </a:solidFill>
                <a:latin typeface="Calibri" pitchFamily="34" charset="0"/>
                <a:ea typeface="Calibri" pitchFamily="34" charset="-122"/>
                <a:cs typeface="Calibri" pitchFamily="34" charset="-120"/>
              </a:rPr>
              <a:t>Customer Service AI Agent</a:t>
            </a:r>
            <a:endParaRPr lang="en-US" sz="900" dirty="0"/>
          </a:p>
        </p:txBody>
      </p:sp>
      <p:pic>
        <p:nvPicPr>
          <p:cNvPr id="36" name="Image 3" descr="preencoded.png">    </p:cNvPr>
          <p:cNvPicPr>
            <a:picLocks noChangeAspect="1"/>
          </p:cNvPicPr>
          <p:nvPr/>
        </p:nvPicPr>
        <p:blipFill>
          <a:blip r:embed="rId4"/>
          <a:stretch>
            <a:fillRect/>
          </a:stretch>
        </p:blipFill>
        <p:spPr>
          <a:xfrm>
            <a:off x="731520" y="4517136"/>
            <a:ext cx="137160" cy="137160"/>
          </a:xfrm>
          <a:prstGeom prst="rect">
            <a:avLst/>
          </a:prstGeom>
        </p:spPr>
      </p:pic>
      <p:sp>
        <p:nvSpPr>
          <p:cNvPr id="37" name="Text 31"/>
          <p:cNvSpPr/>
          <p:nvPr/>
        </p:nvSpPr>
        <p:spPr>
          <a:xfrm>
            <a:off x="914400" y="4480560"/>
            <a:ext cx="2560320" cy="228600"/>
          </a:xfrm>
          <a:prstGeom prst="rect">
            <a:avLst/>
          </a:prstGeom>
          <a:noFill/>
          <a:ln/>
        </p:spPr>
        <p:txBody>
          <a:bodyPr wrap="square" lIns="0" tIns="0" rIns="0" bIns="0" rtlCol="0" anchor="ctr"/>
          <a:lstStyle/>
          <a:p>
            <a:pPr indent="0" marL="0">
              <a:buNone/>
            </a:pPr>
            <a:r>
              <a:rPr lang="en-US" sz="900" dirty="0">
                <a:solidFill>
                  <a:srgbClr val="8B9DC3"/>
                </a:solidFill>
                <a:latin typeface="Calibri" pitchFamily="34" charset="0"/>
                <a:ea typeface="Calibri" pitchFamily="34" charset="-122"/>
                <a:cs typeface="Calibri" pitchFamily="34" charset="-120"/>
              </a:rPr>
              <a:t>Supply Chain Digital Twin</a:t>
            </a:r>
            <a:endParaRPr lang="en-US" sz="900" dirty="0"/>
          </a:p>
        </p:txBody>
      </p:sp>
      <p:pic>
        <p:nvPicPr>
          <p:cNvPr id="38" name="Image 4" descr="preencoded.png">    </p:cNvPr>
          <p:cNvPicPr>
            <a:picLocks noChangeAspect="1"/>
          </p:cNvPicPr>
          <p:nvPr/>
        </p:nvPicPr>
        <p:blipFill>
          <a:blip r:embed="rId5"/>
          <a:stretch>
            <a:fillRect/>
          </a:stretch>
        </p:blipFill>
        <p:spPr>
          <a:xfrm>
            <a:off x="3566160" y="4517136"/>
            <a:ext cx="137160" cy="137160"/>
          </a:xfrm>
          <a:prstGeom prst="rect">
            <a:avLst/>
          </a:prstGeom>
        </p:spPr>
      </p:pic>
      <p:sp>
        <p:nvSpPr>
          <p:cNvPr id="39" name="Text 32"/>
          <p:cNvSpPr/>
          <p:nvPr/>
        </p:nvSpPr>
        <p:spPr>
          <a:xfrm>
            <a:off x="3749040" y="4480560"/>
            <a:ext cx="2560320" cy="228600"/>
          </a:xfrm>
          <a:prstGeom prst="rect">
            <a:avLst/>
          </a:prstGeom>
          <a:noFill/>
          <a:ln/>
        </p:spPr>
        <p:txBody>
          <a:bodyPr wrap="square" lIns="0" tIns="0" rIns="0" bIns="0" rtlCol="0" anchor="ctr"/>
          <a:lstStyle/>
          <a:p>
            <a:pPr indent="0" marL="0">
              <a:buNone/>
            </a:pPr>
            <a:r>
              <a:rPr lang="en-US" sz="900" dirty="0">
                <a:solidFill>
                  <a:srgbClr val="8B9DC3"/>
                </a:solidFill>
                <a:latin typeface="Calibri" pitchFamily="34" charset="0"/>
                <a:ea typeface="Calibri" pitchFamily="34" charset="-122"/>
                <a:cs typeface="Calibri" pitchFamily="34" charset="-120"/>
              </a:rPr>
              <a:t>Fraud Detection &amp; AML Agent</a:t>
            </a:r>
            <a:endParaRPr lang="en-US" sz="900" dirty="0"/>
          </a:p>
        </p:txBody>
      </p:sp>
      <p:pic>
        <p:nvPicPr>
          <p:cNvPr id="40" name="Image 5" descr="preencoded.png">    </p:cNvPr>
          <p:cNvPicPr>
            <a:picLocks noChangeAspect="1"/>
          </p:cNvPicPr>
          <p:nvPr/>
        </p:nvPicPr>
        <p:blipFill>
          <a:blip r:embed="rId6"/>
          <a:stretch>
            <a:fillRect/>
          </a:stretch>
        </p:blipFill>
        <p:spPr>
          <a:xfrm>
            <a:off x="6400800" y="4517136"/>
            <a:ext cx="137160" cy="137160"/>
          </a:xfrm>
          <a:prstGeom prst="rect">
            <a:avLst/>
          </a:prstGeom>
        </p:spPr>
      </p:pic>
      <p:sp>
        <p:nvSpPr>
          <p:cNvPr id="41" name="Text 33"/>
          <p:cNvSpPr/>
          <p:nvPr/>
        </p:nvSpPr>
        <p:spPr>
          <a:xfrm>
            <a:off x="6583680" y="4480560"/>
            <a:ext cx="2560320" cy="228600"/>
          </a:xfrm>
          <a:prstGeom prst="rect">
            <a:avLst/>
          </a:prstGeom>
          <a:noFill/>
          <a:ln/>
        </p:spPr>
        <p:txBody>
          <a:bodyPr wrap="square" lIns="0" tIns="0" rIns="0" bIns="0" rtlCol="0" anchor="ctr"/>
          <a:lstStyle/>
          <a:p>
            <a:pPr indent="0" marL="0">
              <a:buNone/>
            </a:pPr>
            <a:r>
              <a:rPr lang="en-US" sz="900" dirty="0">
                <a:solidFill>
                  <a:srgbClr val="8B9DC3"/>
                </a:solidFill>
                <a:latin typeface="Calibri" pitchFamily="34" charset="0"/>
                <a:ea typeface="Calibri" pitchFamily="34" charset="-122"/>
                <a:cs typeface="Calibri" pitchFamily="34" charset="-120"/>
              </a:rPr>
              <a:t>Conversational Analytics Copilot</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0D4FF"/>
          </a:solidFill>
          <a:ln/>
        </p:spPr>
      </p:sp>
      <p:sp>
        <p:nvSpPr>
          <p:cNvPr id="3" name="Text 1"/>
          <p:cNvSpPr/>
          <p:nvPr/>
        </p:nvSpPr>
        <p:spPr>
          <a:xfrm>
            <a:off x="731520" y="274320"/>
            <a:ext cx="7315200" cy="320040"/>
          </a:xfrm>
          <a:prstGeom prst="rect">
            <a:avLst/>
          </a:prstGeom>
          <a:noFill/>
          <a:ln/>
        </p:spPr>
        <p:txBody>
          <a:bodyPr wrap="square" lIns="0" tIns="0" rIns="0" bIns="0" rtlCol="0" anchor="ctr"/>
          <a:lstStyle/>
          <a:p>
            <a:pPr indent="0" marL="0">
              <a:buNone/>
            </a:pPr>
            <a:r>
              <a:rPr lang="en-US" sz="900" b="1" spc="300" kern="0" dirty="0">
                <a:solidFill>
                  <a:srgbClr val="00D4FF"/>
                </a:solidFill>
                <a:latin typeface="Calibri" pitchFamily="34" charset="0"/>
                <a:ea typeface="Calibri" pitchFamily="34" charset="-122"/>
                <a:cs typeface="Calibri" pitchFamily="34" charset="-120"/>
              </a:rPr>
              <a:t>CLIENT VALUE</a:t>
            </a:r>
            <a:endParaRPr lang="en-US" sz="900" dirty="0"/>
          </a:p>
        </p:txBody>
      </p:sp>
      <p:sp>
        <p:nvSpPr>
          <p:cNvPr id="4" name="Text 2"/>
          <p:cNvSpPr/>
          <p:nvPr/>
        </p:nvSpPr>
        <p:spPr>
          <a:xfrm>
            <a:off x="731520" y="594360"/>
            <a:ext cx="7315200" cy="45720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What You Get</a:t>
            </a:r>
            <a:endParaRPr lang="en-US" sz="2600" dirty="0"/>
          </a:p>
        </p:txBody>
      </p:sp>
      <p:sp>
        <p:nvSpPr>
          <p:cNvPr id="5" name="Shape 3"/>
          <p:cNvSpPr/>
          <p:nvPr/>
        </p:nvSpPr>
        <p:spPr>
          <a:xfrm>
            <a:off x="731520" y="1143000"/>
            <a:ext cx="3840480" cy="105156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6" name="Shape 4"/>
          <p:cNvSpPr/>
          <p:nvPr/>
        </p:nvSpPr>
        <p:spPr>
          <a:xfrm>
            <a:off x="731520" y="1143000"/>
            <a:ext cx="54864" cy="1051560"/>
          </a:xfrm>
          <a:prstGeom prst="rect">
            <a:avLst/>
          </a:prstGeom>
          <a:solidFill>
            <a:srgbClr val="00D4FF"/>
          </a:solidFill>
          <a:ln/>
        </p:spPr>
      </p:sp>
      <p:pic>
        <p:nvPicPr>
          <p:cNvPr id="7" name="Image 0" descr="preencoded.png">    </p:cNvPr>
          <p:cNvPicPr>
            <a:picLocks noChangeAspect="1"/>
          </p:cNvPicPr>
          <p:nvPr/>
        </p:nvPicPr>
        <p:blipFill>
          <a:blip r:embed="rId1"/>
          <a:stretch>
            <a:fillRect/>
          </a:stretch>
        </p:blipFill>
        <p:spPr>
          <a:xfrm>
            <a:off x="914400" y="1280160"/>
            <a:ext cx="274320" cy="274320"/>
          </a:xfrm>
          <a:prstGeom prst="rect">
            <a:avLst/>
          </a:prstGeom>
        </p:spPr>
      </p:pic>
      <p:sp>
        <p:nvSpPr>
          <p:cNvPr id="8" name="Text 5"/>
          <p:cNvSpPr/>
          <p:nvPr/>
        </p:nvSpPr>
        <p:spPr>
          <a:xfrm>
            <a:off x="1325880" y="1252728"/>
            <a:ext cx="30175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5x Decision Velocity</a:t>
            </a:r>
            <a:endParaRPr lang="en-US" sz="1100" dirty="0"/>
          </a:p>
        </p:txBody>
      </p:sp>
      <p:sp>
        <p:nvSpPr>
          <p:cNvPr id="9" name="Text 6"/>
          <p:cNvSpPr/>
          <p:nvPr/>
        </p:nvSpPr>
        <p:spPr>
          <a:xfrm>
            <a:off x="914400" y="1600200"/>
            <a:ext cx="3474720" cy="502920"/>
          </a:xfrm>
          <a:prstGeom prst="rect">
            <a:avLst/>
          </a:prstGeom>
          <a:noFill/>
          <a:ln/>
        </p:spPr>
        <p:txBody>
          <a:bodyPr wrap="square" lIns="0" tIns="0" rIns="0" bIns="0" rtlCol="0" anchor="ctr"/>
          <a:lstStyle/>
          <a:p>
            <a:pPr indent="0" marL="0">
              <a:buNone/>
            </a:pPr>
            <a:r>
              <a:rPr lang="en-US" sz="800" dirty="0">
                <a:solidFill>
                  <a:srgbClr val="8B9DC3"/>
                </a:solidFill>
                <a:latin typeface="Calibri" pitchFamily="34" charset="0"/>
                <a:ea typeface="Calibri" pitchFamily="34" charset="-122"/>
                <a:cs typeface="Calibri" pitchFamily="34" charset="-120"/>
              </a:rPr>
              <a:t>Move from reactive reports to proactive AI-driven insights. Real-time predictions and scenario simulations replace weekly meetings.</a:t>
            </a:r>
            <a:endParaRPr lang="en-US" sz="800" dirty="0"/>
          </a:p>
        </p:txBody>
      </p:sp>
      <p:sp>
        <p:nvSpPr>
          <p:cNvPr id="10" name="Shape 7"/>
          <p:cNvSpPr/>
          <p:nvPr/>
        </p:nvSpPr>
        <p:spPr>
          <a:xfrm>
            <a:off x="4846320" y="1143000"/>
            <a:ext cx="3840480" cy="105156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11" name="Shape 8"/>
          <p:cNvSpPr/>
          <p:nvPr/>
        </p:nvSpPr>
        <p:spPr>
          <a:xfrm>
            <a:off x="4846320" y="1143000"/>
            <a:ext cx="54864" cy="1051560"/>
          </a:xfrm>
          <a:prstGeom prst="rect">
            <a:avLst/>
          </a:prstGeom>
          <a:solidFill>
            <a:srgbClr val="00C9A7"/>
          </a:solidFill>
          <a:ln/>
        </p:spPr>
      </p:sp>
      <p:pic>
        <p:nvPicPr>
          <p:cNvPr id="12" name="Image 1" descr="preencoded.png">    </p:cNvPr>
          <p:cNvPicPr>
            <a:picLocks noChangeAspect="1"/>
          </p:cNvPicPr>
          <p:nvPr/>
        </p:nvPicPr>
        <p:blipFill>
          <a:blip r:embed="rId2"/>
          <a:stretch>
            <a:fillRect/>
          </a:stretch>
        </p:blipFill>
        <p:spPr>
          <a:xfrm>
            <a:off x="5029200" y="1280160"/>
            <a:ext cx="274320" cy="274320"/>
          </a:xfrm>
          <a:prstGeom prst="rect">
            <a:avLst/>
          </a:prstGeom>
        </p:spPr>
      </p:pic>
      <p:sp>
        <p:nvSpPr>
          <p:cNvPr id="13" name="Text 9"/>
          <p:cNvSpPr/>
          <p:nvPr/>
        </p:nvSpPr>
        <p:spPr>
          <a:xfrm>
            <a:off x="5440680" y="1252728"/>
            <a:ext cx="30175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30-40% Task Automation</a:t>
            </a:r>
            <a:endParaRPr lang="en-US" sz="1100" dirty="0"/>
          </a:p>
        </p:txBody>
      </p:sp>
      <p:sp>
        <p:nvSpPr>
          <p:cNvPr id="14" name="Text 10"/>
          <p:cNvSpPr/>
          <p:nvPr/>
        </p:nvSpPr>
        <p:spPr>
          <a:xfrm>
            <a:off x="5029200" y="1600200"/>
            <a:ext cx="3474720" cy="502920"/>
          </a:xfrm>
          <a:prstGeom prst="rect">
            <a:avLst/>
          </a:prstGeom>
          <a:noFill/>
          <a:ln/>
        </p:spPr>
        <p:txBody>
          <a:bodyPr wrap="square" lIns="0" tIns="0" rIns="0" bIns="0" rtlCol="0" anchor="ctr"/>
          <a:lstStyle/>
          <a:p>
            <a:pPr indent="0" marL="0">
              <a:buNone/>
            </a:pPr>
            <a:r>
              <a:rPr lang="en-US" sz="800" dirty="0">
                <a:solidFill>
                  <a:srgbClr val="8B9DC3"/>
                </a:solidFill>
                <a:latin typeface="Calibri" pitchFamily="34" charset="0"/>
                <a:ea typeface="Calibri" pitchFamily="34" charset="-122"/>
                <a:cs typeface="Calibri" pitchFamily="34" charset="-120"/>
              </a:rPr>
              <a:t>Autonomous agents handle reconciliation, document processing, reporting, and customer inquiries — freeing your team for strategic work.</a:t>
            </a:r>
            <a:endParaRPr lang="en-US" sz="800" dirty="0"/>
          </a:p>
        </p:txBody>
      </p:sp>
      <p:sp>
        <p:nvSpPr>
          <p:cNvPr id="15" name="Shape 11"/>
          <p:cNvSpPr/>
          <p:nvPr/>
        </p:nvSpPr>
        <p:spPr>
          <a:xfrm>
            <a:off x="731520" y="2377440"/>
            <a:ext cx="3840480" cy="105156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16" name="Shape 12"/>
          <p:cNvSpPr/>
          <p:nvPr/>
        </p:nvSpPr>
        <p:spPr>
          <a:xfrm>
            <a:off x="731520" y="2377440"/>
            <a:ext cx="54864" cy="1051560"/>
          </a:xfrm>
          <a:prstGeom prst="rect">
            <a:avLst/>
          </a:prstGeom>
          <a:solidFill>
            <a:srgbClr val="FF6B8A"/>
          </a:solidFill>
          <a:ln/>
        </p:spPr>
      </p:sp>
      <p:pic>
        <p:nvPicPr>
          <p:cNvPr id="17" name="Image 2" descr="preencoded.png">    </p:cNvPr>
          <p:cNvPicPr>
            <a:picLocks noChangeAspect="1"/>
          </p:cNvPicPr>
          <p:nvPr/>
        </p:nvPicPr>
        <p:blipFill>
          <a:blip r:embed="rId3"/>
          <a:stretch>
            <a:fillRect/>
          </a:stretch>
        </p:blipFill>
        <p:spPr>
          <a:xfrm>
            <a:off x="914400" y="2514600"/>
            <a:ext cx="274320" cy="274320"/>
          </a:xfrm>
          <a:prstGeom prst="rect">
            <a:avLst/>
          </a:prstGeom>
        </p:spPr>
      </p:pic>
      <p:sp>
        <p:nvSpPr>
          <p:cNvPr id="18" name="Text 13"/>
          <p:cNvSpPr/>
          <p:nvPr/>
        </p:nvSpPr>
        <p:spPr>
          <a:xfrm>
            <a:off x="1325880" y="2487168"/>
            <a:ext cx="30175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Regulatory Readiness</a:t>
            </a:r>
            <a:endParaRPr lang="en-US" sz="1100" dirty="0"/>
          </a:p>
        </p:txBody>
      </p:sp>
      <p:sp>
        <p:nvSpPr>
          <p:cNvPr id="19" name="Text 14"/>
          <p:cNvSpPr/>
          <p:nvPr/>
        </p:nvSpPr>
        <p:spPr>
          <a:xfrm>
            <a:off x="914400" y="2834640"/>
            <a:ext cx="3474720" cy="502920"/>
          </a:xfrm>
          <a:prstGeom prst="rect">
            <a:avLst/>
          </a:prstGeom>
          <a:noFill/>
          <a:ln/>
        </p:spPr>
        <p:txBody>
          <a:bodyPr wrap="square" lIns="0" tIns="0" rIns="0" bIns="0" rtlCol="0" anchor="ctr"/>
          <a:lstStyle/>
          <a:p>
            <a:pPr indent="0" marL="0">
              <a:buNone/>
            </a:pPr>
            <a:r>
              <a:rPr lang="en-US" sz="800" dirty="0">
                <a:solidFill>
                  <a:srgbClr val="8B9DC3"/>
                </a:solidFill>
                <a:latin typeface="Calibri" pitchFamily="34" charset="0"/>
                <a:ea typeface="Calibri" pitchFamily="34" charset="-122"/>
                <a:cs typeface="Calibri" pitchFamily="34" charset="-120"/>
              </a:rPr>
              <a:t>EU AI Act (August 2026), GDPR, and sector-specific compliance built into every solution. Explainability and audit trails from day one.</a:t>
            </a:r>
            <a:endParaRPr lang="en-US" sz="800" dirty="0"/>
          </a:p>
        </p:txBody>
      </p:sp>
      <p:sp>
        <p:nvSpPr>
          <p:cNvPr id="20" name="Shape 15"/>
          <p:cNvSpPr/>
          <p:nvPr/>
        </p:nvSpPr>
        <p:spPr>
          <a:xfrm>
            <a:off x="4846320" y="2377440"/>
            <a:ext cx="3840480" cy="105156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21" name="Shape 16"/>
          <p:cNvSpPr/>
          <p:nvPr/>
        </p:nvSpPr>
        <p:spPr>
          <a:xfrm>
            <a:off x="4846320" y="2377440"/>
            <a:ext cx="54864" cy="1051560"/>
          </a:xfrm>
          <a:prstGeom prst="rect">
            <a:avLst/>
          </a:prstGeom>
          <a:solidFill>
            <a:srgbClr val="FFB547"/>
          </a:solidFill>
          <a:ln/>
        </p:spPr>
      </p:sp>
      <p:pic>
        <p:nvPicPr>
          <p:cNvPr id="22" name="Image 3" descr="preencoded.png">    </p:cNvPr>
          <p:cNvPicPr>
            <a:picLocks noChangeAspect="1"/>
          </p:cNvPicPr>
          <p:nvPr/>
        </p:nvPicPr>
        <p:blipFill>
          <a:blip r:embed="rId4"/>
          <a:stretch>
            <a:fillRect/>
          </a:stretch>
        </p:blipFill>
        <p:spPr>
          <a:xfrm>
            <a:off x="5029200" y="2514600"/>
            <a:ext cx="274320" cy="274320"/>
          </a:xfrm>
          <a:prstGeom prst="rect">
            <a:avLst/>
          </a:prstGeom>
        </p:spPr>
      </p:pic>
      <p:sp>
        <p:nvSpPr>
          <p:cNvPr id="23" name="Text 17"/>
          <p:cNvSpPr/>
          <p:nvPr/>
        </p:nvSpPr>
        <p:spPr>
          <a:xfrm>
            <a:off x="5440680" y="2487168"/>
            <a:ext cx="30175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ROI in 4 Weeks</a:t>
            </a:r>
            <a:endParaRPr lang="en-US" sz="1100" dirty="0"/>
          </a:p>
        </p:txBody>
      </p:sp>
      <p:sp>
        <p:nvSpPr>
          <p:cNvPr id="24" name="Text 18"/>
          <p:cNvSpPr/>
          <p:nvPr/>
        </p:nvSpPr>
        <p:spPr>
          <a:xfrm>
            <a:off x="5029200" y="2834640"/>
            <a:ext cx="3474720" cy="502920"/>
          </a:xfrm>
          <a:prstGeom prst="rect">
            <a:avLst/>
          </a:prstGeom>
          <a:noFill/>
          <a:ln/>
        </p:spPr>
        <p:txBody>
          <a:bodyPr wrap="square" lIns="0" tIns="0" rIns="0" bIns="0" rtlCol="0" anchor="ctr"/>
          <a:lstStyle/>
          <a:p>
            <a:pPr indent="0" marL="0">
              <a:buNone/>
            </a:pPr>
            <a:r>
              <a:rPr lang="en-US" sz="800" dirty="0">
                <a:solidFill>
                  <a:srgbClr val="8B9DC3"/>
                </a:solidFill>
                <a:latin typeface="Calibri" pitchFamily="34" charset="0"/>
                <a:ea typeface="Calibri" pitchFamily="34" charset="-122"/>
                <a:cs typeface="Calibri" pitchFamily="34" charset="-120"/>
              </a:rPr>
              <a:t>Rapid PoC framework delivers measurable results before commitment. Every engagement starts with proof, not promises.</a:t>
            </a:r>
            <a:endParaRPr lang="en-US" sz="800" dirty="0"/>
          </a:p>
        </p:txBody>
      </p:sp>
      <p:sp>
        <p:nvSpPr>
          <p:cNvPr id="25" name="Shape 19"/>
          <p:cNvSpPr/>
          <p:nvPr/>
        </p:nvSpPr>
        <p:spPr>
          <a:xfrm>
            <a:off x="731520" y="3611880"/>
            <a:ext cx="3840480" cy="105156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26" name="Shape 20"/>
          <p:cNvSpPr/>
          <p:nvPr/>
        </p:nvSpPr>
        <p:spPr>
          <a:xfrm>
            <a:off x="731520" y="3611880"/>
            <a:ext cx="54864" cy="1051560"/>
          </a:xfrm>
          <a:prstGeom prst="rect">
            <a:avLst/>
          </a:prstGeom>
          <a:solidFill>
            <a:srgbClr val="7B61FF"/>
          </a:solidFill>
          <a:ln/>
        </p:spPr>
      </p:sp>
      <p:pic>
        <p:nvPicPr>
          <p:cNvPr id="27" name="Image 4" descr="preencoded.png">    </p:cNvPr>
          <p:cNvPicPr>
            <a:picLocks noChangeAspect="1"/>
          </p:cNvPicPr>
          <p:nvPr/>
        </p:nvPicPr>
        <p:blipFill>
          <a:blip r:embed="rId5"/>
          <a:stretch>
            <a:fillRect/>
          </a:stretch>
        </p:blipFill>
        <p:spPr>
          <a:xfrm>
            <a:off x="914400" y="3749040"/>
            <a:ext cx="274320" cy="274320"/>
          </a:xfrm>
          <a:prstGeom prst="rect">
            <a:avLst/>
          </a:prstGeom>
        </p:spPr>
      </p:pic>
      <p:sp>
        <p:nvSpPr>
          <p:cNvPr id="28" name="Text 21"/>
          <p:cNvSpPr/>
          <p:nvPr/>
        </p:nvSpPr>
        <p:spPr>
          <a:xfrm>
            <a:off x="1325880" y="3721608"/>
            <a:ext cx="30175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Scalable Architecture</a:t>
            </a:r>
            <a:endParaRPr lang="en-US" sz="1100" dirty="0"/>
          </a:p>
        </p:txBody>
      </p:sp>
      <p:sp>
        <p:nvSpPr>
          <p:cNvPr id="29" name="Text 22"/>
          <p:cNvSpPr/>
          <p:nvPr/>
        </p:nvSpPr>
        <p:spPr>
          <a:xfrm>
            <a:off x="914400" y="4069080"/>
            <a:ext cx="3474720" cy="502920"/>
          </a:xfrm>
          <a:prstGeom prst="rect">
            <a:avLst/>
          </a:prstGeom>
          <a:noFill/>
          <a:ln/>
        </p:spPr>
        <p:txBody>
          <a:bodyPr wrap="square" lIns="0" tIns="0" rIns="0" bIns="0" rtlCol="0" anchor="ctr"/>
          <a:lstStyle/>
          <a:p>
            <a:pPr indent="0" marL="0">
              <a:buNone/>
            </a:pPr>
            <a:r>
              <a:rPr lang="en-US" sz="800" dirty="0">
                <a:solidFill>
                  <a:srgbClr val="8B9DC3"/>
                </a:solidFill>
                <a:latin typeface="Calibri" pitchFamily="34" charset="0"/>
                <a:ea typeface="Calibri" pitchFamily="34" charset="-122"/>
                <a:cs typeface="Calibri" pitchFamily="34" charset="-120"/>
              </a:rPr>
              <a:t>Cloud-agnostic intelligence stack that grows with you. From one use case to enterprise-wide AI operations.</a:t>
            </a:r>
            <a:endParaRPr lang="en-US" sz="800" dirty="0"/>
          </a:p>
        </p:txBody>
      </p:sp>
      <p:sp>
        <p:nvSpPr>
          <p:cNvPr id="30" name="Shape 23"/>
          <p:cNvSpPr/>
          <p:nvPr/>
        </p:nvSpPr>
        <p:spPr>
          <a:xfrm>
            <a:off x="4846320" y="3611880"/>
            <a:ext cx="3840480" cy="105156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31" name="Shape 24"/>
          <p:cNvSpPr/>
          <p:nvPr/>
        </p:nvSpPr>
        <p:spPr>
          <a:xfrm>
            <a:off x="4846320" y="3611880"/>
            <a:ext cx="54864" cy="1051560"/>
          </a:xfrm>
          <a:prstGeom prst="rect">
            <a:avLst/>
          </a:prstGeom>
          <a:solidFill>
            <a:srgbClr val="0072BC"/>
          </a:solidFill>
          <a:ln/>
        </p:spPr>
      </p:sp>
      <p:pic>
        <p:nvPicPr>
          <p:cNvPr id="32" name="Image 5" descr="preencoded.png">    </p:cNvPr>
          <p:cNvPicPr>
            <a:picLocks noChangeAspect="1"/>
          </p:cNvPicPr>
          <p:nvPr/>
        </p:nvPicPr>
        <p:blipFill>
          <a:blip r:embed="rId6"/>
          <a:stretch>
            <a:fillRect/>
          </a:stretch>
        </p:blipFill>
        <p:spPr>
          <a:xfrm>
            <a:off x="5029200" y="3749040"/>
            <a:ext cx="274320" cy="274320"/>
          </a:xfrm>
          <a:prstGeom prst="rect">
            <a:avLst/>
          </a:prstGeom>
        </p:spPr>
      </p:pic>
      <p:sp>
        <p:nvSpPr>
          <p:cNvPr id="33" name="Text 25"/>
          <p:cNvSpPr/>
          <p:nvPr/>
        </p:nvSpPr>
        <p:spPr>
          <a:xfrm>
            <a:off x="5440680" y="3721608"/>
            <a:ext cx="30175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AI-Ready Organization</a:t>
            </a:r>
            <a:endParaRPr lang="en-US" sz="1100" dirty="0"/>
          </a:p>
        </p:txBody>
      </p:sp>
      <p:sp>
        <p:nvSpPr>
          <p:cNvPr id="34" name="Text 26"/>
          <p:cNvSpPr/>
          <p:nvPr/>
        </p:nvSpPr>
        <p:spPr>
          <a:xfrm>
            <a:off x="5029200" y="4069080"/>
            <a:ext cx="3474720" cy="502920"/>
          </a:xfrm>
          <a:prstGeom prst="rect">
            <a:avLst/>
          </a:prstGeom>
          <a:noFill/>
          <a:ln/>
        </p:spPr>
        <p:txBody>
          <a:bodyPr wrap="square" lIns="0" tIns="0" rIns="0" bIns="0" rtlCol="0" anchor="ctr"/>
          <a:lstStyle/>
          <a:p>
            <a:pPr indent="0" marL="0">
              <a:buNone/>
            </a:pPr>
            <a:r>
              <a:rPr lang="en-US" sz="800" dirty="0">
                <a:solidFill>
                  <a:srgbClr val="8B9DC3"/>
                </a:solidFill>
                <a:latin typeface="Calibri" pitchFamily="34" charset="0"/>
                <a:ea typeface="Calibri" pitchFamily="34" charset="-122"/>
                <a:cs typeface="Calibri" pitchFamily="34" charset="-120"/>
              </a:rPr>
              <a:t>We don't just deploy technology — we build capability. Training, change management, and governance frameworks included.</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0D4FF"/>
          </a:solidFill>
          <a:ln/>
        </p:spPr>
      </p:sp>
      <p:sp>
        <p:nvSpPr>
          <p:cNvPr id="3" name="Text 1"/>
          <p:cNvSpPr/>
          <p:nvPr/>
        </p:nvSpPr>
        <p:spPr>
          <a:xfrm>
            <a:off x="731520" y="274320"/>
            <a:ext cx="7315200" cy="320040"/>
          </a:xfrm>
          <a:prstGeom prst="rect">
            <a:avLst/>
          </a:prstGeom>
          <a:noFill/>
          <a:ln/>
        </p:spPr>
        <p:txBody>
          <a:bodyPr wrap="square" lIns="0" tIns="0" rIns="0" bIns="0" rtlCol="0" anchor="ctr"/>
          <a:lstStyle/>
          <a:p>
            <a:pPr indent="0" marL="0">
              <a:buNone/>
            </a:pPr>
            <a:r>
              <a:rPr lang="en-US" sz="900" b="1" spc="300" kern="0" dirty="0">
                <a:solidFill>
                  <a:srgbClr val="00D4FF"/>
                </a:solidFill>
                <a:latin typeface="Calibri" pitchFamily="34" charset="0"/>
                <a:ea typeface="Calibri" pitchFamily="34" charset="-122"/>
                <a:cs typeface="Calibri" pitchFamily="34" charset="-120"/>
              </a:rPr>
              <a:t>INDUSTRY EXPERTISE</a:t>
            </a:r>
            <a:endParaRPr lang="en-US" sz="900" dirty="0"/>
          </a:p>
        </p:txBody>
      </p:sp>
      <p:sp>
        <p:nvSpPr>
          <p:cNvPr id="4" name="Text 2"/>
          <p:cNvSpPr/>
          <p:nvPr/>
        </p:nvSpPr>
        <p:spPr>
          <a:xfrm>
            <a:off x="731520" y="594360"/>
            <a:ext cx="7315200" cy="45720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Deep Domain Knowledge Across Sectors</a:t>
            </a:r>
            <a:endParaRPr lang="en-US" sz="2400" dirty="0"/>
          </a:p>
        </p:txBody>
      </p:sp>
      <p:sp>
        <p:nvSpPr>
          <p:cNvPr id="5" name="Text 3"/>
          <p:cNvSpPr/>
          <p:nvPr/>
        </p:nvSpPr>
        <p:spPr>
          <a:xfrm>
            <a:off x="731520" y="1051560"/>
            <a:ext cx="7315200" cy="320040"/>
          </a:xfrm>
          <a:prstGeom prst="rect">
            <a:avLst/>
          </a:prstGeom>
          <a:noFill/>
          <a:ln/>
        </p:spPr>
        <p:txBody>
          <a:bodyPr wrap="square" lIns="0" tIns="0" rIns="0" bIns="0" rtlCol="0" anchor="ctr"/>
          <a:lstStyle/>
          <a:p>
            <a:pPr indent="0" marL="0">
              <a:buNone/>
            </a:pPr>
            <a:r>
              <a:rPr lang="en-US" sz="1000" dirty="0">
                <a:solidFill>
                  <a:srgbClr val="8B9DC3"/>
                </a:solidFill>
                <a:latin typeface="Calibri" pitchFamily="34" charset="0"/>
                <a:ea typeface="Calibri" pitchFamily="34" charset="-122"/>
                <a:cs typeface="Calibri" pitchFamily="34" charset="-120"/>
              </a:rPr>
              <a:t>Each sector has dedicated Domain Data Scientists, Business Translators, and AI Engineers with proven track records.</a:t>
            </a:r>
            <a:endParaRPr lang="en-US" sz="1000" dirty="0"/>
          </a:p>
        </p:txBody>
      </p:sp>
      <p:sp>
        <p:nvSpPr>
          <p:cNvPr id="6" name="Shape 4"/>
          <p:cNvSpPr/>
          <p:nvPr/>
        </p:nvSpPr>
        <p:spPr>
          <a:xfrm>
            <a:off x="731520" y="1554480"/>
            <a:ext cx="2514600" cy="150876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7" name="Shape 5"/>
          <p:cNvSpPr/>
          <p:nvPr/>
        </p:nvSpPr>
        <p:spPr>
          <a:xfrm>
            <a:off x="731520" y="1554480"/>
            <a:ext cx="54864" cy="1508760"/>
          </a:xfrm>
          <a:prstGeom prst="rect">
            <a:avLst/>
          </a:prstGeom>
          <a:solidFill>
            <a:srgbClr val="00D4FF"/>
          </a:solidFill>
          <a:ln/>
        </p:spPr>
      </p:sp>
      <p:pic>
        <p:nvPicPr>
          <p:cNvPr id="8" name="Image 0" descr="preencoded.png">    </p:cNvPr>
          <p:cNvPicPr>
            <a:picLocks noChangeAspect="1"/>
          </p:cNvPicPr>
          <p:nvPr/>
        </p:nvPicPr>
        <p:blipFill>
          <a:blip r:embed="rId1"/>
          <a:stretch>
            <a:fillRect/>
          </a:stretch>
        </p:blipFill>
        <p:spPr>
          <a:xfrm>
            <a:off x="914400" y="1691640"/>
            <a:ext cx="256032" cy="256032"/>
          </a:xfrm>
          <a:prstGeom prst="rect">
            <a:avLst/>
          </a:prstGeom>
        </p:spPr>
      </p:pic>
      <p:sp>
        <p:nvSpPr>
          <p:cNvPr id="9" name="Text 6"/>
          <p:cNvSpPr/>
          <p:nvPr/>
        </p:nvSpPr>
        <p:spPr>
          <a:xfrm>
            <a:off x="1280160" y="1691640"/>
            <a:ext cx="173736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Public Sector</a:t>
            </a:r>
            <a:endParaRPr lang="en-US" sz="1100" dirty="0"/>
          </a:p>
        </p:txBody>
      </p:sp>
      <p:sp>
        <p:nvSpPr>
          <p:cNvPr id="10" name="Text 7"/>
          <p:cNvSpPr/>
          <p:nvPr/>
        </p:nvSpPr>
        <p:spPr>
          <a:xfrm>
            <a:off x="914400" y="2057400"/>
            <a:ext cx="2148840" cy="777240"/>
          </a:xfrm>
          <a:prstGeom prst="rect">
            <a:avLst/>
          </a:prstGeom>
          <a:noFill/>
          <a:ln/>
        </p:spPr>
        <p:txBody>
          <a:bodyPr wrap="square" lIns="0" tIns="0" rIns="0" bIns="0" rtlCol="0" anchor="ctr"/>
          <a:lstStyle/>
          <a:p>
            <a:pPr indent="0" marL="0">
              <a:buNone/>
            </a:pPr>
            <a:r>
              <a:rPr lang="en-US" sz="800" dirty="0">
                <a:solidFill>
                  <a:srgbClr val="8B9DC3"/>
                </a:solidFill>
                <a:latin typeface="Calibri" pitchFamily="34" charset="0"/>
                <a:ea typeface="Calibri" pitchFamily="34" charset="-122"/>
                <a:cs typeface="Calibri" pitchFamily="34" charset="-120"/>
              </a:rPr>
              <a:t>Health, social services, education,</a:t>
            </a:r>
            <a:endParaRPr lang="en-US" sz="800" dirty="0"/>
          </a:p>
          <a:p>
            <a:pPr indent="0" marL="0">
              <a:buNone/>
            </a:pPr>
            <a:r>
              <a:rPr lang="en-US" sz="800" dirty="0">
                <a:solidFill>
                  <a:srgbClr val="8B9DC3"/>
                </a:solidFill>
                <a:latin typeface="Calibri" pitchFamily="34" charset="0"/>
                <a:ea typeface="Calibri" pitchFamily="34" charset="-122"/>
                <a:cs typeface="Calibri" pitchFamily="34" charset="-120"/>
              </a:rPr>
              <a:t>justice, sustainability, mobility.</a:t>
            </a:r>
            <a:endParaRPr lang="en-US" sz="800" dirty="0"/>
          </a:p>
          <a:p>
            <a:pPr indent="0" marL="0">
              <a:buNone/>
            </a:pPr>
            <a:r>
              <a:rPr lang="en-US" sz="800" dirty="0">
                <a:solidFill>
                  <a:srgbClr val="8B9DC3"/>
                </a:solidFill>
                <a:latin typeface="Calibri" pitchFamily="34" charset="0"/>
                <a:ea typeface="Calibri" pitchFamily="34" charset="-122"/>
                <a:cs typeface="Calibri" pitchFamily="34" charset="-120"/>
              </a:rPr>
              <a:t>AI-driven citizen services.</a:t>
            </a:r>
            <a:endParaRPr lang="en-US" sz="800" dirty="0"/>
          </a:p>
        </p:txBody>
      </p:sp>
      <p:sp>
        <p:nvSpPr>
          <p:cNvPr id="11" name="Shape 8"/>
          <p:cNvSpPr/>
          <p:nvPr/>
        </p:nvSpPr>
        <p:spPr>
          <a:xfrm>
            <a:off x="3429000" y="1554480"/>
            <a:ext cx="2514600" cy="150876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12" name="Shape 9"/>
          <p:cNvSpPr/>
          <p:nvPr/>
        </p:nvSpPr>
        <p:spPr>
          <a:xfrm>
            <a:off x="3429000" y="1554480"/>
            <a:ext cx="54864" cy="1508760"/>
          </a:xfrm>
          <a:prstGeom prst="rect">
            <a:avLst/>
          </a:prstGeom>
          <a:solidFill>
            <a:srgbClr val="FFB547"/>
          </a:solidFill>
          <a:ln/>
        </p:spPr>
      </p:sp>
      <p:pic>
        <p:nvPicPr>
          <p:cNvPr id="13" name="Image 1" descr="preencoded.png">    </p:cNvPr>
          <p:cNvPicPr>
            <a:picLocks noChangeAspect="1"/>
          </p:cNvPicPr>
          <p:nvPr/>
        </p:nvPicPr>
        <p:blipFill>
          <a:blip r:embed="rId2"/>
          <a:stretch>
            <a:fillRect/>
          </a:stretch>
        </p:blipFill>
        <p:spPr>
          <a:xfrm>
            <a:off x="3611880" y="1691640"/>
            <a:ext cx="256032" cy="256032"/>
          </a:xfrm>
          <a:prstGeom prst="rect">
            <a:avLst/>
          </a:prstGeom>
        </p:spPr>
      </p:pic>
      <p:sp>
        <p:nvSpPr>
          <p:cNvPr id="14" name="Text 10"/>
          <p:cNvSpPr/>
          <p:nvPr/>
        </p:nvSpPr>
        <p:spPr>
          <a:xfrm>
            <a:off x="3977640" y="1691640"/>
            <a:ext cx="173736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Industry</a:t>
            </a:r>
            <a:endParaRPr lang="en-US" sz="1100" dirty="0"/>
          </a:p>
        </p:txBody>
      </p:sp>
      <p:sp>
        <p:nvSpPr>
          <p:cNvPr id="15" name="Text 11"/>
          <p:cNvSpPr/>
          <p:nvPr/>
        </p:nvSpPr>
        <p:spPr>
          <a:xfrm>
            <a:off x="3611880" y="2057400"/>
            <a:ext cx="2148840" cy="777240"/>
          </a:xfrm>
          <a:prstGeom prst="rect">
            <a:avLst/>
          </a:prstGeom>
          <a:noFill/>
          <a:ln/>
        </p:spPr>
        <p:txBody>
          <a:bodyPr wrap="square" lIns="0" tIns="0" rIns="0" bIns="0" rtlCol="0" anchor="ctr"/>
          <a:lstStyle/>
          <a:p>
            <a:pPr indent="0" marL="0">
              <a:buNone/>
            </a:pPr>
            <a:r>
              <a:rPr lang="en-US" sz="800" dirty="0">
                <a:solidFill>
                  <a:srgbClr val="8B9DC3"/>
                </a:solidFill>
                <a:latin typeface="Calibri" pitchFamily="34" charset="0"/>
                <a:ea typeface="Calibri" pitchFamily="34" charset="-122"/>
                <a:cs typeface="Calibri" pitchFamily="34" charset="-120"/>
              </a:rPr>
              <a:t>Retail, life sciences, automotive,</a:t>
            </a:r>
            <a:endParaRPr lang="en-US" sz="800" dirty="0"/>
          </a:p>
          <a:p>
            <a:pPr indent="0" marL="0">
              <a:buNone/>
            </a:pPr>
            <a:r>
              <a:rPr lang="en-US" sz="800" dirty="0">
                <a:solidFill>
                  <a:srgbClr val="8B9DC3"/>
                </a:solidFill>
                <a:latin typeface="Calibri" pitchFamily="34" charset="0"/>
                <a:ea typeface="Calibri" pitchFamily="34" charset="-122"/>
                <a:cs typeface="Calibri" pitchFamily="34" charset="-120"/>
              </a:rPr>
              <a:t>manufacturing. Smart operations,</a:t>
            </a:r>
            <a:endParaRPr lang="en-US" sz="800" dirty="0"/>
          </a:p>
          <a:p>
            <a:pPr indent="0" marL="0">
              <a:buNone/>
            </a:pPr>
            <a:r>
              <a:rPr lang="en-US" sz="800" dirty="0">
                <a:solidFill>
                  <a:srgbClr val="8B9DC3"/>
                </a:solidFill>
                <a:latin typeface="Calibri" pitchFamily="34" charset="0"/>
                <a:ea typeface="Calibri" pitchFamily="34" charset="-122"/>
                <a:cs typeface="Calibri" pitchFamily="34" charset="-120"/>
              </a:rPr>
              <a:t>predictive maintenance.</a:t>
            </a:r>
            <a:endParaRPr lang="en-US" sz="800" dirty="0"/>
          </a:p>
        </p:txBody>
      </p:sp>
      <p:sp>
        <p:nvSpPr>
          <p:cNvPr id="16" name="Shape 12"/>
          <p:cNvSpPr/>
          <p:nvPr/>
        </p:nvSpPr>
        <p:spPr>
          <a:xfrm>
            <a:off x="6126480" y="1554480"/>
            <a:ext cx="2514600" cy="150876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17" name="Shape 13"/>
          <p:cNvSpPr/>
          <p:nvPr/>
        </p:nvSpPr>
        <p:spPr>
          <a:xfrm>
            <a:off x="6126480" y="1554480"/>
            <a:ext cx="54864" cy="1508760"/>
          </a:xfrm>
          <a:prstGeom prst="rect">
            <a:avLst/>
          </a:prstGeom>
          <a:solidFill>
            <a:srgbClr val="00C9A7"/>
          </a:solidFill>
          <a:ln/>
        </p:spPr>
      </p:sp>
      <p:pic>
        <p:nvPicPr>
          <p:cNvPr id="18" name="Image 2" descr="preencoded.png">    </p:cNvPr>
          <p:cNvPicPr>
            <a:picLocks noChangeAspect="1"/>
          </p:cNvPicPr>
          <p:nvPr/>
        </p:nvPicPr>
        <p:blipFill>
          <a:blip r:embed="rId3"/>
          <a:stretch>
            <a:fillRect/>
          </a:stretch>
        </p:blipFill>
        <p:spPr>
          <a:xfrm>
            <a:off x="6309360" y="1691640"/>
            <a:ext cx="256032" cy="256032"/>
          </a:xfrm>
          <a:prstGeom prst="rect">
            <a:avLst/>
          </a:prstGeom>
        </p:spPr>
      </p:pic>
      <p:sp>
        <p:nvSpPr>
          <p:cNvPr id="19" name="Text 14"/>
          <p:cNvSpPr/>
          <p:nvPr/>
        </p:nvSpPr>
        <p:spPr>
          <a:xfrm>
            <a:off x="6675120" y="1691640"/>
            <a:ext cx="173736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Utilities</a:t>
            </a:r>
            <a:endParaRPr lang="en-US" sz="1100" dirty="0"/>
          </a:p>
        </p:txBody>
      </p:sp>
      <p:sp>
        <p:nvSpPr>
          <p:cNvPr id="20" name="Text 15"/>
          <p:cNvSpPr/>
          <p:nvPr/>
        </p:nvSpPr>
        <p:spPr>
          <a:xfrm>
            <a:off x="6309360" y="2057400"/>
            <a:ext cx="2148840" cy="777240"/>
          </a:xfrm>
          <a:prstGeom prst="rect">
            <a:avLst/>
          </a:prstGeom>
          <a:noFill/>
          <a:ln/>
        </p:spPr>
        <p:txBody>
          <a:bodyPr wrap="square" lIns="0" tIns="0" rIns="0" bIns="0" rtlCol="0" anchor="ctr"/>
          <a:lstStyle/>
          <a:p>
            <a:pPr indent="0" marL="0">
              <a:buNone/>
            </a:pPr>
            <a:r>
              <a:rPr lang="en-US" sz="800" dirty="0">
                <a:solidFill>
                  <a:srgbClr val="8B9DC3"/>
                </a:solidFill>
                <a:latin typeface="Calibri" pitchFamily="34" charset="0"/>
                <a:ea typeface="Calibri" pitchFamily="34" charset="-122"/>
                <a:cs typeface="Calibri" pitchFamily="34" charset="-120"/>
              </a:rPr>
              <a:t>Energy market optimization, grid</a:t>
            </a:r>
            <a:endParaRPr lang="en-US" sz="800" dirty="0"/>
          </a:p>
          <a:p>
            <a:pPr indent="0" marL="0">
              <a:buNone/>
            </a:pPr>
            <a:r>
              <a:rPr lang="en-US" sz="800" dirty="0">
                <a:solidFill>
                  <a:srgbClr val="8B9DC3"/>
                </a:solidFill>
                <a:latin typeface="Calibri" pitchFamily="34" charset="0"/>
                <a:ea typeface="Calibri" pitchFamily="34" charset="-122"/>
                <a:cs typeface="Calibri" pitchFamily="34" charset="-120"/>
              </a:rPr>
              <a:t>analytics, sustainability compliance,</a:t>
            </a:r>
            <a:endParaRPr lang="en-US" sz="800" dirty="0"/>
          </a:p>
          <a:p>
            <a:pPr indent="0" marL="0">
              <a:buNone/>
            </a:pPr>
            <a:r>
              <a:rPr lang="en-US" sz="800" dirty="0">
                <a:solidFill>
                  <a:srgbClr val="8B9DC3"/>
                </a:solidFill>
                <a:latin typeface="Calibri" pitchFamily="34" charset="0"/>
                <a:ea typeface="Calibri" pitchFamily="34" charset="-122"/>
                <a:cs typeface="Calibri" pitchFamily="34" charset="-120"/>
              </a:rPr>
              <a:t>IT/OT convergence.</a:t>
            </a:r>
            <a:endParaRPr lang="en-US" sz="800" dirty="0"/>
          </a:p>
        </p:txBody>
      </p:sp>
      <p:sp>
        <p:nvSpPr>
          <p:cNvPr id="21" name="Shape 16"/>
          <p:cNvSpPr/>
          <p:nvPr/>
        </p:nvSpPr>
        <p:spPr>
          <a:xfrm>
            <a:off x="731520" y="3246120"/>
            <a:ext cx="2514600" cy="150876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22" name="Shape 17"/>
          <p:cNvSpPr/>
          <p:nvPr/>
        </p:nvSpPr>
        <p:spPr>
          <a:xfrm>
            <a:off x="731520" y="3246120"/>
            <a:ext cx="54864" cy="1508760"/>
          </a:xfrm>
          <a:prstGeom prst="rect">
            <a:avLst/>
          </a:prstGeom>
          <a:solidFill>
            <a:srgbClr val="7B61FF"/>
          </a:solidFill>
          <a:ln/>
        </p:spPr>
      </p:sp>
      <p:pic>
        <p:nvPicPr>
          <p:cNvPr id="23" name="Image 3" descr="preencoded.png">    </p:cNvPr>
          <p:cNvPicPr>
            <a:picLocks noChangeAspect="1"/>
          </p:cNvPicPr>
          <p:nvPr/>
        </p:nvPicPr>
        <p:blipFill>
          <a:blip r:embed="rId4"/>
          <a:stretch>
            <a:fillRect/>
          </a:stretch>
        </p:blipFill>
        <p:spPr>
          <a:xfrm>
            <a:off x="914400" y="3383280"/>
            <a:ext cx="256032" cy="256032"/>
          </a:xfrm>
          <a:prstGeom prst="rect">
            <a:avLst/>
          </a:prstGeom>
        </p:spPr>
      </p:pic>
      <p:sp>
        <p:nvSpPr>
          <p:cNvPr id="24" name="Text 18"/>
          <p:cNvSpPr/>
          <p:nvPr/>
        </p:nvSpPr>
        <p:spPr>
          <a:xfrm>
            <a:off x="1280160" y="3383280"/>
            <a:ext cx="173736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Banking</a:t>
            </a:r>
            <a:endParaRPr lang="en-US" sz="1100" dirty="0"/>
          </a:p>
        </p:txBody>
      </p:sp>
      <p:sp>
        <p:nvSpPr>
          <p:cNvPr id="25" name="Text 19"/>
          <p:cNvSpPr/>
          <p:nvPr/>
        </p:nvSpPr>
        <p:spPr>
          <a:xfrm>
            <a:off x="914400" y="3749040"/>
            <a:ext cx="2148840" cy="777240"/>
          </a:xfrm>
          <a:prstGeom prst="rect">
            <a:avLst/>
          </a:prstGeom>
          <a:noFill/>
          <a:ln/>
        </p:spPr>
        <p:txBody>
          <a:bodyPr wrap="square" lIns="0" tIns="0" rIns="0" bIns="0" rtlCol="0" anchor="ctr"/>
          <a:lstStyle/>
          <a:p>
            <a:pPr indent="0" marL="0">
              <a:buNone/>
            </a:pPr>
            <a:r>
              <a:rPr lang="en-US" sz="800" dirty="0">
                <a:solidFill>
                  <a:srgbClr val="8B9DC3"/>
                </a:solidFill>
                <a:latin typeface="Calibri" pitchFamily="34" charset="0"/>
                <a:ea typeface="Calibri" pitchFamily="34" charset="-122"/>
                <a:cs typeface="Calibri" pitchFamily="34" charset="-120"/>
              </a:rPr>
              <a:t>Fraud, AML, CIB, customer analytics,</a:t>
            </a:r>
            <a:endParaRPr lang="en-US" sz="800" dirty="0"/>
          </a:p>
          <a:p>
            <a:pPr indent="0" marL="0">
              <a:buNone/>
            </a:pPr>
            <a:r>
              <a:rPr lang="en-US" sz="800" dirty="0">
                <a:solidFill>
                  <a:srgbClr val="8B9DC3"/>
                </a:solidFill>
                <a:latin typeface="Calibri" pitchFamily="34" charset="0"/>
                <a:ea typeface="Calibri" pitchFamily="34" charset="-122"/>
                <a:cs typeface="Calibri" pitchFamily="34" charset="-120"/>
              </a:rPr>
              <a:t>consumer finance, ESG. Real-time</a:t>
            </a:r>
            <a:endParaRPr lang="en-US" sz="800" dirty="0"/>
          </a:p>
          <a:p>
            <a:pPr indent="0" marL="0">
              <a:buNone/>
            </a:pPr>
            <a:r>
              <a:rPr lang="en-US" sz="800" dirty="0">
                <a:solidFill>
                  <a:srgbClr val="8B9DC3"/>
                </a:solidFill>
                <a:latin typeface="Calibri" pitchFamily="34" charset="0"/>
                <a:ea typeface="Calibri" pitchFamily="34" charset="-122"/>
                <a:cs typeface="Calibri" pitchFamily="34" charset="-120"/>
              </a:rPr>
              <a:t>risk and regulatory intelligence.</a:t>
            </a:r>
            <a:endParaRPr lang="en-US" sz="800" dirty="0"/>
          </a:p>
        </p:txBody>
      </p:sp>
      <p:sp>
        <p:nvSpPr>
          <p:cNvPr id="26" name="Shape 20"/>
          <p:cNvSpPr/>
          <p:nvPr/>
        </p:nvSpPr>
        <p:spPr>
          <a:xfrm>
            <a:off x="3429000" y="3246120"/>
            <a:ext cx="2514600" cy="150876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27" name="Shape 21"/>
          <p:cNvSpPr/>
          <p:nvPr/>
        </p:nvSpPr>
        <p:spPr>
          <a:xfrm>
            <a:off x="3429000" y="3246120"/>
            <a:ext cx="54864" cy="1508760"/>
          </a:xfrm>
          <a:prstGeom prst="rect">
            <a:avLst/>
          </a:prstGeom>
          <a:solidFill>
            <a:srgbClr val="FF6B8A"/>
          </a:solidFill>
          <a:ln/>
        </p:spPr>
      </p:sp>
      <p:pic>
        <p:nvPicPr>
          <p:cNvPr id="28" name="Image 4" descr="preencoded.png">    </p:cNvPr>
          <p:cNvPicPr>
            <a:picLocks noChangeAspect="1"/>
          </p:cNvPicPr>
          <p:nvPr/>
        </p:nvPicPr>
        <p:blipFill>
          <a:blip r:embed="rId5"/>
          <a:stretch>
            <a:fillRect/>
          </a:stretch>
        </p:blipFill>
        <p:spPr>
          <a:xfrm>
            <a:off x="3611880" y="3383280"/>
            <a:ext cx="256032" cy="256032"/>
          </a:xfrm>
          <a:prstGeom prst="rect">
            <a:avLst/>
          </a:prstGeom>
        </p:spPr>
      </p:pic>
      <p:sp>
        <p:nvSpPr>
          <p:cNvPr id="29" name="Text 22"/>
          <p:cNvSpPr/>
          <p:nvPr/>
        </p:nvSpPr>
        <p:spPr>
          <a:xfrm>
            <a:off x="3977640" y="3383280"/>
            <a:ext cx="173736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Insurance</a:t>
            </a:r>
            <a:endParaRPr lang="en-US" sz="1100" dirty="0"/>
          </a:p>
        </p:txBody>
      </p:sp>
      <p:sp>
        <p:nvSpPr>
          <p:cNvPr id="30" name="Text 23"/>
          <p:cNvSpPr/>
          <p:nvPr/>
        </p:nvSpPr>
        <p:spPr>
          <a:xfrm>
            <a:off x="3611880" y="3749040"/>
            <a:ext cx="2148840" cy="777240"/>
          </a:xfrm>
          <a:prstGeom prst="rect">
            <a:avLst/>
          </a:prstGeom>
          <a:noFill/>
          <a:ln/>
        </p:spPr>
        <p:txBody>
          <a:bodyPr wrap="square" lIns="0" tIns="0" rIns="0" bIns="0" rtlCol="0" anchor="ctr"/>
          <a:lstStyle/>
          <a:p>
            <a:pPr indent="0" marL="0">
              <a:buNone/>
            </a:pPr>
            <a:r>
              <a:rPr lang="en-US" sz="800" dirty="0">
                <a:solidFill>
                  <a:srgbClr val="8B9DC3"/>
                </a:solidFill>
                <a:latin typeface="Calibri" pitchFamily="34" charset="0"/>
                <a:ea typeface="Calibri" pitchFamily="34" charset="-122"/>
                <a:cs typeface="Calibri" pitchFamily="34" charset="-120"/>
              </a:rPr>
              <a:t>Actuarial modeling, claims automation,</a:t>
            </a:r>
            <a:endParaRPr lang="en-US" sz="800" dirty="0"/>
          </a:p>
          <a:p>
            <a:pPr indent="0" marL="0">
              <a:buNone/>
            </a:pPr>
            <a:r>
              <a:rPr lang="en-US" sz="800" dirty="0">
                <a:solidFill>
                  <a:srgbClr val="8B9DC3"/>
                </a:solidFill>
                <a:latin typeface="Calibri" pitchFamily="34" charset="0"/>
                <a:ea typeface="Calibri" pitchFamily="34" charset="-122"/>
                <a:cs typeface="Calibri" pitchFamily="34" charset="-120"/>
              </a:rPr>
              <a:t>underwriting AI, policyholder analytics.</a:t>
            </a:r>
            <a:endParaRPr lang="en-US" sz="800" dirty="0"/>
          </a:p>
          <a:p>
            <a:pPr indent="0" marL="0">
              <a:buNone/>
            </a:pPr>
            <a:r>
              <a:rPr lang="en-US" sz="800" dirty="0">
                <a:solidFill>
                  <a:srgbClr val="8B9DC3"/>
                </a:solidFill>
                <a:latin typeface="Calibri" pitchFamily="34" charset="0"/>
                <a:ea typeface="Calibri" pitchFamily="34" charset="-122"/>
                <a:cs typeface="Calibri" pitchFamily="34" charset="-120"/>
              </a:rPr>
              <a:t>Life and non-life.</a:t>
            </a:r>
            <a:endParaRPr lang="en-US" sz="800" dirty="0"/>
          </a:p>
        </p:txBody>
      </p:sp>
      <p:sp>
        <p:nvSpPr>
          <p:cNvPr id="31" name="Shape 24"/>
          <p:cNvSpPr/>
          <p:nvPr/>
        </p:nvSpPr>
        <p:spPr>
          <a:xfrm>
            <a:off x="6126480" y="3246120"/>
            <a:ext cx="2514600" cy="150876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32" name="Shape 25"/>
          <p:cNvSpPr/>
          <p:nvPr/>
        </p:nvSpPr>
        <p:spPr>
          <a:xfrm>
            <a:off x="6126480" y="3246120"/>
            <a:ext cx="54864" cy="1508760"/>
          </a:xfrm>
          <a:prstGeom prst="rect">
            <a:avLst/>
          </a:prstGeom>
          <a:solidFill>
            <a:srgbClr val="0072BC"/>
          </a:solidFill>
          <a:ln/>
        </p:spPr>
      </p:sp>
      <p:pic>
        <p:nvPicPr>
          <p:cNvPr id="33" name="Image 5" descr="preencoded.png">    </p:cNvPr>
          <p:cNvPicPr>
            <a:picLocks noChangeAspect="1"/>
          </p:cNvPicPr>
          <p:nvPr/>
        </p:nvPicPr>
        <p:blipFill>
          <a:blip r:embed="rId6"/>
          <a:stretch>
            <a:fillRect/>
          </a:stretch>
        </p:blipFill>
        <p:spPr>
          <a:xfrm>
            <a:off x="6309360" y="3383280"/>
            <a:ext cx="256032" cy="256032"/>
          </a:xfrm>
          <a:prstGeom prst="rect">
            <a:avLst/>
          </a:prstGeom>
        </p:spPr>
      </p:pic>
      <p:sp>
        <p:nvSpPr>
          <p:cNvPr id="34" name="Text 26"/>
          <p:cNvSpPr/>
          <p:nvPr/>
        </p:nvSpPr>
        <p:spPr>
          <a:xfrm>
            <a:off x="6675120" y="3383280"/>
            <a:ext cx="173736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Telco</a:t>
            </a:r>
            <a:endParaRPr lang="en-US" sz="1100" dirty="0"/>
          </a:p>
        </p:txBody>
      </p:sp>
      <p:sp>
        <p:nvSpPr>
          <p:cNvPr id="35" name="Text 27"/>
          <p:cNvSpPr/>
          <p:nvPr/>
        </p:nvSpPr>
        <p:spPr>
          <a:xfrm>
            <a:off x="6309360" y="3749040"/>
            <a:ext cx="2148840" cy="777240"/>
          </a:xfrm>
          <a:prstGeom prst="rect">
            <a:avLst/>
          </a:prstGeom>
          <a:noFill/>
          <a:ln/>
        </p:spPr>
        <p:txBody>
          <a:bodyPr wrap="square" lIns="0" tIns="0" rIns="0" bIns="0" rtlCol="0" anchor="ctr"/>
          <a:lstStyle/>
          <a:p>
            <a:pPr indent="0" marL="0">
              <a:buNone/>
            </a:pPr>
            <a:r>
              <a:rPr lang="en-US" sz="800" dirty="0">
                <a:solidFill>
                  <a:srgbClr val="8B9DC3"/>
                </a:solidFill>
                <a:latin typeface="Calibri" pitchFamily="34" charset="0"/>
                <a:ea typeface="Calibri" pitchFamily="34" charset="-122"/>
                <a:cs typeface="Calibri" pitchFamily="34" charset="-120"/>
              </a:rPr>
              <a:t>Marketing analytics, network optimization,</a:t>
            </a:r>
            <a:endParaRPr lang="en-US" sz="800" dirty="0"/>
          </a:p>
          <a:p>
            <a:pPr indent="0" marL="0">
              <a:buNone/>
            </a:pPr>
            <a:r>
              <a:rPr lang="en-US" sz="800" dirty="0">
                <a:solidFill>
                  <a:srgbClr val="8B9DC3"/>
                </a:solidFill>
                <a:latin typeface="Calibri" pitchFamily="34" charset="0"/>
                <a:ea typeface="Calibri" pitchFamily="34" charset="-122"/>
                <a:cs typeface="Calibri" pitchFamily="34" charset="-120"/>
              </a:rPr>
              <a:t>churn prediction, hyper-personalization,</a:t>
            </a:r>
            <a:endParaRPr lang="en-US" sz="800" dirty="0"/>
          </a:p>
          <a:p>
            <a:pPr indent="0" marL="0">
              <a:buNone/>
            </a:pPr>
            <a:r>
              <a:rPr lang="en-US" sz="800" dirty="0">
                <a:solidFill>
                  <a:srgbClr val="8B9DC3"/>
                </a:solidFill>
                <a:latin typeface="Calibri" pitchFamily="34" charset="0"/>
                <a:ea typeface="Calibri" pitchFamily="34" charset="-122"/>
                <a:cs typeface="Calibri" pitchFamily="34" charset="-120"/>
              </a:rPr>
              <a:t>CLTV maximization.</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0D4FF"/>
          </a:solidFill>
          <a:ln/>
        </p:spPr>
      </p:sp>
      <p:sp>
        <p:nvSpPr>
          <p:cNvPr id="3" name="Text 1"/>
          <p:cNvSpPr/>
          <p:nvPr/>
        </p:nvSpPr>
        <p:spPr>
          <a:xfrm>
            <a:off x="731520" y="274320"/>
            <a:ext cx="7315200" cy="320040"/>
          </a:xfrm>
          <a:prstGeom prst="rect">
            <a:avLst/>
          </a:prstGeom>
          <a:noFill/>
          <a:ln/>
        </p:spPr>
        <p:txBody>
          <a:bodyPr wrap="square" lIns="0" tIns="0" rIns="0" bIns="0" rtlCol="0" anchor="ctr"/>
          <a:lstStyle/>
          <a:p>
            <a:pPr indent="0" marL="0">
              <a:buNone/>
            </a:pPr>
            <a:r>
              <a:rPr lang="en-US" sz="900" b="1" spc="300" kern="0" dirty="0">
                <a:solidFill>
                  <a:srgbClr val="00D4FF"/>
                </a:solidFill>
                <a:latin typeface="Calibri" pitchFamily="34" charset="0"/>
                <a:ea typeface="Calibri" pitchFamily="34" charset="-122"/>
                <a:cs typeface="Calibri" pitchFamily="34" charset="-120"/>
              </a:rPr>
              <a:t>WHY NTT DATA</a:t>
            </a:r>
            <a:endParaRPr lang="en-US" sz="900" dirty="0"/>
          </a:p>
        </p:txBody>
      </p:sp>
      <p:sp>
        <p:nvSpPr>
          <p:cNvPr id="4" name="Text 2"/>
          <p:cNvSpPr/>
          <p:nvPr/>
        </p:nvSpPr>
        <p:spPr>
          <a:xfrm>
            <a:off x="731520" y="594360"/>
            <a:ext cx="7315200" cy="45720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Your Partner for AI-Native Transformation</a:t>
            </a:r>
            <a:endParaRPr lang="en-US" sz="2400" dirty="0"/>
          </a:p>
        </p:txBody>
      </p:sp>
      <p:sp>
        <p:nvSpPr>
          <p:cNvPr id="5" name="Shape 3"/>
          <p:cNvSpPr/>
          <p:nvPr/>
        </p:nvSpPr>
        <p:spPr>
          <a:xfrm>
            <a:off x="731520" y="1143000"/>
            <a:ext cx="3840480" cy="150876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6" name="Shape 4"/>
          <p:cNvSpPr/>
          <p:nvPr/>
        </p:nvSpPr>
        <p:spPr>
          <a:xfrm>
            <a:off x="731520" y="1143000"/>
            <a:ext cx="54864" cy="1508760"/>
          </a:xfrm>
          <a:prstGeom prst="rect">
            <a:avLst/>
          </a:prstGeom>
          <a:solidFill>
            <a:srgbClr val="FFB547"/>
          </a:solidFill>
          <a:ln/>
        </p:spPr>
      </p:sp>
      <p:pic>
        <p:nvPicPr>
          <p:cNvPr id="7" name="Image 0" descr="preencoded.png">    </p:cNvPr>
          <p:cNvPicPr>
            <a:picLocks noChangeAspect="1"/>
          </p:cNvPicPr>
          <p:nvPr/>
        </p:nvPicPr>
        <p:blipFill>
          <a:blip r:embed="rId1"/>
          <a:stretch>
            <a:fillRect/>
          </a:stretch>
        </p:blipFill>
        <p:spPr>
          <a:xfrm>
            <a:off x="960120" y="1325880"/>
            <a:ext cx="320040" cy="320040"/>
          </a:xfrm>
          <a:prstGeom prst="rect">
            <a:avLst/>
          </a:prstGeom>
        </p:spPr>
      </p:pic>
      <p:sp>
        <p:nvSpPr>
          <p:cNvPr id="8" name="Text 5"/>
          <p:cNvSpPr/>
          <p:nvPr/>
        </p:nvSpPr>
        <p:spPr>
          <a:xfrm>
            <a:off x="1417320" y="1325880"/>
            <a:ext cx="292608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ISG Leader: Agentic AI &amp; GenAI</a:t>
            </a:r>
            <a:endParaRPr lang="en-US" sz="1200" dirty="0"/>
          </a:p>
        </p:txBody>
      </p:sp>
      <p:sp>
        <p:nvSpPr>
          <p:cNvPr id="9" name="Text 6"/>
          <p:cNvSpPr/>
          <p:nvPr/>
        </p:nvSpPr>
        <p:spPr>
          <a:xfrm>
            <a:off x="960120" y="1783080"/>
            <a:ext cx="3383280" cy="640080"/>
          </a:xfrm>
          <a:prstGeom prst="rect">
            <a:avLst/>
          </a:prstGeom>
          <a:noFill/>
          <a:ln/>
        </p:spPr>
        <p:txBody>
          <a:bodyPr wrap="square" lIns="0" tIns="0" rIns="0" bIns="0" rtlCol="0" anchor="ctr"/>
          <a:lstStyle/>
          <a:p>
            <a:pPr indent="0" marL="0">
              <a:buNone/>
            </a:pPr>
            <a:r>
              <a:rPr lang="en-US" sz="900" dirty="0">
                <a:solidFill>
                  <a:srgbClr val="8B9DC3"/>
                </a:solidFill>
                <a:latin typeface="Calibri" pitchFamily="34" charset="0"/>
                <a:ea typeface="Calibri" pitchFamily="34" charset="-122"/>
                <a:cs typeface="Calibri" pitchFamily="34" charset="-120"/>
              </a:rPr>
              <a:t>Recognized by ISG Provider Lens® as Leader in both Agentic AI and Generative AI Services — two consecutive years.</a:t>
            </a:r>
            <a:endParaRPr lang="en-US" sz="900" dirty="0"/>
          </a:p>
        </p:txBody>
      </p:sp>
      <p:sp>
        <p:nvSpPr>
          <p:cNvPr id="10" name="Shape 7"/>
          <p:cNvSpPr/>
          <p:nvPr/>
        </p:nvSpPr>
        <p:spPr>
          <a:xfrm>
            <a:off x="4846320" y="1143000"/>
            <a:ext cx="3840480" cy="150876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11" name="Shape 8"/>
          <p:cNvSpPr/>
          <p:nvPr/>
        </p:nvSpPr>
        <p:spPr>
          <a:xfrm>
            <a:off x="4846320" y="1143000"/>
            <a:ext cx="54864" cy="1508760"/>
          </a:xfrm>
          <a:prstGeom prst="rect">
            <a:avLst/>
          </a:prstGeom>
          <a:solidFill>
            <a:srgbClr val="00D4FF"/>
          </a:solidFill>
          <a:ln/>
        </p:spPr>
      </p:sp>
      <p:pic>
        <p:nvPicPr>
          <p:cNvPr id="12" name="Image 1" descr="preencoded.png">    </p:cNvPr>
          <p:cNvPicPr>
            <a:picLocks noChangeAspect="1"/>
          </p:cNvPicPr>
          <p:nvPr/>
        </p:nvPicPr>
        <p:blipFill>
          <a:blip r:embed="rId2"/>
          <a:stretch>
            <a:fillRect/>
          </a:stretch>
        </p:blipFill>
        <p:spPr>
          <a:xfrm>
            <a:off x="5074920" y="1325880"/>
            <a:ext cx="320040" cy="320040"/>
          </a:xfrm>
          <a:prstGeom prst="rect">
            <a:avLst/>
          </a:prstGeom>
        </p:spPr>
      </p:pic>
      <p:sp>
        <p:nvSpPr>
          <p:cNvPr id="13" name="Text 9"/>
          <p:cNvSpPr/>
          <p:nvPr/>
        </p:nvSpPr>
        <p:spPr>
          <a:xfrm>
            <a:off x="5532120" y="1325880"/>
            <a:ext cx="292608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Smart AI Agent™ Ecosystem</a:t>
            </a:r>
            <a:endParaRPr lang="en-US" sz="1200" dirty="0"/>
          </a:p>
        </p:txBody>
      </p:sp>
      <p:sp>
        <p:nvSpPr>
          <p:cNvPr id="14" name="Text 10"/>
          <p:cNvSpPr/>
          <p:nvPr/>
        </p:nvSpPr>
        <p:spPr>
          <a:xfrm>
            <a:off x="5074920" y="1783080"/>
            <a:ext cx="3383280" cy="640080"/>
          </a:xfrm>
          <a:prstGeom prst="rect">
            <a:avLst/>
          </a:prstGeom>
          <a:noFill/>
          <a:ln/>
        </p:spPr>
        <p:txBody>
          <a:bodyPr wrap="square" lIns="0" tIns="0" rIns="0" bIns="0" rtlCol="0" anchor="ctr"/>
          <a:lstStyle/>
          <a:p>
            <a:pPr indent="0" marL="0">
              <a:buNone/>
            </a:pPr>
            <a:r>
              <a:rPr lang="en-US" sz="900" dirty="0">
                <a:solidFill>
                  <a:srgbClr val="8B9DC3"/>
                </a:solidFill>
                <a:latin typeface="Calibri" pitchFamily="34" charset="0"/>
                <a:ea typeface="Calibri" pitchFamily="34" charset="-122"/>
                <a:cs typeface="Calibri" pitchFamily="34" charset="-120"/>
              </a:rPr>
              <a:t>Proprietary full-stack: infrastructure, orchestration, development, observability. Client Zero tested.</a:t>
            </a:r>
            <a:endParaRPr lang="en-US" sz="900" dirty="0"/>
          </a:p>
        </p:txBody>
      </p:sp>
      <p:sp>
        <p:nvSpPr>
          <p:cNvPr id="15" name="Shape 11"/>
          <p:cNvSpPr/>
          <p:nvPr/>
        </p:nvSpPr>
        <p:spPr>
          <a:xfrm>
            <a:off x="731520" y="2834640"/>
            <a:ext cx="3840480" cy="150876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16" name="Shape 12"/>
          <p:cNvSpPr/>
          <p:nvPr/>
        </p:nvSpPr>
        <p:spPr>
          <a:xfrm>
            <a:off x="731520" y="2834640"/>
            <a:ext cx="54864" cy="1508760"/>
          </a:xfrm>
          <a:prstGeom prst="rect">
            <a:avLst/>
          </a:prstGeom>
          <a:solidFill>
            <a:srgbClr val="0072BC"/>
          </a:solidFill>
          <a:ln/>
        </p:spPr>
      </p:sp>
      <p:pic>
        <p:nvPicPr>
          <p:cNvPr id="17" name="Image 2" descr="preencoded.png">    </p:cNvPr>
          <p:cNvPicPr>
            <a:picLocks noChangeAspect="1"/>
          </p:cNvPicPr>
          <p:nvPr/>
        </p:nvPicPr>
        <p:blipFill>
          <a:blip r:embed="rId3"/>
          <a:stretch>
            <a:fillRect/>
          </a:stretch>
        </p:blipFill>
        <p:spPr>
          <a:xfrm>
            <a:off x="960120" y="3017520"/>
            <a:ext cx="320040" cy="320040"/>
          </a:xfrm>
          <a:prstGeom prst="rect">
            <a:avLst/>
          </a:prstGeom>
        </p:spPr>
      </p:pic>
      <p:sp>
        <p:nvSpPr>
          <p:cNvPr id="18" name="Text 13"/>
          <p:cNvSpPr/>
          <p:nvPr/>
        </p:nvSpPr>
        <p:spPr>
          <a:xfrm>
            <a:off x="1417320" y="3017520"/>
            <a:ext cx="292608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10,000+ D&amp;A Professionals</a:t>
            </a:r>
            <a:endParaRPr lang="en-US" sz="1200" dirty="0"/>
          </a:p>
        </p:txBody>
      </p:sp>
      <p:sp>
        <p:nvSpPr>
          <p:cNvPr id="19" name="Text 14"/>
          <p:cNvSpPr/>
          <p:nvPr/>
        </p:nvSpPr>
        <p:spPr>
          <a:xfrm>
            <a:off x="960120" y="3474720"/>
            <a:ext cx="3383280" cy="640080"/>
          </a:xfrm>
          <a:prstGeom prst="rect">
            <a:avLst/>
          </a:prstGeom>
          <a:noFill/>
          <a:ln/>
        </p:spPr>
        <p:txBody>
          <a:bodyPr wrap="square" lIns="0" tIns="0" rIns="0" bIns="0" rtlCol="0" anchor="ctr"/>
          <a:lstStyle/>
          <a:p>
            <a:pPr indent="0" marL="0">
              <a:buNone/>
            </a:pPr>
            <a:r>
              <a:rPr lang="en-US" sz="900" dirty="0">
                <a:solidFill>
                  <a:srgbClr val="8B9DC3"/>
                </a:solidFill>
                <a:latin typeface="Calibri" pitchFamily="34" charset="0"/>
                <a:ea typeface="Calibri" pitchFamily="34" charset="-122"/>
                <a:cs typeface="Calibri" pitchFamily="34" charset="-120"/>
              </a:rPr>
              <a:t>Global scale across 35+ countries with deep local expertise in your sector and region.</a:t>
            </a:r>
            <a:endParaRPr lang="en-US" sz="900" dirty="0"/>
          </a:p>
        </p:txBody>
      </p:sp>
      <p:sp>
        <p:nvSpPr>
          <p:cNvPr id="20" name="Shape 15"/>
          <p:cNvSpPr/>
          <p:nvPr/>
        </p:nvSpPr>
        <p:spPr>
          <a:xfrm>
            <a:off x="4846320" y="2834640"/>
            <a:ext cx="3840480" cy="1508760"/>
          </a:xfrm>
          <a:prstGeom prst="rect">
            <a:avLst/>
          </a:prstGeom>
          <a:solidFill>
            <a:srgbClr val="131D33"/>
          </a:solidFill>
          <a:ln/>
          <a:effectLst>
            <a:outerShdw sx="100000" sy="100000" kx="0" ky="0" algn="bl" rotWithShape="0" blurRad="76200" dist="25400" dir="8100000">
              <a:srgbClr val="000000">
                <a:alpha val="12000"/>
              </a:srgbClr>
            </a:outerShdw>
          </a:effectLst>
        </p:spPr>
      </p:sp>
      <p:sp>
        <p:nvSpPr>
          <p:cNvPr id="21" name="Shape 16"/>
          <p:cNvSpPr/>
          <p:nvPr/>
        </p:nvSpPr>
        <p:spPr>
          <a:xfrm>
            <a:off x="4846320" y="2834640"/>
            <a:ext cx="54864" cy="1508760"/>
          </a:xfrm>
          <a:prstGeom prst="rect">
            <a:avLst/>
          </a:prstGeom>
          <a:solidFill>
            <a:srgbClr val="7B61FF"/>
          </a:solidFill>
          <a:ln/>
        </p:spPr>
      </p:sp>
      <p:pic>
        <p:nvPicPr>
          <p:cNvPr id="22" name="Image 3" descr="preencoded.png">    </p:cNvPr>
          <p:cNvPicPr>
            <a:picLocks noChangeAspect="1"/>
          </p:cNvPicPr>
          <p:nvPr/>
        </p:nvPicPr>
        <p:blipFill>
          <a:blip r:embed="rId4"/>
          <a:stretch>
            <a:fillRect/>
          </a:stretch>
        </p:blipFill>
        <p:spPr>
          <a:xfrm>
            <a:off x="5074920" y="3017520"/>
            <a:ext cx="320040" cy="320040"/>
          </a:xfrm>
          <a:prstGeom prst="rect">
            <a:avLst/>
          </a:prstGeom>
        </p:spPr>
      </p:pic>
      <p:sp>
        <p:nvSpPr>
          <p:cNvPr id="23" name="Text 17"/>
          <p:cNvSpPr/>
          <p:nvPr/>
        </p:nvSpPr>
        <p:spPr>
          <a:xfrm>
            <a:off x="5532120" y="3017520"/>
            <a:ext cx="292608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Hyperscaler Alliances</a:t>
            </a:r>
            <a:endParaRPr lang="en-US" sz="1200" dirty="0"/>
          </a:p>
        </p:txBody>
      </p:sp>
      <p:sp>
        <p:nvSpPr>
          <p:cNvPr id="24" name="Text 18"/>
          <p:cNvSpPr/>
          <p:nvPr/>
        </p:nvSpPr>
        <p:spPr>
          <a:xfrm>
            <a:off x="5074920" y="3474720"/>
            <a:ext cx="3383280" cy="640080"/>
          </a:xfrm>
          <a:prstGeom prst="rect">
            <a:avLst/>
          </a:prstGeom>
          <a:noFill/>
          <a:ln/>
        </p:spPr>
        <p:txBody>
          <a:bodyPr wrap="square" lIns="0" tIns="0" rIns="0" bIns="0" rtlCol="0" anchor="ctr"/>
          <a:lstStyle/>
          <a:p>
            <a:pPr indent="0" marL="0">
              <a:buNone/>
            </a:pPr>
            <a:r>
              <a:rPr lang="en-US" sz="900" dirty="0">
                <a:solidFill>
                  <a:srgbClr val="8B9DC3"/>
                </a:solidFill>
                <a:latin typeface="Calibri" pitchFamily="34" charset="0"/>
                <a:ea typeface="Calibri" pitchFamily="34" charset="-122"/>
                <a:cs typeface="Calibri" pitchFamily="34" charset="-120"/>
              </a:rPr>
              <a:t>Strategic partnerships with Google Cloud, Microsoft Azure, and AWS. Multi-cloud certified.</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00D4FF"/>
          </a:solidFill>
          <a:ln/>
        </p:spPr>
      </p:sp>
      <p:sp>
        <p:nvSpPr>
          <p:cNvPr id="3" name="Text 1"/>
          <p:cNvSpPr/>
          <p:nvPr/>
        </p:nvSpPr>
        <p:spPr>
          <a:xfrm>
            <a:off x="731520" y="731520"/>
            <a:ext cx="7315200" cy="146304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Let's Build Your</a:t>
            </a:r>
            <a:endParaRPr lang="en-US" sz="3400" dirty="0"/>
          </a:p>
          <a:p>
            <a:pPr indent="0" marL="0">
              <a:buNone/>
            </a:pPr>
            <a:r>
              <a:rPr lang="en-US" sz="3400" b="1" i="1" dirty="0">
                <a:solidFill>
                  <a:srgbClr val="00D4FF"/>
                </a:solidFill>
                <a:latin typeface="Calibri" pitchFamily="34" charset="0"/>
                <a:ea typeface="Calibri" pitchFamily="34" charset="-122"/>
                <a:cs typeface="Calibri" pitchFamily="34" charset="-120"/>
              </a:rPr>
              <a:t>Autonomous Intelligence</a:t>
            </a:r>
            <a:endParaRPr lang="en-US" sz="3400" dirty="0"/>
          </a:p>
        </p:txBody>
      </p:sp>
      <p:sp>
        <p:nvSpPr>
          <p:cNvPr id="4" name="Text 2"/>
          <p:cNvSpPr/>
          <p:nvPr/>
        </p:nvSpPr>
        <p:spPr>
          <a:xfrm>
            <a:off x="731520" y="2286000"/>
            <a:ext cx="3657600" cy="274320"/>
          </a:xfrm>
          <a:prstGeom prst="rect">
            <a:avLst/>
          </a:prstGeom>
          <a:noFill/>
          <a:ln/>
        </p:spPr>
        <p:txBody>
          <a:bodyPr wrap="square" lIns="0" tIns="0" rIns="0" bIns="0" rtlCol="0" anchor="ctr"/>
          <a:lstStyle/>
          <a:p>
            <a:pPr indent="0" marL="0">
              <a:buNone/>
            </a:pPr>
            <a:r>
              <a:rPr lang="en-US" sz="900" b="1" spc="300" kern="0" dirty="0">
                <a:solidFill>
                  <a:srgbClr val="00C9A7"/>
                </a:solidFill>
                <a:latin typeface="Calibri" pitchFamily="34" charset="0"/>
                <a:ea typeface="Calibri" pitchFamily="34" charset="-122"/>
                <a:cs typeface="Calibri" pitchFamily="34" charset="-120"/>
              </a:rPr>
              <a:t>PROPOSED NEXT STEPS</a:t>
            </a:r>
            <a:endParaRPr lang="en-US" sz="900" dirty="0"/>
          </a:p>
        </p:txBody>
      </p:sp>
      <p:sp>
        <p:nvSpPr>
          <p:cNvPr id="5" name="Text 3"/>
          <p:cNvSpPr/>
          <p:nvPr/>
        </p:nvSpPr>
        <p:spPr>
          <a:xfrm>
            <a:off x="731520" y="2651760"/>
            <a:ext cx="365760" cy="320040"/>
          </a:xfrm>
          <a:prstGeom prst="rect">
            <a:avLst/>
          </a:prstGeom>
          <a:noFill/>
          <a:ln/>
        </p:spPr>
        <p:txBody>
          <a:bodyPr wrap="square" lIns="0" tIns="0" rIns="0" bIns="0" rtlCol="0" anchor="ctr"/>
          <a:lstStyle/>
          <a:p>
            <a:pPr indent="0" marL="0">
              <a:buNone/>
            </a:pPr>
            <a:r>
              <a:rPr lang="en-US" sz="1400" b="1" dirty="0">
                <a:solidFill>
                  <a:srgbClr val="00D4FF"/>
                </a:solidFill>
                <a:latin typeface="Calibri" pitchFamily="34" charset="0"/>
                <a:ea typeface="Calibri" pitchFamily="34" charset="-122"/>
                <a:cs typeface="Calibri" pitchFamily="34" charset="-120"/>
              </a:rPr>
              <a:t>01</a:t>
            </a:r>
            <a:endParaRPr lang="en-US" sz="1400" dirty="0"/>
          </a:p>
        </p:txBody>
      </p:sp>
      <p:sp>
        <p:nvSpPr>
          <p:cNvPr id="6" name="Text 4"/>
          <p:cNvSpPr/>
          <p:nvPr/>
        </p:nvSpPr>
        <p:spPr>
          <a:xfrm>
            <a:off x="1280160" y="2651760"/>
            <a:ext cx="6858000" cy="320040"/>
          </a:xfrm>
          <a:prstGeom prst="rect">
            <a:avLst/>
          </a:prstGeom>
          <a:noFill/>
          <a:ln/>
        </p:spPr>
        <p:txBody>
          <a:bodyPr wrap="square" lIns="0" tIns="0" rIns="0" bIns="0" rtlCol="0" anchor="ctr"/>
          <a:lstStyle/>
          <a:p>
            <a:pPr indent="0" marL="0">
              <a:buNone/>
            </a:pPr>
            <a:r>
              <a:rPr lang="en-US" sz="1200" dirty="0">
                <a:solidFill>
                  <a:srgbClr val="8B9DC3"/>
                </a:solidFill>
                <a:latin typeface="Calibri" pitchFamily="34" charset="0"/>
                <a:ea typeface="Calibri" pitchFamily="34" charset="-122"/>
                <a:cs typeface="Calibri" pitchFamily="34" charset="-120"/>
              </a:rPr>
              <a:t>Discovery workshop: align on priority use cases and business domains</a:t>
            </a:r>
            <a:endParaRPr lang="en-US" sz="1200" dirty="0"/>
          </a:p>
        </p:txBody>
      </p:sp>
      <p:sp>
        <p:nvSpPr>
          <p:cNvPr id="7" name="Text 5"/>
          <p:cNvSpPr/>
          <p:nvPr/>
        </p:nvSpPr>
        <p:spPr>
          <a:xfrm>
            <a:off x="731520" y="3063240"/>
            <a:ext cx="365760" cy="320040"/>
          </a:xfrm>
          <a:prstGeom prst="rect">
            <a:avLst/>
          </a:prstGeom>
          <a:noFill/>
          <a:ln/>
        </p:spPr>
        <p:txBody>
          <a:bodyPr wrap="square" lIns="0" tIns="0" rIns="0" bIns="0" rtlCol="0" anchor="ctr"/>
          <a:lstStyle/>
          <a:p>
            <a:pPr indent="0" marL="0">
              <a:buNone/>
            </a:pPr>
            <a:r>
              <a:rPr lang="en-US" sz="1400" b="1" dirty="0">
                <a:solidFill>
                  <a:srgbClr val="00D4FF"/>
                </a:solidFill>
                <a:latin typeface="Calibri" pitchFamily="34" charset="0"/>
                <a:ea typeface="Calibri" pitchFamily="34" charset="-122"/>
                <a:cs typeface="Calibri" pitchFamily="34" charset="-120"/>
              </a:rPr>
              <a:t>02</a:t>
            </a:r>
            <a:endParaRPr lang="en-US" sz="1400" dirty="0"/>
          </a:p>
        </p:txBody>
      </p:sp>
      <p:sp>
        <p:nvSpPr>
          <p:cNvPr id="8" name="Text 6"/>
          <p:cNvSpPr/>
          <p:nvPr/>
        </p:nvSpPr>
        <p:spPr>
          <a:xfrm>
            <a:off x="1280160" y="3063240"/>
            <a:ext cx="6858000" cy="320040"/>
          </a:xfrm>
          <a:prstGeom prst="rect">
            <a:avLst/>
          </a:prstGeom>
          <a:noFill/>
          <a:ln/>
        </p:spPr>
        <p:txBody>
          <a:bodyPr wrap="square" lIns="0" tIns="0" rIns="0" bIns="0" rtlCol="0" anchor="ctr"/>
          <a:lstStyle/>
          <a:p>
            <a:pPr indent="0" marL="0">
              <a:buNone/>
            </a:pPr>
            <a:r>
              <a:rPr lang="en-US" sz="1200" dirty="0">
                <a:solidFill>
                  <a:srgbClr val="8B9DC3"/>
                </a:solidFill>
                <a:latin typeface="Calibri" pitchFamily="34" charset="0"/>
                <a:ea typeface="Calibri" pitchFamily="34" charset="-122"/>
                <a:cs typeface="Calibri" pitchFamily="34" charset="-120"/>
              </a:rPr>
              <a:t>Launch 4-week Rapid PoC on highest-impact opportunity</a:t>
            </a:r>
            <a:endParaRPr lang="en-US" sz="1200" dirty="0"/>
          </a:p>
        </p:txBody>
      </p:sp>
      <p:sp>
        <p:nvSpPr>
          <p:cNvPr id="9" name="Text 7"/>
          <p:cNvSpPr/>
          <p:nvPr/>
        </p:nvSpPr>
        <p:spPr>
          <a:xfrm>
            <a:off x="731520" y="3474720"/>
            <a:ext cx="365760" cy="320040"/>
          </a:xfrm>
          <a:prstGeom prst="rect">
            <a:avLst/>
          </a:prstGeom>
          <a:noFill/>
          <a:ln/>
        </p:spPr>
        <p:txBody>
          <a:bodyPr wrap="square" lIns="0" tIns="0" rIns="0" bIns="0" rtlCol="0" anchor="ctr"/>
          <a:lstStyle/>
          <a:p>
            <a:pPr indent="0" marL="0">
              <a:buNone/>
            </a:pPr>
            <a:r>
              <a:rPr lang="en-US" sz="1400" b="1" dirty="0">
                <a:solidFill>
                  <a:srgbClr val="00D4FF"/>
                </a:solidFill>
                <a:latin typeface="Calibri" pitchFamily="34" charset="0"/>
                <a:ea typeface="Calibri" pitchFamily="34" charset="-122"/>
                <a:cs typeface="Calibri" pitchFamily="34" charset="-120"/>
              </a:rPr>
              <a:t>03</a:t>
            </a:r>
            <a:endParaRPr lang="en-US" sz="1400" dirty="0"/>
          </a:p>
        </p:txBody>
      </p:sp>
      <p:sp>
        <p:nvSpPr>
          <p:cNvPr id="10" name="Text 8"/>
          <p:cNvSpPr/>
          <p:nvPr/>
        </p:nvSpPr>
        <p:spPr>
          <a:xfrm>
            <a:off x="1280160" y="3474720"/>
            <a:ext cx="6858000" cy="320040"/>
          </a:xfrm>
          <a:prstGeom prst="rect">
            <a:avLst/>
          </a:prstGeom>
          <a:noFill/>
          <a:ln/>
        </p:spPr>
        <p:txBody>
          <a:bodyPr wrap="square" lIns="0" tIns="0" rIns="0" bIns="0" rtlCol="0" anchor="ctr"/>
          <a:lstStyle/>
          <a:p>
            <a:pPr indent="0" marL="0">
              <a:buNone/>
            </a:pPr>
            <a:r>
              <a:rPr lang="en-US" sz="1200" dirty="0">
                <a:solidFill>
                  <a:srgbClr val="8B9DC3"/>
                </a:solidFill>
                <a:latin typeface="Calibri" pitchFamily="34" charset="0"/>
                <a:ea typeface="Calibri" pitchFamily="34" charset="-122"/>
                <a:cs typeface="Calibri" pitchFamily="34" charset="-120"/>
              </a:rPr>
              <a:t>Build business case with measurable ROI from PoC results</a:t>
            </a:r>
            <a:endParaRPr lang="en-US" sz="1200" dirty="0"/>
          </a:p>
        </p:txBody>
      </p:sp>
      <p:sp>
        <p:nvSpPr>
          <p:cNvPr id="11" name="Text 9"/>
          <p:cNvSpPr/>
          <p:nvPr/>
        </p:nvSpPr>
        <p:spPr>
          <a:xfrm>
            <a:off x="731520" y="3886200"/>
            <a:ext cx="365760" cy="320040"/>
          </a:xfrm>
          <a:prstGeom prst="rect">
            <a:avLst/>
          </a:prstGeom>
          <a:noFill/>
          <a:ln/>
        </p:spPr>
        <p:txBody>
          <a:bodyPr wrap="square" lIns="0" tIns="0" rIns="0" bIns="0" rtlCol="0" anchor="ctr"/>
          <a:lstStyle/>
          <a:p>
            <a:pPr indent="0" marL="0">
              <a:buNone/>
            </a:pPr>
            <a:r>
              <a:rPr lang="en-US" sz="1400" b="1" dirty="0">
                <a:solidFill>
                  <a:srgbClr val="00D4FF"/>
                </a:solidFill>
                <a:latin typeface="Calibri" pitchFamily="34" charset="0"/>
                <a:ea typeface="Calibri" pitchFamily="34" charset="-122"/>
                <a:cs typeface="Calibri" pitchFamily="34" charset="-120"/>
              </a:rPr>
              <a:t>04</a:t>
            </a:r>
            <a:endParaRPr lang="en-US" sz="1400" dirty="0"/>
          </a:p>
        </p:txBody>
      </p:sp>
      <p:sp>
        <p:nvSpPr>
          <p:cNvPr id="12" name="Text 10"/>
          <p:cNvSpPr/>
          <p:nvPr/>
        </p:nvSpPr>
        <p:spPr>
          <a:xfrm>
            <a:off x="1280160" y="3886200"/>
            <a:ext cx="6858000" cy="320040"/>
          </a:xfrm>
          <a:prstGeom prst="rect">
            <a:avLst/>
          </a:prstGeom>
          <a:noFill/>
          <a:ln/>
        </p:spPr>
        <p:txBody>
          <a:bodyPr wrap="square" lIns="0" tIns="0" rIns="0" bIns="0" rtlCol="0" anchor="ctr"/>
          <a:lstStyle/>
          <a:p>
            <a:pPr indent="0" marL="0">
              <a:buNone/>
            </a:pPr>
            <a:r>
              <a:rPr lang="en-US" sz="1200" dirty="0">
                <a:solidFill>
                  <a:srgbClr val="8B9DC3"/>
                </a:solidFill>
                <a:latin typeface="Calibri" pitchFamily="34" charset="0"/>
                <a:ea typeface="Calibri" pitchFamily="34" charset="-122"/>
                <a:cs typeface="Calibri" pitchFamily="34" charset="-120"/>
              </a:rPr>
              <a:t>Define transformation roadmap and long-term partnership model</a:t>
            </a:r>
            <a:endParaRPr lang="en-US" sz="1200" dirty="0"/>
          </a:p>
        </p:txBody>
      </p:sp>
      <p:sp>
        <p:nvSpPr>
          <p:cNvPr id="13" name="Shape 11"/>
          <p:cNvSpPr/>
          <p:nvPr/>
        </p:nvSpPr>
        <p:spPr>
          <a:xfrm>
            <a:off x="0" y="4389120"/>
            <a:ext cx="9144000" cy="754380"/>
          </a:xfrm>
          <a:prstGeom prst="rect">
            <a:avLst/>
          </a:prstGeom>
          <a:solidFill>
            <a:srgbClr val="0D1F3C"/>
          </a:solidFill>
          <a:ln/>
        </p:spPr>
      </p:sp>
      <p:sp>
        <p:nvSpPr>
          <p:cNvPr id="14" name="Text 12"/>
          <p:cNvSpPr/>
          <p:nvPr/>
        </p:nvSpPr>
        <p:spPr>
          <a:xfrm>
            <a:off x="731520" y="4526280"/>
            <a:ext cx="3657600" cy="320040"/>
          </a:xfrm>
          <a:prstGeom prst="rect">
            <a:avLst/>
          </a:prstGeom>
          <a:noFill/>
          <a:ln/>
        </p:spPr>
        <p:txBody>
          <a:bodyPr wrap="square" lIns="0" tIns="0" rIns="0" bIns="0" rtlCol="0" anchor="ctr"/>
          <a:lstStyle/>
          <a:p>
            <a:pPr indent="0" marL="0">
              <a:buNone/>
            </a:pPr>
            <a:r>
              <a:rPr lang="en-US" sz="1000" b="1" dirty="0">
                <a:solidFill>
                  <a:srgbClr val="8B9DC3"/>
                </a:solidFill>
                <a:latin typeface="Calibri" pitchFamily="34" charset="0"/>
                <a:ea typeface="Calibri" pitchFamily="34" charset="-122"/>
                <a:cs typeface="Calibri" pitchFamily="34" charset="-120"/>
              </a:rPr>
              <a:t>NTT DATA  ·  Autonomous Intelligence</a:t>
            </a:r>
            <a:endParaRPr lang="en-US" sz="1000" dirty="0"/>
          </a:p>
        </p:txBody>
      </p:sp>
      <p:sp>
        <p:nvSpPr>
          <p:cNvPr id="15" name="Text 13"/>
          <p:cNvSpPr/>
          <p:nvPr/>
        </p:nvSpPr>
        <p:spPr>
          <a:xfrm>
            <a:off x="4572000" y="4526280"/>
            <a:ext cx="3840480" cy="320040"/>
          </a:xfrm>
          <a:prstGeom prst="rect">
            <a:avLst/>
          </a:prstGeom>
          <a:noFill/>
          <a:ln/>
        </p:spPr>
        <p:txBody>
          <a:bodyPr wrap="square" lIns="0" tIns="0" rIns="0" bIns="0" rtlCol="0" anchor="ctr"/>
          <a:lstStyle/>
          <a:p>
            <a:pPr algn="r" indent="0" marL="0">
              <a:buNone/>
            </a:pPr>
            <a:r>
              <a:rPr lang="en-US" sz="900" dirty="0">
                <a:solidFill>
                  <a:srgbClr val="5A6F94"/>
                </a:solidFill>
                <a:latin typeface="Calibri" pitchFamily="34" charset="0"/>
                <a:ea typeface="Calibri" pitchFamily="34" charset="-122"/>
                <a:cs typeface="Calibri" pitchFamily="34" charset="-120"/>
              </a:rPr>
              <a:t>© 2026 NTT DATA, Inc.</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Autonomous Intelligence - Data &amp; Analytics</dc:title>
  <dc:subject>PptxGenJS Presentation</dc:subject>
  <dc:creator>NTT DATA</dc:creator>
  <cp:lastModifiedBy>NTT DATA</cp:lastModifiedBy>
  <cp:revision>1</cp:revision>
  <dcterms:created xsi:type="dcterms:W3CDTF">2026-02-23T15:09:49Z</dcterms:created>
  <dcterms:modified xsi:type="dcterms:W3CDTF">2026-02-23T15:09:49Z</dcterms:modified>
</cp:coreProperties>
</file>