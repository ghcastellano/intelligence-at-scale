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457200"/>
            <a:ext cx="7315200" cy="320040"/>
          </a:xfrm>
          <a:prstGeom prst="rect">
            <a:avLst/>
          </a:prstGeom>
          <a:noFill/>
          <a:ln/>
        </p:spPr>
        <p:txBody>
          <a:bodyPr wrap="square" lIns="0" tIns="0" rIns="0" bIns="0" rtlCol="0" anchor="ctr"/>
          <a:lstStyle/>
          <a:p>
            <a:pPr indent="0" marL="0">
              <a:buNone/>
            </a:pPr>
            <a:r>
              <a:rPr lang="en-US" sz="900" b="1" spc="400" kern="0" dirty="0">
                <a:solidFill>
                  <a:srgbClr val="00D4FF"/>
                </a:solidFill>
                <a:latin typeface="Calibri" pitchFamily="34" charset="0"/>
                <a:ea typeface="Calibri" pitchFamily="34" charset="-122"/>
                <a:cs typeface="Calibri" pitchFamily="34" charset="-120"/>
              </a:rPr>
              <a:t>NTT DATA  ·  DATA &amp; ANALYTICS</a:t>
            </a:r>
            <a:endParaRPr lang="en-US" sz="900" dirty="0"/>
          </a:p>
        </p:txBody>
      </p:sp>
      <p:sp>
        <p:nvSpPr>
          <p:cNvPr id="4" name="Text 2"/>
          <p:cNvSpPr/>
          <p:nvPr/>
        </p:nvSpPr>
        <p:spPr>
          <a:xfrm>
            <a:off x="731520" y="1188720"/>
            <a:ext cx="7315200" cy="2194560"/>
          </a:xfrm>
          <a:prstGeom prst="rect">
            <a:avLst/>
          </a:prstGeom>
          <a:noFill/>
          <a:ln/>
        </p:spPr>
        <p:txBody>
          <a:bodyPr wrap="square" lIns="0" tIns="0" rIns="0" bIns="0" rtlCol="0" anchor="ctr"/>
          <a:lstStyle/>
          <a:p>
            <a:pPr indent="0" marL="0">
              <a:buNone/>
            </a:pPr>
            <a:r>
              <a:rPr lang="en-US" sz="4400" b="1" i="1" dirty="0">
                <a:solidFill>
                  <a:srgbClr val="00D4FF"/>
                </a:solidFill>
                <a:latin typeface="Calibri" pitchFamily="34" charset="0"/>
                <a:ea typeface="Calibri" pitchFamily="34" charset="-122"/>
                <a:cs typeface="Calibri" pitchFamily="34" charset="-120"/>
              </a:rPr>
              <a:t>Autonomous</a:t>
            </a:r>
            <a:endParaRPr lang="en-US" sz="4400" dirty="0"/>
          </a:p>
          <a:p>
            <a:pPr indent="0" marL="0">
              <a:buNone/>
            </a:pPr>
            <a:r>
              <a:rPr lang="en-US" sz="4400" b="1" dirty="0">
                <a:solidFill>
                  <a:srgbClr val="FFFFFF"/>
                </a:solidFill>
                <a:latin typeface="Calibri" pitchFamily="34" charset="0"/>
                <a:ea typeface="Calibri" pitchFamily="34" charset="-122"/>
                <a:cs typeface="Calibri" pitchFamily="34" charset="-120"/>
              </a:rPr>
              <a:t>Intelligence</a:t>
            </a:r>
            <a:endParaRPr lang="en-US" sz="4400" dirty="0"/>
          </a:p>
        </p:txBody>
      </p:sp>
      <p:sp>
        <p:nvSpPr>
          <p:cNvPr id="5" name="Text 3"/>
          <p:cNvSpPr/>
          <p:nvPr/>
        </p:nvSpPr>
        <p:spPr>
          <a:xfrm>
            <a:off x="731520" y="3200400"/>
            <a:ext cx="6400800" cy="640080"/>
          </a:xfrm>
          <a:prstGeom prst="rect">
            <a:avLst/>
          </a:prstGeom>
          <a:noFill/>
          <a:ln/>
        </p:spPr>
        <p:txBody>
          <a:bodyPr wrap="square" lIns="0" tIns="0" rIns="0" bIns="0" rtlCol="0" anchor="ctr"/>
          <a:lstStyle/>
          <a:p>
            <a:pPr indent="0" marL="0">
              <a:buNone/>
            </a:pPr>
            <a:r>
              <a:rPr lang="en-US" sz="1300" dirty="0">
                <a:solidFill>
                  <a:srgbClr val="8B9DC3"/>
                </a:solidFill>
                <a:latin typeface="Calibri" pitchFamily="34" charset="0"/>
                <a:ea typeface="Calibri" pitchFamily="34" charset="-122"/>
                <a:cs typeface="Calibri" pitchFamily="34" charset="-120"/>
              </a:rPr>
              <a:t>AI-Native Data &amp; Analytics for the Enterprise  |  Accelerating decisions through intelligent automation, agentic AI, and governed data platforms.</a:t>
            </a:r>
            <a:endParaRPr lang="en-US" sz="1300" dirty="0"/>
          </a:p>
        </p:txBody>
      </p:sp>
      <p:sp>
        <p:nvSpPr>
          <p:cNvPr id="6" name="Shape 4"/>
          <p:cNvSpPr/>
          <p:nvPr/>
        </p:nvSpPr>
        <p:spPr>
          <a:xfrm>
            <a:off x="0" y="4389120"/>
            <a:ext cx="9144000" cy="754380"/>
          </a:xfrm>
          <a:prstGeom prst="rect">
            <a:avLst/>
          </a:prstGeom>
          <a:solidFill>
            <a:srgbClr val="0D1F3C"/>
          </a:solidFill>
          <a:ln/>
        </p:spPr>
      </p:sp>
      <p:sp>
        <p:nvSpPr>
          <p:cNvPr id="7" name="Text 5"/>
          <p:cNvSpPr/>
          <p:nvPr/>
        </p:nvSpPr>
        <p:spPr>
          <a:xfrm>
            <a:off x="731520" y="4526280"/>
            <a:ext cx="3657600" cy="365760"/>
          </a:xfrm>
          <a:prstGeom prst="rect">
            <a:avLst/>
          </a:prstGeom>
          <a:noFill/>
          <a:ln/>
        </p:spPr>
        <p:txBody>
          <a:bodyPr wrap="square" lIns="0" tIns="0" rIns="0" bIns="0" rtlCol="0" anchor="ctr"/>
          <a:lstStyle/>
          <a:p>
            <a:pPr indent="0" marL="0">
              <a:buNone/>
            </a:pPr>
            <a:r>
              <a:rPr lang="en-US" sz="900" dirty="0">
                <a:solidFill>
                  <a:srgbClr val="5A6F94"/>
                </a:solidFill>
                <a:latin typeface="Calibri" pitchFamily="34" charset="0"/>
                <a:ea typeface="Calibri" pitchFamily="34" charset="-122"/>
                <a:cs typeface="Calibri" pitchFamily="34" charset="-120"/>
              </a:rPr>
              <a:t>Confidential  ·  Client Presentation</a:t>
            </a:r>
            <a:endParaRPr lang="en-US" sz="900" dirty="0"/>
          </a:p>
        </p:txBody>
      </p:sp>
      <p:sp>
        <p:nvSpPr>
          <p:cNvPr id="8" name="Text 6"/>
          <p:cNvSpPr/>
          <p:nvPr/>
        </p:nvSpPr>
        <p:spPr>
          <a:xfrm>
            <a:off x="4572000" y="4526280"/>
            <a:ext cx="3840480" cy="365760"/>
          </a:xfrm>
          <a:prstGeom prst="rect">
            <a:avLst/>
          </a:prstGeom>
          <a:noFill/>
          <a:ln/>
        </p:spPr>
        <p:txBody>
          <a:bodyPr wrap="square" lIns="0" tIns="0" rIns="0" bIns="0" rtlCol="0" anchor="ctr"/>
          <a:lstStyle/>
          <a:p>
            <a:pPr algn="r" indent="0" marL="0">
              <a:buNone/>
            </a:pPr>
            <a:r>
              <a:rPr lang="en-US" sz="900" dirty="0">
                <a:solidFill>
                  <a:srgbClr val="5A6F94"/>
                </a:solidFill>
                <a:latin typeface="Calibri" pitchFamily="34" charset="0"/>
                <a:ea typeface="Calibri" pitchFamily="34" charset="-122"/>
                <a:cs typeface="Calibri" pitchFamily="34" charset="-120"/>
              </a:rPr>
              <a:t>© 2026 NTT DATA, Inc.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THE CHALLENGE</a:t>
            </a:r>
            <a:endParaRPr lang="en-US" sz="900" dirty="0"/>
          </a:p>
        </p:txBody>
      </p:sp>
      <p:sp>
        <p:nvSpPr>
          <p:cNvPr id="4" name="Text 2"/>
          <p:cNvSpPr/>
          <p:nvPr/>
        </p:nvSpPr>
        <p:spPr>
          <a:xfrm>
            <a:off x="731520" y="594360"/>
            <a:ext cx="7680960" cy="54864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Your Data Is Talking. Is Anyone Listening?</a:t>
            </a:r>
            <a:endParaRPr lang="en-US" sz="2600" dirty="0"/>
          </a:p>
        </p:txBody>
      </p:sp>
      <p:sp>
        <p:nvSpPr>
          <p:cNvPr id="5" name="Text 3"/>
          <p:cNvSpPr/>
          <p:nvPr/>
        </p:nvSpPr>
        <p:spPr>
          <a:xfrm>
            <a:off x="731520" y="1280160"/>
            <a:ext cx="7680960" cy="640080"/>
          </a:xfrm>
          <a:prstGeom prst="rect">
            <a:avLst/>
          </a:prstGeom>
          <a:noFill/>
          <a:ln/>
        </p:spPr>
        <p:txBody>
          <a:bodyPr wrap="square" lIns="0" tIns="0" rIns="0" bIns="0" rtlCol="0" anchor="ctr"/>
          <a:lstStyle/>
          <a:p>
            <a:pPr indent="0" marL="0">
              <a:buNone/>
            </a:pPr>
            <a:r>
              <a:rPr lang="en-US" sz="1100" dirty="0">
                <a:solidFill>
                  <a:srgbClr val="8B9DC3"/>
                </a:solidFill>
                <a:latin typeface="Calibri" pitchFamily="34" charset="0"/>
                <a:ea typeface="Calibri" pitchFamily="34" charset="-122"/>
                <a:cs typeface="Calibri" pitchFamily="34" charset="-120"/>
              </a:rPr>
              <a:t>Most enterprises sit on vast amounts of data but still make decisions based on intuition, outdated reports, or siloed insights. The gap between having data and acting on it intelligently is where competitive advantage is lost.</a:t>
            </a:r>
            <a:endParaRPr lang="en-US" sz="1100" dirty="0"/>
          </a:p>
        </p:txBody>
      </p:sp>
      <p:sp>
        <p:nvSpPr>
          <p:cNvPr id="6" name="Shape 4"/>
          <p:cNvSpPr/>
          <p:nvPr/>
        </p:nvSpPr>
        <p:spPr>
          <a:xfrm>
            <a:off x="731520" y="2148840"/>
            <a:ext cx="1874520" cy="13716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7" name="Text 5"/>
          <p:cNvSpPr/>
          <p:nvPr/>
        </p:nvSpPr>
        <p:spPr>
          <a:xfrm>
            <a:off x="731520" y="2240280"/>
            <a:ext cx="1874520" cy="640080"/>
          </a:xfrm>
          <a:prstGeom prst="rect">
            <a:avLst/>
          </a:prstGeom>
          <a:noFill/>
          <a:ln/>
        </p:spPr>
        <p:txBody>
          <a:bodyPr wrap="square" lIns="0" tIns="0" rIns="0" bIns="0" rtlCol="0" anchor="ctr"/>
          <a:lstStyle/>
          <a:p>
            <a:pPr algn="ctr" indent="0" marL="0">
              <a:buNone/>
            </a:pPr>
            <a:r>
              <a:rPr lang="en-US" sz="3000" b="1" dirty="0">
                <a:solidFill>
                  <a:srgbClr val="00D4FF"/>
                </a:solidFill>
                <a:latin typeface="Calibri" pitchFamily="34" charset="0"/>
                <a:ea typeface="Calibri" pitchFamily="34" charset="-122"/>
                <a:cs typeface="Calibri" pitchFamily="34" charset="-120"/>
              </a:rPr>
              <a:t>95%</a:t>
            </a:r>
            <a:endParaRPr lang="en-US" sz="3000" dirty="0"/>
          </a:p>
        </p:txBody>
      </p:sp>
      <p:sp>
        <p:nvSpPr>
          <p:cNvPr id="8" name="Text 6"/>
          <p:cNvSpPr/>
          <p:nvPr/>
        </p:nvSpPr>
        <p:spPr>
          <a:xfrm>
            <a:off x="731520" y="2834640"/>
            <a:ext cx="1874520" cy="594360"/>
          </a:xfrm>
          <a:prstGeom prst="rect">
            <a:avLst/>
          </a:prstGeom>
          <a:noFill/>
          <a:ln/>
        </p:spPr>
        <p:txBody>
          <a:bodyPr wrap="square" lIns="0" tIns="0" rIns="0" bIns="0" rtlCol="0" anchor="ctr"/>
          <a:lstStyle/>
          <a:p>
            <a:pPr algn="ctr" indent="0" marL="0">
              <a:buNone/>
            </a:pPr>
            <a:r>
              <a:rPr lang="en-US" sz="850" dirty="0">
                <a:solidFill>
                  <a:srgbClr val="8B9DC3"/>
                </a:solidFill>
                <a:latin typeface="Calibri" pitchFamily="34" charset="0"/>
                <a:ea typeface="Calibri" pitchFamily="34" charset="-122"/>
                <a:cs typeface="Calibri" pitchFamily="34" charset="-120"/>
              </a:rPr>
              <a:t>of organizations see</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zero return on AI</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investment (MIT)</a:t>
            </a:r>
            <a:endParaRPr lang="en-US" sz="850" dirty="0"/>
          </a:p>
        </p:txBody>
      </p:sp>
      <p:sp>
        <p:nvSpPr>
          <p:cNvPr id="9" name="Shape 7"/>
          <p:cNvSpPr/>
          <p:nvPr/>
        </p:nvSpPr>
        <p:spPr>
          <a:xfrm>
            <a:off x="2788920" y="2148840"/>
            <a:ext cx="1874520" cy="13716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0" name="Text 8"/>
          <p:cNvSpPr/>
          <p:nvPr/>
        </p:nvSpPr>
        <p:spPr>
          <a:xfrm>
            <a:off x="2788920" y="2240280"/>
            <a:ext cx="1874520" cy="640080"/>
          </a:xfrm>
          <a:prstGeom prst="rect">
            <a:avLst/>
          </a:prstGeom>
          <a:noFill/>
          <a:ln/>
        </p:spPr>
        <p:txBody>
          <a:bodyPr wrap="square" lIns="0" tIns="0" rIns="0" bIns="0" rtlCol="0" anchor="ctr"/>
          <a:lstStyle/>
          <a:p>
            <a:pPr algn="ctr" indent="0" marL="0">
              <a:buNone/>
            </a:pPr>
            <a:r>
              <a:rPr lang="en-US" sz="3000" b="1" dirty="0">
                <a:solidFill>
                  <a:srgbClr val="00D4FF"/>
                </a:solidFill>
                <a:latin typeface="Calibri" pitchFamily="34" charset="0"/>
                <a:ea typeface="Calibri" pitchFamily="34" charset="-122"/>
                <a:cs typeface="Calibri" pitchFamily="34" charset="-120"/>
              </a:rPr>
              <a:t>40%+</a:t>
            </a:r>
            <a:endParaRPr lang="en-US" sz="3000" dirty="0"/>
          </a:p>
        </p:txBody>
      </p:sp>
      <p:sp>
        <p:nvSpPr>
          <p:cNvPr id="11" name="Text 9"/>
          <p:cNvSpPr/>
          <p:nvPr/>
        </p:nvSpPr>
        <p:spPr>
          <a:xfrm>
            <a:off x="2788920" y="2834640"/>
            <a:ext cx="1874520" cy="594360"/>
          </a:xfrm>
          <a:prstGeom prst="rect">
            <a:avLst/>
          </a:prstGeom>
          <a:noFill/>
          <a:ln/>
        </p:spPr>
        <p:txBody>
          <a:bodyPr wrap="square" lIns="0" tIns="0" rIns="0" bIns="0" rtlCol="0" anchor="ctr"/>
          <a:lstStyle/>
          <a:p>
            <a:pPr algn="ctr" indent="0" marL="0">
              <a:buNone/>
            </a:pPr>
            <a:r>
              <a:rPr lang="en-US" sz="850" dirty="0">
                <a:solidFill>
                  <a:srgbClr val="8B9DC3"/>
                </a:solidFill>
                <a:latin typeface="Calibri" pitchFamily="34" charset="0"/>
                <a:ea typeface="Calibri" pitchFamily="34" charset="-122"/>
                <a:cs typeface="Calibri" pitchFamily="34" charset="-120"/>
              </a:rPr>
              <a:t>of agentic AI projects</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will be scrapped by</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2027 (Gartner)</a:t>
            </a:r>
            <a:endParaRPr lang="en-US" sz="850" dirty="0"/>
          </a:p>
        </p:txBody>
      </p:sp>
      <p:sp>
        <p:nvSpPr>
          <p:cNvPr id="12" name="Shape 10"/>
          <p:cNvSpPr/>
          <p:nvPr/>
        </p:nvSpPr>
        <p:spPr>
          <a:xfrm>
            <a:off x="4846320" y="2148840"/>
            <a:ext cx="1874520" cy="13716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3" name="Text 11"/>
          <p:cNvSpPr/>
          <p:nvPr/>
        </p:nvSpPr>
        <p:spPr>
          <a:xfrm>
            <a:off x="4846320" y="2240280"/>
            <a:ext cx="1874520" cy="640080"/>
          </a:xfrm>
          <a:prstGeom prst="rect">
            <a:avLst/>
          </a:prstGeom>
          <a:noFill/>
          <a:ln/>
        </p:spPr>
        <p:txBody>
          <a:bodyPr wrap="square" lIns="0" tIns="0" rIns="0" bIns="0" rtlCol="0" anchor="ctr"/>
          <a:lstStyle/>
          <a:p>
            <a:pPr algn="ctr" indent="0" marL="0">
              <a:buNone/>
            </a:pPr>
            <a:r>
              <a:rPr lang="en-US" sz="3000" b="1" dirty="0">
                <a:solidFill>
                  <a:srgbClr val="00D4FF"/>
                </a:solidFill>
                <a:latin typeface="Calibri" pitchFamily="34" charset="0"/>
                <a:ea typeface="Calibri" pitchFamily="34" charset="-122"/>
                <a:cs typeface="Calibri" pitchFamily="34" charset="-120"/>
              </a:rPr>
              <a:t>$420B</a:t>
            </a:r>
            <a:endParaRPr lang="en-US" sz="3000" dirty="0"/>
          </a:p>
        </p:txBody>
      </p:sp>
      <p:sp>
        <p:nvSpPr>
          <p:cNvPr id="14" name="Text 12"/>
          <p:cNvSpPr/>
          <p:nvPr/>
        </p:nvSpPr>
        <p:spPr>
          <a:xfrm>
            <a:off x="4846320" y="2834640"/>
            <a:ext cx="1874520" cy="594360"/>
          </a:xfrm>
          <a:prstGeom prst="rect">
            <a:avLst/>
          </a:prstGeom>
          <a:noFill/>
          <a:ln/>
        </p:spPr>
        <p:txBody>
          <a:bodyPr wrap="square" lIns="0" tIns="0" rIns="0" bIns="0" rtlCol="0" anchor="ctr"/>
          <a:lstStyle/>
          <a:p>
            <a:pPr algn="ctr" indent="0" marL="0">
              <a:buNone/>
            </a:pPr>
            <a:r>
              <a:rPr lang="en-US" sz="850" dirty="0">
                <a:solidFill>
                  <a:srgbClr val="8B9DC3"/>
                </a:solidFill>
                <a:latin typeface="Calibri" pitchFamily="34" charset="0"/>
                <a:ea typeface="Calibri" pitchFamily="34" charset="-122"/>
                <a:cs typeface="Calibri" pitchFamily="34" charset="-120"/>
              </a:rPr>
              <a:t>global D&amp;A spend</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in 2026 — yet most</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fails to drive action</a:t>
            </a:r>
            <a:endParaRPr lang="en-US" sz="850" dirty="0"/>
          </a:p>
        </p:txBody>
      </p:sp>
      <p:sp>
        <p:nvSpPr>
          <p:cNvPr id="15" name="Shape 13"/>
          <p:cNvSpPr/>
          <p:nvPr/>
        </p:nvSpPr>
        <p:spPr>
          <a:xfrm>
            <a:off x="6903720" y="2148840"/>
            <a:ext cx="1874520" cy="13716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6" name="Text 14"/>
          <p:cNvSpPr/>
          <p:nvPr/>
        </p:nvSpPr>
        <p:spPr>
          <a:xfrm>
            <a:off x="6903720" y="2240280"/>
            <a:ext cx="1874520" cy="640080"/>
          </a:xfrm>
          <a:prstGeom prst="rect">
            <a:avLst/>
          </a:prstGeom>
          <a:noFill/>
          <a:ln/>
        </p:spPr>
        <p:txBody>
          <a:bodyPr wrap="square" lIns="0" tIns="0" rIns="0" bIns="0" rtlCol="0" anchor="ctr"/>
          <a:lstStyle/>
          <a:p>
            <a:pPr algn="ctr" indent="0" marL="0">
              <a:buNone/>
            </a:pPr>
            <a:r>
              <a:rPr lang="en-US" sz="3000" b="1" dirty="0">
                <a:solidFill>
                  <a:srgbClr val="00D4FF"/>
                </a:solidFill>
                <a:latin typeface="Calibri" pitchFamily="34" charset="0"/>
                <a:ea typeface="Calibri" pitchFamily="34" charset="-122"/>
                <a:cs typeface="Calibri" pitchFamily="34" charset="-120"/>
              </a:rPr>
              <a:t>80%+</a:t>
            </a:r>
            <a:endParaRPr lang="en-US" sz="3000" dirty="0"/>
          </a:p>
        </p:txBody>
      </p:sp>
      <p:sp>
        <p:nvSpPr>
          <p:cNvPr id="17" name="Text 15"/>
          <p:cNvSpPr/>
          <p:nvPr/>
        </p:nvSpPr>
        <p:spPr>
          <a:xfrm>
            <a:off x="6903720" y="2834640"/>
            <a:ext cx="1874520" cy="594360"/>
          </a:xfrm>
          <a:prstGeom prst="rect">
            <a:avLst/>
          </a:prstGeom>
          <a:noFill/>
          <a:ln/>
        </p:spPr>
        <p:txBody>
          <a:bodyPr wrap="square" lIns="0" tIns="0" rIns="0" bIns="0" rtlCol="0" anchor="ctr"/>
          <a:lstStyle/>
          <a:p>
            <a:pPr algn="ctr" indent="0" marL="0">
              <a:buNone/>
            </a:pPr>
            <a:r>
              <a:rPr lang="en-US" sz="850" dirty="0">
                <a:solidFill>
                  <a:srgbClr val="8B9DC3"/>
                </a:solidFill>
                <a:latin typeface="Calibri" pitchFamily="34" charset="0"/>
                <a:ea typeface="Calibri" pitchFamily="34" charset="-122"/>
                <a:cs typeface="Calibri" pitchFamily="34" charset="-120"/>
              </a:rPr>
              <a:t>of enterprises will use</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GenAI APIs by 2026</a:t>
            </a:r>
            <a:endParaRPr lang="en-US" sz="850" dirty="0"/>
          </a:p>
          <a:p>
            <a:pPr algn="ctr" indent="0" marL="0">
              <a:buNone/>
            </a:pPr>
            <a:r>
              <a:rPr lang="en-US" sz="850" dirty="0">
                <a:solidFill>
                  <a:srgbClr val="8B9DC3"/>
                </a:solidFill>
                <a:latin typeface="Calibri" pitchFamily="34" charset="0"/>
                <a:ea typeface="Calibri" pitchFamily="34" charset="-122"/>
                <a:cs typeface="Calibri" pitchFamily="34" charset="-120"/>
              </a:rPr>
              <a:t>but few at scale</a:t>
            </a:r>
            <a:endParaRPr lang="en-US" sz="850" dirty="0"/>
          </a:p>
        </p:txBody>
      </p:sp>
      <p:sp>
        <p:nvSpPr>
          <p:cNvPr id="18" name="Shape 16"/>
          <p:cNvSpPr/>
          <p:nvPr/>
        </p:nvSpPr>
        <p:spPr>
          <a:xfrm>
            <a:off x="731520" y="3840480"/>
            <a:ext cx="7680960" cy="914400"/>
          </a:xfrm>
          <a:prstGeom prst="rect">
            <a:avLst/>
          </a:prstGeom>
          <a:solidFill>
            <a:srgbClr val="182440"/>
          </a:solidFill>
          <a:ln/>
        </p:spPr>
      </p:sp>
      <p:sp>
        <p:nvSpPr>
          <p:cNvPr id="19" name="Text 17"/>
          <p:cNvSpPr/>
          <p:nvPr/>
        </p:nvSpPr>
        <p:spPr>
          <a:xfrm>
            <a:off x="1097280" y="3977640"/>
            <a:ext cx="6949440" cy="640080"/>
          </a:xfrm>
          <a:prstGeom prst="rect">
            <a:avLst/>
          </a:prstGeom>
          <a:noFill/>
          <a:ln/>
        </p:spPr>
        <p:txBody>
          <a:bodyPr wrap="square" lIns="0" tIns="0" rIns="0" bIns="0" rtlCol="0" anchor="ctr"/>
          <a:lstStyle/>
          <a:p>
            <a:pPr indent="0" marL="0">
              <a:buNone/>
            </a:pPr>
            <a:r>
              <a:rPr lang="en-US" sz="1200" i="1" dirty="0">
                <a:solidFill>
                  <a:srgbClr val="8B9DC3"/>
                </a:solidFill>
                <a:latin typeface="Calibri" pitchFamily="34" charset="0"/>
                <a:ea typeface="Calibri" pitchFamily="34" charset="-122"/>
                <a:cs typeface="Calibri" pitchFamily="34" charset="-120"/>
              </a:rPr>
              <a:t>The question isn't whether to adopt AI-driven analytics — it's </a:t>
            </a:r>
            <a:pPr indent="0" marL="0">
              <a:buNone/>
            </a:pPr>
            <a:r>
              <a:rPr lang="en-US" sz="1200" b="1" i="1" dirty="0">
                <a:solidFill>
                  <a:srgbClr val="00D4FF"/>
                </a:solidFill>
                <a:latin typeface="Calibri" pitchFamily="34" charset="0"/>
                <a:ea typeface="Calibri" pitchFamily="34" charset="-122"/>
                <a:cs typeface="Calibri" pitchFamily="34" charset="-120"/>
              </a:rPr>
              <a:t>how to do it responsibly, at scale, and with measurable ROI.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OUR APPROACH</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Autonomous Intelligence: Six Pillars</a:t>
            </a:r>
            <a:endParaRPr lang="en-US" sz="2600" dirty="0"/>
          </a:p>
        </p:txBody>
      </p:sp>
      <p:sp>
        <p:nvSpPr>
          <p:cNvPr id="5" name="Text 3"/>
          <p:cNvSpPr/>
          <p:nvPr/>
        </p:nvSpPr>
        <p:spPr>
          <a:xfrm>
            <a:off x="731520" y="1051560"/>
            <a:ext cx="7315200" cy="320040"/>
          </a:xfrm>
          <a:prstGeom prst="rect">
            <a:avLst/>
          </a:prstGeom>
          <a:noFill/>
          <a:ln/>
        </p:spPr>
        <p:txBody>
          <a:bodyPr wrap="square" lIns="0" tIns="0" rIns="0" bIns="0" rtlCol="0" anchor="ctr"/>
          <a:lstStyle/>
          <a:p>
            <a:pPr indent="0" marL="0">
              <a:buNone/>
            </a:pPr>
            <a:r>
              <a:rPr lang="en-US" sz="1000" dirty="0">
                <a:solidFill>
                  <a:srgbClr val="8B9DC3"/>
                </a:solidFill>
                <a:latin typeface="Calibri" pitchFamily="34" charset="0"/>
                <a:ea typeface="Calibri" pitchFamily="34" charset="-122"/>
                <a:cs typeface="Calibri" pitchFamily="34" charset="-120"/>
              </a:rPr>
              <a:t>A modular, composable framework — each pillar delivers standalone value or combines into end-to-end AI transformation.</a:t>
            </a:r>
            <a:endParaRPr lang="en-US" sz="1000" dirty="0"/>
          </a:p>
        </p:txBody>
      </p:sp>
      <p:sp>
        <p:nvSpPr>
          <p:cNvPr id="6" name="Shape 4"/>
          <p:cNvSpPr/>
          <p:nvPr/>
        </p:nvSpPr>
        <p:spPr>
          <a:xfrm>
            <a:off x="731520" y="150876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7" name="Shape 5"/>
          <p:cNvSpPr/>
          <p:nvPr/>
        </p:nvSpPr>
        <p:spPr>
          <a:xfrm>
            <a:off x="731520" y="1508760"/>
            <a:ext cx="2514600" cy="36576"/>
          </a:xfrm>
          <a:prstGeom prst="rect">
            <a:avLst/>
          </a:prstGeom>
          <a:solidFill>
            <a:srgbClr val="00D4FF"/>
          </a:solidFill>
          <a:ln/>
        </p:spPr>
      </p:sp>
      <p:pic>
        <p:nvPicPr>
          <p:cNvPr id="8" name="Image 0" descr="preencoded.png">    </p:cNvPr>
          <p:cNvPicPr>
            <a:picLocks noChangeAspect="1"/>
          </p:cNvPicPr>
          <p:nvPr/>
        </p:nvPicPr>
        <p:blipFill>
          <a:blip r:embed="rId1"/>
          <a:stretch>
            <a:fillRect/>
          </a:stretch>
        </p:blipFill>
        <p:spPr>
          <a:xfrm>
            <a:off x="868680" y="1645920"/>
            <a:ext cx="274320" cy="274320"/>
          </a:xfrm>
          <a:prstGeom prst="rect">
            <a:avLst/>
          </a:prstGeom>
        </p:spPr>
      </p:pic>
      <p:sp>
        <p:nvSpPr>
          <p:cNvPr id="9" name="Text 6"/>
          <p:cNvSpPr/>
          <p:nvPr/>
        </p:nvSpPr>
        <p:spPr>
          <a:xfrm>
            <a:off x="1234440" y="161848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Agentic AI &amp;</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Multi-Agent Orchestration</a:t>
            </a:r>
            <a:endParaRPr lang="en-US" sz="950" dirty="0"/>
          </a:p>
        </p:txBody>
      </p:sp>
      <p:sp>
        <p:nvSpPr>
          <p:cNvPr id="10" name="Text 7"/>
          <p:cNvSpPr/>
          <p:nvPr/>
        </p:nvSpPr>
        <p:spPr>
          <a:xfrm>
            <a:off x="868680" y="205740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Autonomous agents that plan, execute,</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and self-correct across workflows.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Human-in-the-loop governance.</a:t>
            </a:r>
            <a:endParaRPr lang="en-US" sz="800" dirty="0"/>
          </a:p>
        </p:txBody>
      </p:sp>
      <p:sp>
        <p:nvSpPr>
          <p:cNvPr id="11" name="Shape 8"/>
          <p:cNvSpPr/>
          <p:nvPr/>
        </p:nvSpPr>
        <p:spPr>
          <a:xfrm>
            <a:off x="3429000" y="150876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2" name="Shape 9"/>
          <p:cNvSpPr/>
          <p:nvPr/>
        </p:nvSpPr>
        <p:spPr>
          <a:xfrm>
            <a:off x="3429000" y="1508760"/>
            <a:ext cx="2514600" cy="36576"/>
          </a:xfrm>
          <a:prstGeom prst="rect">
            <a:avLst/>
          </a:prstGeom>
          <a:solidFill>
            <a:srgbClr val="7B61FF"/>
          </a:solidFill>
          <a:ln/>
        </p:spPr>
      </p:sp>
      <p:pic>
        <p:nvPicPr>
          <p:cNvPr id="13" name="Image 1" descr="preencoded.png">    </p:cNvPr>
          <p:cNvPicPr>
            <a:picLocks noChangeAspect="1"/>
          </p:cNvPicPr>
          <p:nvPr/>
        </p:nvPicPr>
        <p:blipFill>
          <a:blip r:embed="rId2"/>
          <a:stretch>
            <a:fillRect/>
          </a:stretch>
        </p:blipFill>
        <p:spPr>
          <a:xfrm>
            <a:off x="3566160" y="1645920"/>
            <a:ext cx="274320" cy="274320"/>
          </a:xfrm>
          <a:prstGeom prst="rect">
            <a:avLst/>
          </a:prstGeom>
        </p:spPr>
      </p:pic>
      <p:sp>
        <p:nvSpPr>
          <p:cNvPr id="14" name="Text 10"/>
          <p:cNvSpPr/>
          <p:nvPr/>
        </p:nvSpPr>
        <p:spPr>
          <a:xfrm>
            <a:off x="3931920" y="161848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AI-Native</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Data Platforms</a:t>
            </a:r>
            <a:endParaRPr lang="en-US" sz="950" dirty="0"/>
          </a:p>
        </p:txBody>
      </p:sp>
      <p:sp>
        <p:nvSpPr>
          <p:cNvPr id="15" name="Text 11"/>
          <p:cNvSpPr/>
          <p:nvPr/>
        </p:nvSpPr>
        <p:spPr>
          <a:xfrm>
            <a:off x="3566160" y="205740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Modern data ecosystems: Data Mesh,</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real-time streaming, semantic layers.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Data as a product.</a:t>
            </a:r>
            <a:endParaRPr lang="en-US" sz="800" dirty="0"/>
          </a:p>
        </p:txBody>
      </p:sp>
      <p:sp>
        <p:nvSpPr>
          <p:cNvPr id="16" name="Shape 12"/>
          <p:cNvSpPr/>
          <p:nvPr/>
        </p:nvSpPr>
        <p:spPr>
          <a:xfrm>
            <a:off x="6126480" y="150876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7" name="Shape 13"/>
          <p:cNvSpPr/>
          <p:nvPr/>
        </p:nvSpPr>
        <p:spPr>
          <a:xfrm>
            <a:off x="6126480" y="1508760"/>
            <a:ext cx="2514600" cy="36576"/>
          </a:xfrm>
          <a:prstGeom prst="rect">
            <a:avLst/>
          </a:prstGeom>
          <a:solidFill>
            <a:srgbClr val="00C9A7"/>
          </a:solidFill>
          <a:ln/>
        </p:spPr>
      </p:sp>
      <p:pic>
        <p:nvPicPr>
          <p:cNvPr id="18" name="Image 2" descr="preencoded.png">    </p:cNvPr>
          <p:cNvPicPr>
            <a:picLocks noChangeAspect="1"/>
          </p:cNvPicPr>
          <p:nvPr/>
        </p:nvPicPr>
        <p:blipFill>
          <a:blip r:embed="rId3"/>
          <a:stretch>
            <a:fillRect/>
          </a:stretch>
        </p:blipFill>
        <p:spPr>
          <a:xfrm>
            <a:off x="6263640" y="1645920"/>
            <a:ext cx="274320" cy="274320"/>
          </a:xfrm>
          <a:prstGeom prst="rect">
            <a:avLst/>
          </a:prstGeom>
        </p:spPr>
      </p:pic>
      <p:sp>
        <p:nvSpPr>
          <p:cNvPr id="19" name="Text 14"/>
          <p:cNvSpPr/>
          <p:nvPr/>
        </p:nvSpPr>
        <p:spPr>
          <a:xfrm>
            <a:off x="6629400" y="161848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Decision Intelligence &amp;</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Closed-Loop Analytics</a:t>
            </a:r>
            <a:endParaRPr lang="en-US" sz="950" dirty="0"/>
          </a:p>
        </p:txBody>
      </p:sp>
      <p:sp>
        <p:nvSpPr>
          <p:cNvPr id="20" name="Text 15"/>
          <p:cNvSpPr/>
          <p:nvPr/>
        </p:nvSpPr>
        <p:spPr>
          <a:xfrm>
            <a:off x="6263640" y="205740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From dashboards to decision engines.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Every prediction feeds back as a</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learning signal.</a:t>
            </a:r>
            <a:endParaRPr lang="en-US" sz="800" dirty="0"/>
          </a:p>
        </p:txBody>
      </p:sp>
      <p:sp>
        <p:nvSpPr>
          <p:cNvPr id="21" name="Shape 16"/>
          <p:cNvSpPr/>
          <p:nvPr/>
        </p:nvSpPr>
        <p:spPr>
          <a:xfrm>
            <a:off x="731520" y="324612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2" name="Shape 17"/>
          <p:cNvSpPr/>
          <p:nvPr/>
        </p:nvSpPr>
        <p:spPr>
          <a:xfrm>
            <a:off x="731520" y="3246120"/>
            <a:ext cx="2514600" cy="36576"/>
          </a:xfrm>
          <a:prstGeom prst="rect">
            <a:avLst/>
          </a:prstGeom>
          <a:solidFill>
            <a:srgbClr val="FFB547"/>
          </a:solidFill>
          <a:ln/>
        </p:spPr>
      </p:sp>
      <p:pic>
        <p:nvPicPr>
          <p:cNvPr id="23" name="Image 3" descr="preencoded.png">    </p:cNvPr>
          <p:cNvPicPr>
            <a:picLocks noChangeAspect="1"/>
          </p:cNvPicPr>
          <p:nvPr/>
        </p:nvPicPr>
        <p:blipFill>
          <a:blip r:embed="rId4"/>
          <a:stretch>
            <a:fillRect/>
          </a:stretch>
        </p:blipFill>
        <p:spPr>
          <a:xfrm>
            <a:off x="868680" y="3383280"/>
            <a:ext cx="274320" cy="274320"/>
          </a:xfrm>
          <a:prstGeom prst="rect">
            <a:avLst/>
          </a:prstGeom>
        </p:spPr>
      </p:pic>
      <p:sp>
        <p:nvSpPr>
          <p:cNvPr id="24" name="Text 18"/>
          <p:cNvSpPr/>
          <p:nvPr/>
        </p:nvSpPr>
        <p:spPr>
          <a:xfrm>
            <a:off x="1234440" y="335584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AI Factory &amp;</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GenAI Industrialization</a:t>
            </a:r>
            <a:endParaRPr lang="en-US" sz="950" dirty="0"/>
          </a:p>
        </p:txBody>
      </p:sp>
      <p:sp>
        <p:nvSpPr>
          <p:cNvPr id="25" name="Text 19"/>
          <p:cNvSpPr/>
          <p:nvPr/>
        </p:nvSpPr>
        <p:spPr>
          <a:xfrm>
            <a:off x="868680" y="379476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Scale AI at enterprise level: model</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registries, RAG pipelines, FinOps,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prompt management.</a:t>
            </a:r>
            <a:endParaRPr lang="en-US" sz="800" dirty="0"/>
          </a:p>
        </p:txBody>
      </p:sp>
      <p:sp>
        <p:nvSpPr>
          <p:cNvPr id="26" name="Shape 20"/>
          <p:cNvSpPr/>
          <p:nvPr/>
        </p:nvSpPr>
        <p:spPr>
          <a:xfrm>
            <a:off x="3429000" y="324612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7" name="Shape 21"/>
          <p:cNvSpPr/>
          <p:nvPr/>
        </p:nvSpPr>
        <p:spPr>
          <a:xfrm>
            <a:off x="3429000" y="3246120"/>
            <a:ext cx="2514600" cy="36576"/>
          </a:xfrm>
          <a:prstGeom prst="rect">
            <a:avLst/>
          </a:prstGeom>
          <a:solidFill>
            <a:srgbClr val="FF6B8A"/>
          </a:solidFill>
          <a:ln/>
        </p:spPr>
      </p:sp>
      <p:pic>
        <p:nvPicPr>
          <p:cNvPr id="28" name="Image 4" descr="preencoded.png">    </p:cNvPr>
          <p:cNvPicPr>
            <a:picLocks noChangeAspect="1"/>
          </p:cNvPicPr>
          <p:nvPr/>
        </p:nvPicPr>
        <p:blipFill>
          <a:blip r:embed="rId5"/>
          <a:stretch>
            <a:fillRect/>
          </a:stretch>
        </p:blipFill>
        <p:spPr>
          <a:xfrm>
            <a:off x="3566160" y="3383280"/>
            <a:ext cx="274320" cy="274320"/>
          </a:xfrm>
          <a:prstGeom prst="rect">
            <a:avLst/>
          </a:prstGeom>
        </p:spPr>
      </p:pic>
      <p:sp>
        <p:nvSpPr>
          <p:cNvPr id="29" name="Text 22"/>
          <p:cNvSpPr/>
          <p:nvPr/>
        </p:nvSpPr>
        <p:spPr>
          <a:xfrm>
            <a:off x="3931920" y="335584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Responsible AI</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&amp; Governance</a:t>
            </a:r>
            <a:endParaRPr lang="en-US" sz="950" dirty="0"/>
          </a:p>
        </p:txBody>
      </p:sp>
      <p:sp>
        <p:nvSpPr>
          <p:cNvPr id="30" name="Text 23"/>
          <p:cNvSpPr/>
          <p:nvPr/>
        </p:nvSpPr>
        <p:spPr>
          <a:xfrm>
            <a:off x="3566160" y="379476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Explainability, bias detection, model</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lineage. EU AI Act ready.</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Built-in compliance.</a:t>
            </a:r>
            <a:endParaRPr lang="en-US" sz="800" dirty="0"/>
          </a:p>
        </p:txBody>
      </p:sp>
      <p:sp>
        <p:nvSpPr>
          <p:cNvPr id="31" name="Shape 24"/>
          <p:cNvSpPr/>
          <p:nvPr/>
        </p:nvSpPr>
        <p:spPr>
          <a:xfrm>
            <a:off x="6126480" y="3246120"/>
            <a:ext cx="2514600" cy="160020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32" name="Shape 25"/>
          <p:cNvSpPr/>
          <p:nvPr/>
        </p:nvSpPr>
        <p:spPr>
          <a:xfrm>
            <a:off x="6126480" y="3246120"/>
            <a:ext cx="2514600" cy="36576"/>
          </a:xfrm>
          <a:prstGeom prst="rect">
            <a:avLst/>
          </a:prstGeom>
          <a:solidFill>
            <a:srgbClr val="0072BC"/>
          </a:solidFill>
          <a:ln/>
        </p:spPr>
      </p:sp>
      <p:pic>
        <p:nvPicPr>
          <p:cNvPr id="33" name="Image 5" descr="preencoded.png">    </p:cNvPr>
          <p:cNvPicPr>
            <a:picLocks noChangeAspect="1"/>
          </p:cNvPicPr>
          <p:nvPr/>
        </p:nvPicPr>
        <p:blipFill>
          <a:blip r:embed="rId6"/>
          <a:stretch>
            <a:fillRect/>
          </a:stretch>
        </p:blipFill>
        <p:spPr>
          <a:xfrm>
            <a:off x="6263640" y="3383280"/>
            <a:ext cx="274320" cy="274320"/>
          </a:xfrm>
          <a:prstGeom prst="rect">
            <a:avLst/>
          </a:prstGeom>
        </p:spPr>
      </p:pic>
      <p:sp>
        <p:nvSpPr>
          <p:cNvPr id="34" name="Text 26"/>
          <p:cNvSpPr/>
          <p:nvPr/>
        </p:nvSpPr>
        <p:spPr>
          <a:xfrm>
            <a:off x="6629400" y="3355848"/>
            <a:ext cx="1828800" cy="365760"/>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Autonomous</a:t>
            </a:r>
            <a:endParaRPr lang="en-US" sz="950" dirty="0"/>
          </a:p>
          <a:p>
            <a:pPr indent="0" marL="0">
              <a:buNone/>
            </a:pPr>
            <a:r>
              <a:rPr lang="en-US" sz="950" b="1" dirty="0">
                <a:solidFill>
                  <a:srgbClr val="FFFFFF"/>
                </a:solidFill>
                <a:latin typeface="Calibri" pitchFamily="34" charset="0"/>
                <a:ea typeface="Calibri" pitchFamily="34" charset="-122"/>
                <a:cs typeface="Calibri" pitchFamily="34" charset="-120"/>
              </a:rPr>
              <a:t>Analytics Copilots</a:t>
            </a:r>
            <a:endParaRPr lang="en-US" sz="950" dirty="0"/>
          </a:p>
        </p:txBody>
      </p:sp>
      <p:sp>
        <p:nvSpPr>
          <p:cNvPr id="35" name="Text 27"/>
          <p:cNvSpPr/>
          <p:nvPr/>
        </p:nvSpPr>
        <p:spPr>
          <a:xfrm>
            <a:off x="6263640" y="3794760"/>
            <a:ext cx="2240280" cy="64008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Natural-language analytics replacing</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SQL and dashboards. Self-service</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with trust and lineage.</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PILLAR 01</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Agentic AI &amp; Multi-Agent Orchestration</a:t>
            </a:r>
            <a:endParaRPr lang="en-US" sz="2400" dirty="0"/>
          </a:p>
        </p:txBody>
      </p:sp>
      <p:sp>
        <p:nvSpPr>
          <p:cNvPr id="5" name="Text 3"/>
          <p:cNvSpPr/>
          <p:nvPr/>
        </p:nvSpPr>
        <p:spPr>
          <a:xfrm>
            <a:off x="731520" y="1097280"/>
            <a:ext cx="7680960" cy="457200"/>
          </a:xfrm>
          <a:prstGeom prst="rect">
            <a:avLst/>
          </a:prstGeom>
          <a:noFill/>
          <a:ln/>
        </p:spPr>
        <p:txBody>
          <a:bodyPr wrap="square" lIns="0" tIns="0" rIns="0" bIns="0" rtlCol="0" anchor="ctr"/>
          <a:lstStyle/>
          <a:p>
            <a:pPr indent="0" marL="0">
              <a:buNone/>
            </a:pPr>
            <a:r>
              <a:rPr lang="en-US" sz="1100" dirty="0">
                <a:solidFill>
                  <a:srgbClr val="8B9DC3"/>
                </a:solidFill>
                <a:latin typeface="Calibri" pitchFamily="34" charset="0"/>
                <a:ea typeface="Calibri" pitchFamily="34" charset="-122"/>
                <a:cs typeface="Calibri" pitchFamily="34" charset="-120"/>
              </a:rPr>
              <a:t>AI agents that don't just answer questions — they plan, execute, and self-correct across your business workflows with human oversight at every critical step.</a:t>
            </a:r>
            <a:endParaRPr lang="en-US" sz="1100" dirty="0"/>
          </a:p>
        </p:txBody>
      </p:sp>
      <p:sp>
        <p:nvSpPr>
          <p:cNvPr id="6" name="Shape 4"/>
          <p:cNvSpPr/>
          <p:nvPr/>
        </p:nvSpPr>
        <p:spPr>
          <a:xfrm>
            <a:off x="731520" y="1737360"/>
            <a:ext cx="3840480" cy="1188720"/>
          </a:xfrm>
          <a:prstGeom prst="rect">
            <a:avLst/>
          </a:prstGeom>
          <a:solidFill>
            <a:srgbClr val="131D33"/>
          </a:solidFill>
          <a:ln/>
          <a:effectLst>
            <a:outerShdw sx="100000" sy="100000" kx="0" ky="0" algn="bl" rotWithShape="0" blurRad="76200" dist="25400" dir="8100000">
              <a:srgbClr val="000000">
                <a:alpha val="12000"/>
              </a:srgbClr>
            </a:outerShdw>
          </a:effectLst>
        </p:spPr>
      </p:sp>
      <p:pic>
        <p:nvPicPr>
          <p:cNvPr id="7" name="Image 0" descr="preencoded.png">    </p:cNvPr>
          <p:cNvPicPr>
            <a:picLocks noChangeAspect="1"/>
          </p:cNvPicPr>
          <p:nvPr/>
        </p:nvPicPr>
        <p:blipFill>
          <a:blip r:embed="rId1"/>
          <a:stretch>
            <a:fillRect/>
          </a:stretch>
        </p:blipFill>
        <p:spPr>
          <a:xfrm>
            <a:off x="914400" y="1920240"/>
            <a:ext cx="274320" cy="274320"/>
          </a:xfrm>
          <a:prstGeom prst="rect">
            <a:avLst/>
          </a:prstGeom>
        </p:spPr>
      </p:pic>
      <p:sp>
        <p:nvSpPr>
          <p:cNvPr id="8" name="Text 5"/>
          <p:cNvSpPr/>
          <p:nvPr/>
        </p:nvSpPr>
        <p:spPr>
          <a:xfrm>
            <a:off x="1325880" y="1874520"/>
            <a:ext cx="3017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Financial Reconciliation</a:t>
            </a:r>
            <a:endParaRPr lang="en-US" sz="1100" dirty="0"/>
          </a:p>
        </p:txBody>
      </p:sp>
      <p:sp>
        <p:nvSpPr>
          <p:cNvPr id="9" name="Text 6"/>
          <p:cNvSpPr/>
          <p:nvPr/>
        </p:nvSpPr>
        <p:spPr>
          <a:xfrm>
            <a:off x="1325880" y="2194560"/>
            <a:ext cx="3017520" cy="54864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Agents that match, classify, and resolve exceptions across thousands of transactions per hour.</a:t>
            </a:r>
            <a:endParaRPr lang="en-US" sz="850" dirty="0"/>
          </a:p>
        </p:txBody>
      </p:sp>
      <p:sp>
        <p:nvSpPr>
          <p:cNvPr id="10" name="Shape 7"/>
          <p:cNvSpPr/>
          <p:nvPr/>
        </p:nvSpPr>
        <p:spPr>
          <a:xfrm>
            <a:off x="4846320" y="1737360"/>
            <a:ext cx="3840480" cy="1188720"/>
          </a:xfrm>
          <a:prstGeom prst="rect">
            <a:avLst/>
          </a:prstGeom>
          <a:solidFill>
            <a:srgbClr val="131D33"/>
          </a:solidFill>
          <a:ln/>
          <a:effectLst>
            <a:outerShdw sx="100000" sy="100000" kx="0" ky="0" algn="bl" rotWithShape="0" blurRad="76200" dist="25400" dir="8100000">
              <a:srgbClr val="000000">
                <a:alpha val="12000"/>
              </a:srgbClr>
            </a:outerShdw>
          </a:effectLst>
        </p:spPr>
      </p:sp>
      <p:pic>
        <p:nvPicPr>
          <p:cNvPr id="11" name="Image 1" descr="preencoded.png">    </p:cNvPr>
          <p:cNvPicPr>
            <a:picLocks noChangeAspect="1"/>
          </p:cNvPicPr>
          <p:nvPr/>
        </p:nvPicPr>
        <p:blipFill>
          <a:blip r:embed="rId2"/>
          <a:stretch>
            <a:fillRect/>
          </a:stretch>
        </p:blipFill>
        <p:spPr>
          <a:xfrm>
            <a:off x="5029200" y="1920240"/>
            <a:ext cx="274320" cy="274320"/>
          </a:xfrm>
          <a:prstGeom prst="rect">
            <a:avLst/>
          </a:prstGeom>
        </p:spPr>
      </p:pic>
      <p:sp>
        <p:nvSpPr>
          <p:cNvPr id="12" name="Text 8"/>
          <p:cNvSpPr/>
          <p:nvPr/>
        </p:nvSpPr>
        <p:spPr>
          <a:xfrm>
            <a:off x="5440680" y="1874520"/>
            <a:ext cx="3017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Customer Service Escalation</a:t>
            </a:r>
            <a:endParaRPr lang="en-US" sz="1100" dirty="0"/>
          </a:p>
        </p:txBody>
      </p:sp>
      <p:sp>
        <p:nvSpPr>
          <p:cNvPr id="13" name="Text 9"/>
          <p:cNvSpPr/>
          <p:nvPr/>
        </p:nvSpPr>
        <p:spPr>
          <a:xfrm>
            <a:off x="5440680" y="2194560"/>
            <a:ext cx="3017520" cy="54864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Multi-agent system: understands context, retrieves knowledge, resolves tier-1 issues, escalates intelligently.</a:t>
            </a:r>
            <a:endParaRPr lang="en-US" sz="850" dirty="0"/>
          </a:p>
        </p:txBody>
      </p:sp>
      <p:sp>
        <p:nvSpPr>
          <p:cNvPr id="14" name="Shape 10"/>
          <p:cNvSpPr/>
          <p:nvPr/>
        </p:nvSpPr>
        <p:spPr>
          <a:xfrm>
            <a:off x="731520" y="3108960"/>
            <a:ext cx="3840480" cy="1188720"/>
          </a:xfrm>
          <a:prstGeom prst="rect">
            <a:avLst/>
          </a:prstGeom>
          <a:solidFill>
            <a:srgbClr val="131D33"/>
          </a:solidFill>
          <a:ln/>
          <a:effectLst>
            <a:outerShdw sx="100000" sy="100000" kx="0" ky="0" algn="bl" rotWithShape="0" blurRad="76200" dist="25400" dir="8100000">
              <a:srgbClr val="000000">
                <a:alpha val="12000"/>
              </a:srgbClr>
            </a:outerShdw>
          </a:effectLst>
        </p:spPr>
      </p:sp>
      <p:pic>
        <p:nvPicPr>
          <p:cNvPr id="15" name="Image 2" descr="preencoded.png">    </p:cNvPr>
          <p:cNvPicPr>
            <a:picLocks noChangeAspect="1"/>
          </p:cNvPicPr>
          <p:nvPr/>
        </p:nvPicPr>
        <p:blipFill>
          <a:blip r:embed="rId3"/>
          <a:stretch>
            <a:fillRect/>
          </a:stretch>
        </p:blipFill>
        <p:spPr>
          <a:xfrm>
            <a:off x="914400" y="3291840"/>
            <a:ext cx="274320" cy="274320"/>
          </a:xfrm>
          <a:prstGeom prst="rect">
            <a:avLst/>
          </a:prstGeom>
        </p:spPr>
      </p:pic>
      <p:sp>
        <p:nvSpPr>
          <p:cNvPr id="16" name="Text 11"/>
          <p:cNvSpPr/>
          <p:nvPr/>
        </p:nvSpPr>
        <p:spPr>
          <a:xfrm>
            <a:off x="1325880" y="3246120"/>
            <a:ext cx="3017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Supplier Negotiation</a:t>
            </a:r>
            <a:endParaRPr lang="en-US" sz="1100" dirty="0"/>
          </a:p>
        </p:txBody>
      </p:sp>
      <p:sp>
        <p:nvSpPr>
          <p:cNvPr id="17" name="Text 12"/>
          <p:cNvSpPr/>
          <p:nvPr/>
        </p:nvSpPr>
        <p:spPr>
          <a:xfrm>
            <a:off x="1325880" y="3566160"/>
            <a:ext cx="3017520" cy="54864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Autonomous agents that analyze market data, compare quotes, and propose optimal procurement terms.</a:t>
            </a:r>
            <a:endParaRPr lang="en-US" sz="850" dirty="0"/>
          </a:p>
        </p:txBody>
      </p:sp>
      <p:sp>
        <p:nvSpPr>
          <p:cNvPr id="18" name="Shape 13"/>
          <p:cNvSpPr/>
          <p:nvPr/>
        </p:nvSpPr>
        <p:spPr>
          <a:xfrm>
            <a:off x="4846320" y="3108960"/>
            <a:ext cx="3840480" cy="1188720"/>
          </a:xfrm>
          <a:prstGeom prst="rect">
            <a:avLst/>
          </a:prstGeom>
          <a:solidFill>
            <a:srgbClr val="131D33"/>
          </a:solidFill>
          <a:ln/>
          <a:effectLst>
            <a:outerShdw sx="100000" sy="100000" kx="0" ky="0" algn="bl" rotWithShape="0" blurRad="76200" dist="25400" dir="8100000">
              <a:srgbClr val="000000">
                <a:alpha val="12000"/>
              </a:srgbClr>
            </a:outerShdw>
          </a:effectLst>
        </p:spPr>
      </p:sp>
      <p:pic>
        <p:nvPicPr>
          <p:cNvPr id="19" name="Image 3" descr="preencoded.png">    </p:cNvPr>
          <p:cNvPicPr>
            <a:picLocks noChangeAspect="1"/>
          </p:cNvPicPr>
          <p:nvPr/>
        </p:nvPicPr>
        <p:blipFill>
          <a:blip r:embed="rId4"/>
          <a:stretch>
            <a:fillRect/>
          </a:stretch>
        </p:blipFill>
        <p:spPr>
          <a:xfrm>
            <a:off x="5029200" y="3291840"/>
            <a:ext cx="274320" cy="274320"/>
          </a:xfrm>
          <a:prstGeom prst="rect">
            <a:avLst/>
          </a:prstGeom>
        </p:spPr>
      </p:pic>
      <p:sp>
        <p:nvSpPr>
          <p:cNvPr id="20" name="Text 14"/>
          <p:cNvSpPr/>
          <p:nvPr/>
        </p:nvSpPr>
        <p:spPr>
          <a:xfrm>
            <a:off x="5440680" y="3246120"/>
            <a:ext cx="301752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Regulatory Reporting</a:t>
            </a:r>
            <a:endParaRPr lang="en-US" sz="1100" dirty="0"/>
          </a:p>
        </p:txBody>
      </p:sp>
      <p:sp>
        <p:nvSpPr>
          <p:cNvPr id="21" name="Text 15"/>
          <p:cNvSpPr/>
          <p:nvPr/>
        </p:nvSpPr>
        <p:spPr>
          <a:xfrm>
            <a:off x="5440680" y="3566160"/>
            <a:ext cx="3017520" cy="54864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Agents that monitor compliance, generate reports, and flag anomalies with full audit trails.</a:t>
            </a:r>
            <a:endParaRPr lang="en-US" sz="850" dirty="0"/>
          </a:p>
        </p:txBody>
      </p:sp>
      <p:sp>
        <p:nvSpPr>
          <p:cNvPr id="22" name="Text 16"/>
          <p:cNvSpPr/>
          <p:nvPr/>
        </p:nvSpPr>
        <p:spPr>
          <a:xfrm>
            <a:off x="731520" y="4526280"/>
            <a:ext cx="1828800" cy="228600"/>
          </a:xfrm>
          <a:prstGeom prst="rect">
            <a:avLst/>
          </a:prstGeom>
          <a:noFill/>
          <a:ln/>
        </p:spPr>
        <p:txBody>
          <a:bodyPr wrap="square" lIns="0" tIns="0" rIns="0" bIns="0" rtlCol="0" anchor="ctr"/>
          <a:lstStyle/>
          <a:p>
            <a:pPr indent="0" marL="0">
              <a:buNone/>
            </a:pPr>
            <a:r>
              <a:rPr lang="en-US" sz="800" b="1" spc="200" kern="0" dirty="0">
                <a:solidFill>
                  <a:srgbClr val="00C9A7"/>
                </a:solidFill>
                <a:latin typeface="Calibri" pitchFamily="34" charset="0"/>
                <a:ea typeface="Calibri" pitchFamily="34" charset="-122"/>
                <a:cs typeface="Calibri" pitchFamily="34" charset="-120"/>
              </a:rPr>
              <a:t>TECHNOLOGY</a:t>
            </a:r>
            <a:endParaRPr lang="en-US" sz="800" dirty="0"/>
          </a:p>
        </p:txBody>
      </p:sp>
      <p:sp>
        <p:nvSpPr>
          <p:cNvPr id="23" name="Text 17"/>
          <p:cNvSpPr/>
          <p:nvPr/>
        </p:nvSpPr>
        <p:spPr>
          <a:xfrm>
            <a:off x="731520" y="4709160"/>
            <a:ext cx="7315200" cy="228600"/>
          </a:xfrm>
          <a:prstGeom prst="rect">
            <a:avLst/>
          </a:prstGeom>
          <a:noFill/>
          <a:ln/>
        </p:spPr>
        <p:txBody>
          <a:bodyPr wrap="square" lIns="0" tIns="0" rIns="0" bIns="0" rtlCol="0" anchor="ctr"/>
          <a:lstStyle/>
          <a:p>
            <a:pPr indent="0" marL="0">
              <a:buNone/>
            </a:pPr>
            <a:r>
              <a:rPr lang="en-US" sz="900" dirty="0">
                <a:solidFill>
                  <a:srgbClr val="5A6F94"/>
                </a:solidFill>
                <a:latin typeface="Calibri" pitchFamily="34" charset="0"/>
                <a:ea typeface="Calibri" pitchFamily="34" charset="-122"/>
                <a:cs typeface="Calibri" pitchFamily="34" charset="-120"/>
              </a:rPr>
              <a:t>LangGraph  ·  CrewAI  ·  Microsoft AutoGen  ·  Semantic Kernel  ·  MCP Protocol  ·  NTT Smart AI Agent™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TECHNOLOGY ARCHITECTURE</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Intelligence Stack</a:t>
            </a:r>
            <a:endParaRPr lang="en-US" sz="2400" dirty="0"/>
          </a:p>
        </p:txBody>
      </p:sp>
      <p:sp>
        <p:nvSpPr>
          <p:cNvPr id="5" name="Text 3"/>
          <p:cNvSpPr/>
          <p:nvPr/>
        </p:nvSpPr>
        <p:spPr>
          <a:xfrm>
            <a:off x="731520" y="1051560"/>
            <a:ext cx="7315200" cy="274320"/>
          </a:xfrm>
          <a:prstGeom prst="rect">
            <a:avLst/>
          </a:prstGeom>
          <a:noFill/>
          <a:ln/>
        </p:spPr>
        <p:txBody>
          <a:bodyPr wrap="square" lIns="0" tIns="0" rIns="0" bIns="0" rtlCol="0" anchor="ctr"/>
          <a:lstStyle/>
          <a:p>
            <a:pPr indent="0" marL="0">
              <a:buNone/>
            </a:pPr>
            <a:r>
              <a:rPr lang="en-US" sz="1000" dirty="0">
                <a:solidFill>
                  <a:srgbClr val="8B9DC3"/>
                </a:solidFill>
                <a:latin typeface="Calibri" pitchFamily="34" charset="0"/>
                <a:ea typeface="Calibri" pitchFamily="34" charset="-122"/>
                <a:cs typeface="Calibri" pitchFamily="34" charset="-120"/>
              </a:rPr>
              <a:t>Cloud-agnostic, composable architecture. Four layers from raw data to autonomous action.</a:t>
            </a:r>
            <a:endParaRPr lang="en-US" sz="1000" dirty="0"/>
          </a:p>
        </p:txBody>
      </p:sp>
      <p:sp>
        <p:nvSpPr>
          <p:cNvPr id="6" name="Shape 4"/>
          <p:cNvSpPr/>
          <p:nvPr/>
        </p:nvSpPr>
        <p:spPr>
          <a:xfrm>
            <a:off x="731520" y="1463040"/>
            <a:ext cx="7680960" cy="731520"/>
          </a:xfrm>
          <a:prstGeom prst="rect">
            <a:avLst/>
          </a:prstGeom>
          <a:solidFill>
            <a:srgbClr val="131D33"/>
          </a:solidFill>
          <a:ln/>
        </p:spPr>
      </p:sp>
      <p:sp>
        <p:nvSpPr>
          <p:cNvPr id="7" name="Shape 5"/>
          <p:cNvSpPr/>
          <p:nvPr/>
        </p:nvSpPr>
        <p:spPr>
          <a:xfrm>
            <a:off x="731520" y="1463040"/>
            <a:ext cx="54864" cy="731520"/>
          </a:xfrm>
          <a:prstGeom prst="rect">
            <a:avLst/>
          </a:prstGeom>
          <a:solidFill>
            <a:srgbClr val="00D4FF"/>
          </a:solidFill>
          <a:ln/>
        </p:spPr>
      </p:sp>
      <p:sp>
        <p:nvSpPr>
          <p:cNvPr id="8" name="Text 6"/>
          <p:cNvSpPr/>
          <p:nvPr/>
        </p:nvSpPr>
        <p:spPr>
          <a:xfrm>
            <a:off x="1005840" y="1508760"/>
            <a:ext cx="1645920" cy="201168"/>
          </a:xfrm>
          <a:prstGeom prst="rect">
            <a:avLst/>
          </a:prstGeom>
          <a:noFill/>
          <a:ln/>
        </p:spPr>
        <p:txBody>
          <a:bodyPr wrap="square" lIns="0" tIns="0" rIns="0" bIns="0" rtlCol="0" anchor="ctr"/>
          <a:lstStyle/>
          <a:p>
            <a:pPr indent="0" marL="0">
              <a:buNone/>
            </a:pPr>
            <a:r>
              <a:rPr lang="en-US" sz="750" b="1" spc="200" kern="0" dirty="0">
                <a:solidFill>
                  <a:srgbClr val="00D4FF"/>
                </a:solidFill>
                <a:latin typeface="Calibri" pitchFamily="34" charset="0"/>
                <a:ea typeface="Calibri" pitchFamily="34" charset="-122"/>
                <a:cs typeface="Calibri" pitchFamily="34" charset="-120"/>
              </a:rPr>
              <a:t>ACTION</a:t>
            </a:r>
            <a:endParaRPr lang="en-US" sz="750" dirty="0"/>
          </a:p>
        </p:txBody>
      </p:sp>
      <p:sp>
        <p:nvSpPr>
          <p:cNvPr id="9" name="Text 7"/>
          <p:cNvSpPr/>
          <p:nvPr/>
        </p:nvSpPr>
        <p:spPr>
          <a:xfrm>
            <a:off x="1005840" y="1719072"/>
            <a:ext cx="1645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Autonomous Execution</a:t>
            </a:r>
            <a:endParaRPr lang="en-US" sz="1300" dirty="0"/>
          </a:p>
        </p:txBody>
      </p:sp>
      <p:sp>
        <p:nvSpPr>
          <p:cNvPr id="10" name="Text 8"/>
          <p:cNvSpPr/>
          <p:nvPr/>
        </p:nvSpPr>
        <p:spPr>
          <a:xfrm>
            <a:off x="3017520" y="1554480"/>
            <a:ext cx="5212080" cy="54864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LangGraph / CrewAI  ·  AutoGen  ·  Semantic Kernel  ·  MCP  ·  UiPath + AI</a:t>
            </a:r>
            <a:endParaRPr lang="en-US" sz="900" dirty="0"/>
          </a:p>
        </p:txBody>
      </p:sp>
      <p:sp>
        <p:nvSpPr>
          <p:cNvPr id="11" name="Shape 9"/>
          <p:cNvSpPr/>
          <p:nvPr/>
        </p:nvSpPr>
        <p:spPr>
          <a:xfrm>
            <a:off x="731520" y="2331720"/>
            <a:ext cx="7680960" cy="731520"/>
          </a:xfrm>
          <a:prstGeom prst="rect">
            <a:avLst/>
          </a:prstGeom>
          <a:solidFill>
            <a:srgbClr val="131D33"/>
          </a:solidFill>
          <a:ln/>
        </p:spPr>
      </p:sp>
      <p:sp>
        <p:nvSpPr>
          <p:cNvPr id="12" name="Shape 10"/>
          <p:cNvSpPr/>
          <p:nvPr/>
        </p:nvSpPr>
        <p:spPr>
          <a:xfrm>
            <a:off x="731520" y="2331720"/>
            <a:ext cx="54864" cy="731520"/>
          </a:xfrm>
          <a:prstGeom prst="rect">
            <a:avLst/>
          </a:prstGeom>
          <a:solidFill>
            <a:srgbClr val="7B61FF"/>
          </a:solidFill>
          <a:ln/>
        </p:spPr>
      </p:sp>
      <p:sp>
        <p:nvSpPr>
          <p:cNvPr id="13" name="Text 11"/>
          <p:cNvSpPr/>
          <p:nvPr/>
        </p:nvSpPr>
        <p:spPr>
          <a:xfrm>
            <a:off x="1005840" y="2377440"/>
            <a:ext cx="1645920" cy="201168"/>
          </a:xfrm>
          <a:prstGeom prst="rect">
            <a:avLst/>
          </a:prstGeom>
          <a:noFill/>
          <a:ln/>
        </p:spPr>
        <p:txBody>
          <a:bodyPr wrap="square" lIns="0" tIns="0" rIns="0" bIns="0" rtlCol="0" anchor="ctr"/>
          <a:lstStyle/>
          <a:p>
            <a:pPr indent="0" marL="0">
              <a:buNone/>
            </a:pPr>
            <a:r>
              <a:rPr lang="en-US" sz="750" b="1" spc="200" kern="0" dirty="0">
                <a:solidFill>
                  <a:srgbClr val="7B61FF"/>
                </a:solidFill>
                <a:latin typeface="Calibri" pitchFamily="34" charset="0"/>
                <a:ea typeface="Calibri" pitchFamily="34" charset="-122"/>
                <a:cs typeface="Calibri" pitchFamily="34" charset="-120"/>
              </a:rPr>
              <a:t>INTELLIGENCE</a:t>
            </a:r>
            <a:endParaRPr lang="en-US" sz="750" dirty="0"/>
          </a:p>
        </p:txBody>
      </p:sp>
      <p:sp>
        <p:nvSpPr>
          <p:cNvPr id="14" name="Text 12"/>
          <p:cNvSpPr/>
          <p:nvPr/>
        </p:nvSpPr>
        <p:spPr>
          <a:xfrm>
            <a:off x="1005840" y="2587752"/>
            <a:ext cx="1645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AI &amp; GenAI Models</a:t>
            </a:r>
            <a:endParaRPr lang="en-US" sz="1300" dirty="0"/>
          </a:p>
        </p:txBody>
      </p:sp>
      <p:sp>
        <p:nvSpPr>
          <p:cNvPr id="15" name="Text 13"/>
          <p:cNvSpPr/>
          <p:nvPr/>
        </p:nvSpPr>
        <p:spPr>
          <a:xfrm>
            <a:off x="3017520" y="2423160"/>
            <a:ext cx="5212080" cy="54864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Azure OpenAI  ·  Vertex AI  ·  Bedrock  ·  NTT Smart AI Agent™  ·  Syntphony</a:t>
            </a:r>
            <a:endParaRPr lang="en-US" sz="900" dirty="0"/>
          </a:p>
        </p:txBody>
      </p:sp>
      <p:sp>
        <p:nvSpPr>
          <p:cNvPr id="16" name="Shape 14"/>
          <p:cNvSpPr/>
          <p:nvPr/>
        </p:nvSpPr>
        <p:spPr>
          <a:xfrm>
            <a:off x="731520" y="3200400"/>
            <a:ext cx="7680960" cy="731520"/>
          </a:xfrm>
          <a:prstGeom prst="rect">
            <a:avLst/>
          </a:prstGeom>
          <a:solidFill>
            <a:srgbClr val="131D33"/>
          </a:solidFill>
          <a:ln/>
        </p:spPr>
      </p:sp>
      <p:sp>
        <p:nvSpPr>
          <p:cNvPr id="17" name="Shape 15"/>
          <p:cNvSpPr/>
          <p:nvPr/>
        </p:nvSpPr>
        <p:spPr>
          <a:xfrm>
            <a:off x="731520" y="3200400"/>
            <a:ext cx="54864" cy="731520"/>
          </a:xfrm>
          <a:prstGeom prst="rect">
            <a:avLst/>
          </a:prstGeom>
          <a:solidFill>
            <a:srgbClr val="00C9A7"/>
          </a:solidFill>
          <a:ln/>
        </p:spPr>
      </p:sp>
      <p:sp>
        <p:nvSpPr>
          <p:cNvPr id="18" name="Text 16"/>
          <p:cNvSpPr/>
          <p:nvPr/>
        </p:nvSpPr>
        <p:spPr>
          <a:xfrm>
            <a:off x="1005840" y="3246120"/>
            <a:ext cx="1645920" cy="201168"/>
          </a:xfrm>
          <a:prstGeom prst="rect">
            <a:avLst/>
          </a:prstGeom>
          <a:noFill/>
          <a:ln/>
        </p:spPr>
        <p:txBody>
          <a:bodyPr wrap="square" lIns="0" tIns="0" rIns="0" bIns="0" rtlCol="0" anchor="ctr"/>
          <a:lstStyle/>
          <a:p>
            <a:pPr indent="0" marL="0">
              <a:buNone/>
            </a:pPr>
            <a:r>
              <a:rPr lang="en-US" sz="750" b="1" spc="200" kern="0" dirty="0">
                <a:solidFill>
                  <a:srgbClr val="00C9A7"/>
                </a:solidFill>
                <a:latin typeface="Calibri" pitchFamily="34" charset="0"/>
                <a:ea typeface="Calibri" pitchFamily="34" charset="-122"/>
                <a:cs typeface="Calibri" pitchFamily="34" charset="-120"/>
              </a:rPr>
              <a:t>ANALYTICS</a:t>
            </a:r>
            <a:endParaRPr lang="en-US" sz="750" dirty="0"/>
          </a:p>
        </p:txBody>
      </p:sp>
      <p:sp>
        <p:nvSpPr>
          <p:cNvPr id="19" name="Text 17"/>
          <p:cNvSpPr/>
          <p:nvPr/>
        </p:nvSpPr>
        <p:spPr>
          <a:xfrm>
            <a:off x="1005840" y="3456432"/>
            <a:ext cx="1645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Insight &amp; Decision</a:t>
            </a:r>
            <a:endParaRPr lang="en-US" sz="1300" dirty="0"/>
          </a:p>
        </p:txBody>
      </p:sp>
      <p:sp>
        <p:nvSpPr>
          <p:cNvPr id="20" name="Text 18"/>
          <p:cNvSpPr/>
          <p:nvPr/>
        </p:nvSpPr>
        <p:spPr>
          <a:xfrm>
            <a:off x="3017520" y="3291840"/>
            <a:ext cx="5212080" cy="54864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Power BI + Copilot  ·  Tableau  ·  Celonis  ·  Databricks ML  ·  Superset</a:t>
            </a:r>
            <a:endParaRPr lang="en-US" sz="900" dirty="0"/>
          </a:p>
        </p:txBody>
      </p:sp>
      <p:sp>
        <p:nvSpPr>
          <p:cNvPr id="21" name="Shape 19"/>
          <p:cNvSpPr/>
          <p:nvPr/>
        </p:nvSpPr>
        <p:spPr>
          <a:xfrm>
            <a:off x="731520" y="4069080"/>
            <a:ext cx="7680960" cy="731520"/>
          </a:xfrm>
          <a:prstGeom prst="rect">
            <a:avLst/>
          </a:prstGeom>
          <a:solidFill>
            <a:srgbClr val="131D33"/>
          </a:solidFill>
          <a:ln/>
        </p:spPr>
      </p:sp>
      <p:sp>
        <p:nvSpPr>
          <p:cNvPr id="22" name="Shape 20"/>
          <p:cNvSpPr/>
          <p:nvPr/>
        </p:nvSpPr>
        <p:spPr>
          <a:xfrm>
            <a:off x="731520" y="4069080"/>
            <a:ext cx="54864" cy="731520"/>
          </a:xfrm>
          <a:prstGeom prst="rect">
            <a:avLst/>
          </a:prstGeom>
          <a:solidFill>
            <a:srgbClr val="FFB547"/>
          </a:solidFill>
          <a:ln/>
        </p:spPr>
      </p:sp>
      <p:sp>
        <p:nvSpPr>
          <p:cNvPr id="23" name="Text 21"/>
          <p:cNvSpPr/>
          <p:nvPr/>
        </p:nvSpPr>
        <p:spPr>
          <a:xfrm>
            <a:off x="1005840" y="4114800"/>
            <a:ext cx="1645920" cy="201168"/>
          </a:xfrm>
          <a:prstGeom prst="rect">
            <a:avLst/>
          </a:prstGeom>
          <a:noFill/>
          <a:ln/>
        </p:spPr>
        <p:txBody>
          <a:bodyPr wrap="square" lIns="0" tIns="0" rIns="0" bIns="0" rtlCol="0" anchor="ctr"/>
          <a:lstStyle/>
          <a:p>
            <a:pPr indent="0" marL="0">
              <a:buNone/>
            </a:pPr>
            <a:r>
              <a:rPr lang="en-US" sz="750" b="1" spc="200" kern="0" dirty="0">
                <a:solidFill>
                  <a:srgbClr val="FFB547"/>
                </a:solidFill>
                <a:latin typeface="Calibri" pitchFamily="34" charset="0"/>
                <a:ea typeface="Calibri" pitchFamily="34" charset="-122"/>
                <a:cs typeface="Calibri" pitchFamily="34" charset="-120"/>
              </a:rPr>
              <a:t>FOUNDATION</a:t>
            </a:r>
            <a:endParaRPr lang="en-US" sz="750" dirty="0"/>
          </a:p>
        </p:txBody>
      </p:sp>
      <p:sp>
        <p:nvSpPr>
          <p:cNvPr id="24" name="Text 22"/>
          <p:cNvSpPr/>
          <p:nvPr/>
        </p:nvSpPr>
        <p:spPr>
          <a:xfrm>
            <a:off x="1005840" y="4325112"/>
            <a:ext cx="1645920" cy="32004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Data Platform</a:t>
            </a:r>
            <a:endParaRPr lang="en-US" sz="1300" dirty="0"/>
          </a:p>
        </p:txBody>
      </p:sp>
      <p:sp>
        <p:nvSpPr>
          <p:cNvPr id="25" name="Text 23"/>
          <p:cNvSpPr/>
          <p:nvPr/>
        </p:nvSpPr>
        <p:spPr>
          <a:xfrm>
            <a:off x="3017520" y="4160520"/>
            <a:ext cx="5212080" cy="54864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Databricks  ·  Snowflake  ·  dbt / Airflow  ·  Kafka  ·  BigQuery  ·  Synapse</a:t>
            </a:r>
            <a:endParaRPr lang="en-US" sz="900" dirty="0"/>
          </a:p>
        </p:txBody>
      </p:sp>
      <p:sp>
        <p:nvSpPr>
          <p:cNvPr id="26" name="Shape 24"/>
          <p:cNvSpPr/>
          <p:nvPr/>
        </p:nvSpPr>
        <p:spPr>
          <a:xfrm>
            <a:off x="731520" y="4572000"/>
            <a:ext cx="7680960" cy="411480"/>
          </a:xfrm>
          <a:prstGeom prst="rect">
            <a:avLst/>
          </a:prstGeom>
          <a:solidFill>
            <a:srgbClr val="182440"/>
          </a:solidFill>
          <a:ln/>
        </p:spPr>
      </p:sp>
      <p:sp>
        <p:nvSpPr>
          <p:cNvPr id="27" name="Text 25"/>
          <p:cNvSpPr/>
          <p:nvPr/>
        </p:nvSpPr>
        <p:spPr>
          <a:xfrm>
            <a:off x="1005840" y="4617720"/>
            <a:ext cx="7132320" cy="320040"/>
          </a:xfrm>
          <a:prstGeom prst="rect">
            <a:avLst/>
          </a:prstGeom>
          <a:noFill/>
          <a:ln/>
        </p:spPr>
        <p:txBody>
          <a:bodyPr wrap="square" lIns="0" tIns="0" rIns="0" bIns="0" rtlCol="0" anchor="ctr"/>
          <a:lstStyle/>
          <a:p>
            <a:pPr indent="0" marL="0">
              <a:buNone/>
            </a:pPr>
            <a:r>
              <a:rPr lang="en-US" sz="850" dirty="0">
                <a:solidFill>
                  <a:srgbClr val="FF6B8A"/>
                </a:solidFill>
                <a:latin typeface="Calibri" pitchFamily="34" charset="0"/>
                <a:ea typeface="Calibri" pitchFamily="34" charset="-122"/>
                <a:cs typeface="Calibri" pitchFamily="34" charset="-120"/>
              </a:rPr>
              <a:t>CROSS-CUTTING:  Responsible AI  ·  EU AI Act Compliance  ·  Explainability  ·  Model Lineage  ·  FinOps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RAPID VALUE DEMONSTRATION</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See Results in 4 Weeks</a:t>
            </a:r>
            <a:endParaRPr lang="en-US" sz="2600" dirty="0"/>
          </a:p>
        </p:txBody>
      </p:sp>
      <p:sp>
        <p:nvSpPr>
          <p:cNvPr id="5" name="Text 3"/>
          <p:cNvSpPr/>
          <p:nvPr/>
        </p:nvSpPr>
        <p:spPr>
          <a:xfrm>
            <a:off x="731520" y="1051560"/>
            <a:ext cx="7315200" cy="411480"/>
          </a:xfrm>
          <a:prstGeom prst="rect">
            <a:avLst/>
          </a:prstGeom>
          <a:noFill/>
          <a:ln/>
        </p:spPr>
        <p:txBody>
          <a:bodyPr wrap="square" lIns="0" tIns="0" rIns="0" bIns="0" rtlCol="0" anchor="ctr"/>
          <a:lstStyle/>
          <a:p>
            <a:pPr indent="0" marL="0">
              <a:buNone/>
            </a:pPr>
            <a:r>
              <a:rPr lang="en-US" sz="1050" dirty="0">
                <a:solidFill>
                  <a:srgbClr val="8B9DC3"/>
                </a:solidFill>
                <a:latin typeface="Calibri" pitchFamily="34" charset="0"/>
                <a:ea typeface="Calibri" pitchFamily="34" charset="-122"/>
                <a:cs typeface="Calibri" pitchFamily="34" charset="-120"/>
              </a:rPr>
              <a:t>We don't ask you to commit before seeing value. Our Rapid PoC framework delivers measurable results in 4 weeks — de-risking your investment before scaling.</a:t>
            </a:r>
            <a:endParaRPr lang="en-US" sz="1050" dirty="0"/>
          </a:p>
        </p:txBody>
      </p:sp>
      <p:sp>
        <p:nvSpPr>
          <p:cNvPr id="6" name="Shape 4"/>
          <p:cNvSpPr/>
          <p:nvPr/>
        </p:nvSpPr>
        <p:spPr>
          <a:xfrm>
            <a:off x="731520" y="1691640"/>
            <a:ext cx="1920240" cy="201168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7" name="Shape 5"/>
          <p:cNvSpPr/>
          <p:nvPr/>
        </p:nvSpPr>
        <p:spPr>
          <a:xfrm>
            <a:off x="731520" y="1691640"/>
            <a:ext cx="1920240" cy="36576"/>
          </a:xfrm>
          <a:prstGeom prst="rect">
            <a:avLst/>
          </a:prstGeom>
          <a:solidFill>
            <a:srgbClr val="00D4FF"/>
          </a:solidFill>
          <a:ln/>
        </p:spPr>
      </p:sp>
      <p:sp>
        <p:nvSpPr>
          <p:cNvPr id="8" name="Text 6"/>
          <p:cNvSpPr/>
          <p:nvPr/>
        </p:nvSpPr>
        <p:spPr>
          <a:xfrm>
            <a:off x="868680" y="1801368"/>
            <a:ext cx="1645920" cy="201168"/>
          </a:xfrm>
          <a:prstGeom prst="rect">
            <a:avLst/>
          </a:prstGeom>
          <a:noFill/>
          <a:ln/>
        </p:spPr>
        <p:txBody>
          <a:bodyPr wrap="square" lIns="0" tIns="0" rIns="0" bIns="0" rtlCol="0" anchor="ctr"/>
          <a:lstStyle/>
          <a:p>
            <a:pPr indent="0" marL="0">
              <a:buNone/>
            </a:pPr>
            <a:r>
              <a:rPr lang="en-US" sz="800" b="1" spc="200" kern="0" dirty="0">
                <a:solidFill>
                  <a:srgbClr val="00D4FF"/>
                </a:solidFill>
                <a:latin typeface="Calibri" pitchFamily="34" charset="0"/>
                <a:ea typeface="Calibri" pitchFamily="34" charset="-122"/>
                <a:cs typeface="Calibri" pitchFamily="34" charset="-120"/>
              </a:rPr>
              <a:t>WEEK 1</a:t>
            </a:r>
            <a:endParaRPr lang="en-US" sz="800" dirty="0"/>
          </a:p>
        </p:txBody>
      </p:sp>
      <p:sp>
        <p:nvSpPr>
          <p:cNvPr id="9" name="Text 7"/>
          <p:cNvSpPr/>
          <p:nvPr/>
        </p:nvSpPr>
        <p:spPr>
          <a:xfrm>
            <a:off x="868680" y="2029968"/>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Discovery</a:t>
            </a:r>
            <a:endParaRPr lang="en-US" sz="1400" dirty="0"/>
          </a:p>
        </p:txBody>
      </p:sp>
      <p:sp>
        <p:nvSpPr>
          <p:cNvPr id="10" name="Text 8"/>
          <p:cNvSpPr/>
          <p:nvPr/>
        </p:nvSpPr>
        <p:spPr>
          <a:xfrm>
            <a:off x="868680" y="2423160"/>
            <a:ext cx="1645920" cy="82296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Data readiness</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assessment, use case</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prioritization, KPIs</a:t>
            </a:r>
            <a:endParaRPr lang="en-US" sz="850" dirty="0"/>
          </a:p>
        </p:txBody>
      </p:sp>
      <p:sp>
        <p:nvSpPr>
          <p:cNvPr id="11" name="Text 9"/>
          <p:cNvSpPr/>
          <p:nvPr/>
        </p:nvSpPr>
        <p:spPr>
          <a:xfrm>
            <a:off x="2651760" y="2468880"/>
            <a:ext cx="182880" cy="274320"/>
          </a:xfrm>
          <a:prstGeom prst="rect">
            <a:avLst/>
          </a:prstGeom>
          <a:noFill/>
          <a:ln/>
        </p:spPr>
        <p:txBody>
          <a:bodyPr wrap="square" lIns="0" tIns="0" rIns="0" bIns="0" rtlCol="0" anchor="ctr"/>
          <a:lstStyle/>
          <a:p>
            <a:pPr algn="ctr" indent="0" marL="0">
              <a:buNone/>
            </a:pPr>
            <a:r>
              <a:rPr lang="en-US" sz="1400" dirty="0">
                <a:solidFill>
                  <a:srgbClr val="5A6F94"/>
                </a:solidFill>
                <a:latin typeface="Calibri" pitchFamily="34" charset="0"/>
                <a:ea typeface="Calibri" pitchFamily="34" charset="-122"/>
                <a:cs typeface="Calibri" pitchFamily="34" charset="-120"/>
              </a:rPr>
              <a:t>→</a:t>
            </a:r>
            <a:endParaRPr lang="en-US" sz="1400" dirty="0"/>
          </a:p>
        </p:txBody>
      </p:sp>
      <p:sp>
        <p:nvSpPr>
          <p:cNvPr id="12" name="Shape 10"/>
          <p:cNvSpPr/>
          <p:nvPr/>
        </p:nvSpPr>
        <p:spPr>
          <a:xfrm>
            <a:off x="2834640" y="1691640"/>
            <a:ext cx="1920240" cy="201168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3" name="Shape 11"/>
          <p:cNvSpPr/>
          <p:nvPr/>
        </p:nvSpPr>
        <p:spPr>
          <a:xfrm>
            <a:off x="2834640" y="1691640"/>
            <a:ext cx="1920240" cy="36576"/>
          </a:xfrm>
          <a:prstGeom prst="rect">
            <a:avLst/>
          </a:prstGeom>
          <a:solidFill>
            <a:srgbClr val="00D4FF"/>
          </a:solidFill>
          <a:ln/>
        </p:spPr>
      </p:sp>
      <p:sp>
        <p:nvSpPr>
          <p:cNvPr id="14" name="Text 12"/>
          <p:cNvSpPr/>
          <p:nvPr/>
        </p:nvSpPr>
        <p:spPr>
          <a:xfrm>
            <a:off x="2971800" y="1801368"/>
            <a:ext cx="1645920" cy="201168"/>
          </a:xfrm>
          <a:prstGeom prst="rect">
            <a:avLst/>
          </a:prstGeom>
          <a:noFill/>
          <a:ln/>
        </p:spPr>
        <p:txBody>
          <a:bodyPr wrap="square" lIns="0" tIns="0" rIns="0" bIns="0" rtlCol="0" anchor="ctr"/>
          <a:lstStyle/>
          <a:p>
            <a:pPr indent="0" marL="0">
              <a:buNone/>
            </a:pPr>
            <a:r>
              <a:rPr lang="en-US" sz="800" b="1" spc="200" kern="0" dirty="0">
                <a:solidFill>
                  <a:srgbClr val="00D4FF"/>
                </a:solidFill>
                <a:latin typeface="Calibri" pitchFamily="34" charset="0"/>
                <a:ea typeface="Calibri" pitchFamily="34" charset="-122"/>
                <a:cs typeface="Calibri" pitchFamily="34" charset="-120"/>
              </a:rPr>
              <a:t>WEEK 2</a:t>
            </a:r>
            <a:endParaRPr lang="en-US" sz="800" dirty="0"/>
          </a:p>
        </p:txBody>
      </p:sp>
      <p:sp>
        <p:nvSpPr>
          <p:cNvPr id="15" name="Text 13"/>
          <p:cNvSpPr/>
          <p:nvPr/>
        </p:nvSpPr>
        <p:spPr>
          <a:xfrm>
            <a:off x="2971800" y="2029968"/>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Build</a:t>
            </a:r>
            <a:endParaRPr lang="en-US" sz="1400" dirty="0"/>
          </a:p>
        </p:txBody>
      </p:sp>
      <p:sp>
        <p:nvSpPr>
          <p:cNvPr id="16" name="Text 14"/>
          <p:cNvSpPr/>
          <p:nvPr/>
        </p:nvSpPr>
        <p:spPr>
          <a:xfrm>
            <a:off x="2971800" y="2423160"/>
            <a:ext cx="1645920" cy="82296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Working prototype</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with real data</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and agent workflows</a:t>
            </a:r>
            <a:endParaRPr lang="en-US" sz="850" dirty="0"/>
          </a:p>
        </p:txBody>
      </p:sp>
      <p:sp>
        <p:nvSpPr>
          <p:cNvPr id="17" name="Text 15"/>
          <p:cNvSpPr/>
          <p:nvPr/>
        </p:nvSpPr>
        <p:spPr>
          <a:xfrm>
            <a:off x="4754880" y="2468880"/>
            <a:ext cx="182880" cy="274320"/>
          </a:xfrm>
          <a:prstGeom prst="rect">
            <a:avLst/>
          </a:prstGeom>
          <a:noFill/>
          <a:ln/>
        </p:spPr>
        <p:txBody>
          <a:bodyPr wrap="square" lIns="0" tIns="0" rIns="0" bIns="0" rtlCol="0" anchor="ctr"/>
          <a:lstStyle/>
          <a:p>
            <a:pPr algn="ctr" indent="0" marL="0">
              <a:buNone/>
            </a:pPr>
            <a:r>
              <a:rPr lang="en-US" sz="1400" dirty="0">
                <a:solidFill>
                  <a:srgbClr val="5A6F94"/>
                </a:solidFill>
                <a:latin typeface="Calibri" pitchFamily="34" charset="0"/>
                <a:ea typeface="Calibri" pitchFamily="34" charset="-122"/>
                <a:cs typeface="Calibri" pitchFamily="34" charset="-120"/>
              </a:rPr>
              <a:t>→</a:t>
            </a:r>
            <a:endParaRPr lang="en-US" sz="1400" dirty="0"/>
          </a:p>
        </p:txBody>
      </p:sp>
      <p:sp>
        <p:nvSpPr>
          <p:cNvPr id="18" name="Shape 16"/>
          <p:cNvSpPr/>
          <p:nvPr/>
        </p:nvSpPr>
        <p:spPr>
          <a:xfrm>
            <a:off x="4937760" y="1691640"/>
            <a:ext cx="1920240" cy="201168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9" name="Shape 17"/>
          <p:cNvSpPr/>
          <p:nvPr/>
        </p:nvSpPr>
        <p:spPr>
          <a:xfrm>
            <a:off x="4937760" y="1691640"/>
            <a:ext cx="1920240" cy="36576"/>
          </a:xfrm>
          <a:prstGeom prst="rect">
            <a:avLst/>
          </a:prstGeom>
          <a:solidFill>
            <a:srgbClr val="00D4FF"/>
          </a:solidFill>
          <a:ln/>
        </p:spPr>
      </p:sp>
      <p:sp>
        <p:nvSpPr>
          <p:cNvPr id="20" name="Text 18"/>
          <p:cNvSpPr/>
          <p:nvPr/>
        </p:nvSpPr>
        <p:spPr>
          <a:xfrm>
            <a:off x="5074920" y="1801368"/>
            <a:ext cx="1645920" cy="201168"/>
          </a:xfrm>
          <a:prstGeom prst="rect">
            <a:avLst/>
          </a:prstGeom>
          <a:noFill/>
          <a:ln/>
        </p:spPr>
        <p:txBody>
          <a:bodyPr wrap="square" lIns="0" tIns="0" rIns="0" bIns="0" rtlCol="0" anchor="ctr"/>
          <a:lstStyle/>
          <a:p>
            <a:pPr indent="0" marL="0">
              <a:buNone/>
            </a:pPr>
            <a:r>
              <a:rPr lang="en-US" sz="800" b="1" spc="200" kern="0" dirty="0">
                <a:solidFill>
                  <a:srgbClr val="00D4FF"/>
                </a:solidFill>
                <a:latin typeface="Calibri" pitchFamily="34" charset="0"/>
                <a:ea typeface="Calibri" pitchFamily="34" charset="-122"/>
                <a:cs typeface="Calibri" pitchFamily="34" charset="-120"/>
              </a:rPr>
              <a:t>WEEK 3</a:t>
            </a:r>
            <a:endParaRPr lang="en-US" sz="800" dirty="0"/>
          </a:p>
        </p:txBody>
      </p:sp>
      <p:sp>
        <p:nvSpPr>
          <p:cNvPr id="21" name="Text 19"/>
          <p:cNvSpPr/>
          <p:nvPr/>
        </p:nvSpPr>
        <p:spPr>
          <a:xfrm>
            <a:off x="5074920" y="2029968"/>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Validate</a:t>
            </a:r>
            <a:endParaRPr lang="en-US" sz="1400" dirty="0"/>
          </a:p>
        </p:txBody>
      </p:sp>
      <p:sp>
        <p:nvSpPr>
          <p:cNvPr id="22" name="Text 20"/>
          <p:cNvSpPr/>
          <p:nvPr/>
        </p:nvSpPr>
        <p:spPr>
          <a:xfrm>
            <a:off x="5074920" y="2423160"/>
            <a:ext cx="1645920" cy="82296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Real users test,</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feedback, iterate,</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measure accuracy</a:t>
            </a:r>
            <a:endParaRPr lang="en-US" sz="850" dirty="0"/>
          </a:p>
        </p:txBody>
      </p:sp>
      <p:sp>
        <p:nvSpPr>
          <p:cNvPr id="23" name="Text 21"/>
          <p:cNvSpPr/>
          <p:nvPr/>
        </p:nvSpPr>
        <p:spPr>
          <a:xfrm>
            <a:off x="6858000" y="2468880"/>
            <a:ext cx="182880" cy="274320"/>
          </a:xfrm>
          <a:prstGeom prst="rect">
            <a:avLst/>
          </a:prstGeom>
          <a:noFill/>
          <a:ln/>
        </p:spPr>
        <p:txBody>
          <a:bodyPr wrap="square" lIns="0" tIns="0" rIns="0" bIns="0" rtlCol="0" anchor="ctr"/>
          <a:lstStyle/>
          <a:p>
            <a:pPr algn="ctr" indent="0" marL="0">
              <a:buNone/>
            </a:pPr>
            <a:r>
              <a:rPr lang="en-US" sz="1400" dirty="0">
                <a:solidFill>
                  <a:srgbClr val="5A6F94"/>
                </a:solidFill>
                <a:latin typeface="Calibri" pitchFamily="34" charset="0"/>
                <a:ea typeface="Calibri" pitchFamily="34" charset="-122"/>
                <a:cs typeface="Calibri" pitchFamily="34" charset="-120"/>
              </a:rPr>
              <a:t>→</a:t>
            </a:r>
            <a:endParaRPr lang="en-US" sz="1400" dirty="0"/>
          </a:p>
        </p:txBody>
      </p:sp>
      <p:sp>
        <p:nvSpPr>
          <p:cNvPr id="24" name="Shape 22"/>
          <p:cNvSpPr/>
          <p:nvPr/>
        </p:nvSpPr>
        <p:spPr>
          <a:xfrm>
            <a:off x="7040880" y="1691640"/>
            <a:ext cx="1920240" cy="201168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5" name="Shape 23"/>
          <p:cNvSpPr/>
          <p:nvPr/>
        </p:nvSpPr>
        <p:spPr>
          <a:xfrm>
            <a:off x="7040880" y="1691640"/>
            <a:ext cx="1920240" cy="36576"/>
          </a:xfrm>
          <a:prstGeom prst="rect">
            <a:avLst/>
          </a:prstGeom>
          <a:solidFill>
            <a:srgbClr val="00D4FF"/>
          </a:solidFill>
          <a:ln/>
        </p:spPr>
      </p:sp>
      <p:sp>
        <p:nvSpPr>
          <p:cNvPr id="26" name="Text 24"/>
          <p:cNvSpPr/>
          <p:nvPr/>
        </p:nvSpPr>
        <p:spPr>
          <a:xfrm>
            <a:off x="7178040" y="1801368"/>
            <a:ext cx="1645920" cy="201168"/>
          </a:xfrm>
          <a:prstGeom prst="rect">
            <a:avLst/>
          </a:prstGeom>
          <a:noFill/>
          <a:ln/>
        </p:spPr>
        <p:txBody>
          <a:bodyPr wrap="square" lIns="0" tIns="0" rIns="0" bIns="0" rtlCol="0" anchor="ctr"/>
          <a:lstStyle/>
          <a:p>
            <a:pPr indent="0" marL="0">
              <a:buNone/>
            </a:pPr>
            <a:r>
              <a:rPr lang="en-US" sz="800" b="1" spc="200" kern="0" dirty="0">
                <a:solidFill>
                  <a:srgbClr val="00D4FF"/>
                </a:solidFill>
                <a:latin typeface="Calibri" pitchFamily="34" charset="0"/>
                <a:ea typeface="Calibri" pitchFamily="34" charset="-122"/>
                <a:cs typeface="Calibri" pitchFamily="34" charset="-120"/>
              </a:rPr>
              <a:t>WEEK 4</a:t>
            </a:r>
            <a:endParaRPr lang="en-US" sz="800" dirty="0"/>
          </a:p>
        </p:txBody>
      </p:sp>
      <p:sp>
        <p:nvSpPr>
          <p:cNvPr id="27" name="Text 25"/>
          <p:cNvSpPr/>
          <p:nvPr/>
        </p:nvSpPr>
        <p:spPr>
          <a:xfrm>
            <a:off x="7178040" y="2029968"/>
            <a:ext cx="1645920" cy="320040"/>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Scale Plan</a:t>
            </a:r>
            <a:endParaRPr lang="en-US" sz="1400" dirty="0"/>
          </a:p>
        </p:txBody>
      </p:sp>
      <p:sp>
        <p:nvSpPr>
          <p:cNvPr id="28" name="Text 26"/>
          <p:cNvSpPr/>
          <p:nvPr/>
        </p:nvSpPr>
        <p:spPr>
          <a:xfrm>
            <a:off x="7178040" y="2423160"/>
            <a:ext cx="1645920" cy="822960"/>
          </a:xfrm>
          <a:prstGeom prst="rect">
            <a:avLst/>
          </a:prstGeom>
          <a:noFill/>
          <a:ln/>
        </p:spPr>
        <p:txBody>
          <a:bodyPr wrap="square" lIns="0" tIns="0" rIns="0" bIns="0" rtlCol="0" anchor="ctr"/>
          <a:lstStyle/>
          <a:p>
            <a:pPr indent="0" marL="0">
              <a:buNone/>
            </a:pPr>
            <a:r>
              <a:rPr lang="en-US" sz="850" dirty="0">
                <a:solidFill>
                  <a:srgbClr val="8B9DC3"/>
                </a:solidFill>
                <a:latin typeface="Calibri" pitchFamily="34" charset="0"/>
                <a:ea typeface="Calibri" pitchFamily="34" charset="-122"/>
                <a:cs typeface="Calibri" pitchFamily="34" charset="-120"/>
              </a:rPr>
              <a:t>ROI projection,</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business case,</a:t>
            </a:r>
            <a:endParaRPr lang="en-US" sz="850" dirty="0"/>
          </a:p>
          <a:p>
            <a:pPr indent="0" marL="0">
              <a:buNone/>
            </a:pPr>
            <a:r>
              <a:rPr lang="en-US" sz="850" dirty="0">
                <a:solidFill>
                  <a:srgbClr val="8B9DC3"/>
                </a:solidFill>
                <a:latin typeface="Calibri" pitchFamily="34" charset="0"/>
                <a:ea typeface="Calibri" pitchFamily="34" charset="-122"/>
                <a:cs typeface="Calibri" pitchFamily="34" charset="-120"/>
              </a:rPr>
              <a:t>industrialization roadmap</a:t>
            </a:r>
            <a:endParaRPr lang="en-US" sz="850" dirty="0"/>
          </a:p>
        </p:txBody>
      </p:sp>
      <p:sp>
        <p:nvSpPr>
          <p:cNvPr id="29" name="Text 27"/>
          <p:cNvSpPr/>
          <p:nvPr/>
        </p:nvSpPr>
        <p:spPr>
          <a:xfrm>
            <a:off x="731520" y="3931920"/>
            <a:ext cx="4572000" cy="228600"/>
          </a:xfrm>
          <a:prstGeom prst="rect">
            <a:avLst/>
          </a:prstGeom>
          <a:noFill/>
          <a:ln/>
        </p:spPr>
        <p:txBody>
          <a:bodyPr wrap="square" lIns="0" tIns="0" rIns="0" bIns="0" rtlCol="0" anchor="ctr"/>
          <a:lstStyle/>
          <a:p>
            <a:pPr indent="0" marL="0">
              <a:buNone/>
            </a:pPr>
            <a:r>
              <a:rPr lang="en-US" sz="800" b="1" spc="200" kern="0" dirty="0">
                <a:solidFill>
                  <a:srgbClr val="00C9A7"/>
                </a:solidFill>
                <a:latin typeface="Calibri" pitchFamily="34" charset="0"/>
                <a:ea typeface="Calibri" pitchFamily="34" charset="-122"/>
                <a:cs typeface="Calibri" pitchFamily="34" charset="-120"/>
              </a:rPr>
              <a:t>READY-TO-DEPLOY TEMPLATES</a:t>
            </a:r>
            <a:endParaRPr lang="en-US" sz="800" dirty="0"/>
          </a:p>
        </p:txBody>
      </p:sp>
      <p:pic>
        <p:nvPicPr>
          <p:cNvPr id="30" name="Image 0" descr="preencoded.png">    </p:cNvPr>
          <p:cNvPicPr>
            <a:picLocks noChangeAspect="1"/>
          </p:cNvPicPr>
          <p:nvPr/>
        </p:nvPicPr>
        <p:blipFill>
          <a:blip r:embed="rId1"/>
          <a:stretch>
            <a:fillRect/>
          </a:stretch>
        </p:blipFill>
        <p:spPr>
          <a:xfrm>
            <a:off x="731520" y="4224528"/>
            <a:ext cx="137160" cy="137160"/>
          </a:xfrm>
          <a:prstGeom prst="rect">
            <a:avLst/>
          </a:prstGeom>
        </p:spPr>
      </p:pic>
      <p:sp>
        <p:nvSpPr>
          <p:cNvPr id="31" name="Text 28"/>
          <p:cNvSpPr/>
          <p:nvPr/>
        </p:nvSpPr>
        <p:spPr>
          <a:xfrm>
            <a:off x="914400" y="4187952"/>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Intelligent Document Processing</a:t>
            </a:r>
            <a:endParaRPr lang="en-US" sz="900" dirty="0"/>
          </a:p>
        </p:txBody>
      </p:sp>
      <p:pic>
        <p:nvPicPr>
          <p:cNvPr id="32" name="Image 1" descr="preencoded.png">    </p:cNvPr>
          <p:cNvPicPr>
            <a:picLocks noChangeAspect="1"/>
          </p:cNvPicPr>
          <p:nvPr/>
        </p:nvPicPr>
        <p:blipFill>
          <a:blip r:embed="rId2"/>
          <a:stretch>
            <a:fillRect/>
          </a:stretch>
        </p:blipFill>
        <p:spPr>
          <a:xfrm>
            <a:off x="3566160" y="4224528"/>
            <a:ext cx="137160" cy="137160"/>
          </a:xfrm>
          <a:prstGeom prst="rect">
            <a:avLst/>
          </a:prstGeom>
        </p:spPr>
      </p:pic>
      <p:sp>
        <p:nvSpPr>
          <p:cNvPr id="33" name="Text 29"/>
          <p:cNvSpPr/>
          <p:nvPr/>
        </p:nvSpPr>
        <p:spPr>
          <a:xfrm>
            <a:off x="3749040" y="4187952"/>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Predictive Revenue Analytics</a:t>
            </a:r>
            <a:endParaRPr lang="en-US" sz="900" dirty="0"/>
          </a:p>
        </p:txBody>
      </p:sp>
      <p:pic>
        <p:nvPicPr>
          <p:cNvPr id="34" name="Image 2" descr="preencoded.png">    </p:cNvPr>
          <p:cNvPicPr>
            <a:picLocks noChangeAspect="1"/>
          </p:cNvPicPr>
          <p:nvPr/>
        </p:nvPicPr>
        <p:blipFill>
          <a:blip r:embed="rId3"/>
          <a:stretch>
            <a:fillRect/>
          </a:stretch>
        </p:blipFill>
        <p:spPr>
          <a:xfrm>
            <a:off x="6400800" y="4224528"/>
            <a:ext cx="137160" cy="137160"/>
          </a:xfrm>
          <a:prstGeom prst="rect">
            <a:avLst/>
          </a:prstGeom>
        </p:spPr>
      </p:pic>
      <p:sp>
        <p:nvSpPr>
          <p:cNvPr id="35" name="Text 30"/>
          <p:cNvSpPr/>
          <p:nvPr/>
        </p:nvSpPr>
        <p:spPr>
          <a:xfrm>
            <a:off x="6583680" y="4187952"/>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Customer Service AI Agent</a:t>
            </a:r>
            <a:endParaRPr lang="en-US" sz="900" dirty="0"/>
          </a:p>
        </p:txBody>
      </p:sp>
      <p:pic>
        <p:nvPicPr>
          <p:cNvPr id="36" name="Image 3" descr="preencoded.png">    </p:cNvPr>
          <p:cNvPicPr>
            <a:picLocks noChangeAspect="1"/>
          </p:cNvPicPr>
          <p:nvPr/>
        </p:nvPicPr>
        <p:blipFill>
          <a:blip r:embed="rId4"/>
          <a:stretch>
            <a:fillRect/>
          </a:stretch>
        </p:blipFill>
        <p:spPr>
          <a:xfrm>
            <a:off x="731520" y="4517136"/>
            <a:ext cx="137160" cy="137160"/>
          </a:xfrm>
          <a:prstGeom prst="rect">
            <a:avLst/>
          </a:prstGeom>
        </p:spPr>
      </p:pic>
      <p:sp>
        <p:nvSpPr>
          <p:cNvPr id="37" name="Text 31"/>
          <p:cNvSpPr/>
          <p:nvPr/>
        </p:nvSpPr>
        <p:spPr>
          <a:xfrm>
            <a:off x="914400" y="4480560"/>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Supply Chain Digital Twin</a:t>
            </a:r>
            <a:endParaRPr lang="en-US" sz="900" dirty="0"/>
          </a:p>
        </p:txBody>
      </p:sp>
      <p:pic>
        <p:nvPicPr>
          <p:cNvPr id="38" name="Image 4" descr="preencoded.png">    </p:cNvPr>
          <p:cNvPicPr>
            <a:picLocks noChangeAspect="1"/>
          </p:cNvPicPr>
          <p:nvPr/>
        </p:nvPicPr>
        <p:blipFill>
          <a:blip r:embed="rId5"/>
          <a:stretch>
            <a:fillRect/>
          </a:stretch>
        </p:blipFill>
        <p:spPr>
          <a:xfrm>
            <a:off x="3566160" y="4517136"/>
            <a:ext cx="137160" cy="137160"/>
          </a:xfrm>
          <a:prstGeom prst="rect">
            <a:avLst/>
          </a:prstGeom>
        </p:spPr>
      </p:pic>
      <p:sp>
        <p:nvSpPr>
          <p:cNvPr id="39" name="Text 32"/>
          <p:cNvSpPr/>
          <p:nvPr/>
        </p:nvSpPr>
        <p:spPr>
          <a:xfrm>
            <a:off x="3749040" y="4480560"/>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Fraud Detection &amp; AML Agent</a:t>
            </a:r>
            <a:endParaRPr lang="en-US" sz="900" dirty="0"/>
          </a:p>
        </p:txBody>
      </p:sp>
      <p:pic>
        <p:nvPicPr>
          <p:cNvPr id="40" name="Image 5" descr="preencoded.png">    </p:cNvPr>
          <p:cNvPicPr>
            <a:picLocks noChangeAspect="1"/>
          </p:cNvPicPr>
          <p:nvPr/>
        </p:nvPicPr>
        <p:blipFill>
          <a:blip r:embed="rId6"/>
          <a:stretch>
            <a:fillRect/>
          </a:stretch>
        </p:blipFill>
        <p:spPr>
          <a:xfrm>
            <a:off x="6400800" y="4517136"/>
            <a:ext cx="137160" cy="137160"/>
          </a:xfrm>
          <a:prstGeom prst="rect">
            <a:avLst/>
          </a:prstGeom>
        </p:spPr>
      </p:pic>
      <p:sp>
        <p:nvSpPr>
          <p:cNvPr id="41" name="Text 33"/>
          <p:cNvSpPr/>
          <p:nvPr/>
        </p:nvSpPr>
        <p:spPr>
          <a:xfrm>
            <a:off x="6583680" y="4480560"/>
            <a:ext cx="2560320" cy="22860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Conversational Analytics Copilot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CLIENT VALUE</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600" b="1" dirty="0">
                <a:solidFill>
                  <a:srgbClr val="FFFFFF"/>
                </a:solidFill>
                <a:latin typeface="Calibri" pitchFamily="34" charset="0"/>
                <a:ea typeface="Calibri" pitchFamily="34" charset="-122"/>
                <a:cs typeface="Calibri" pitchFamily="34" charset="-120"/>
              </a:rPr>
              <a:t>What You Get</a:t>
            </a:r>
            <a:endParaRPr lang="en-US" sz="2600" dirty="0"/>
          </a:p>
        </p:txBody>
      </p:sp>
      <p:sp>
        <p:nvSpPr>
          <p:cNvPr id="5" name="Shape 3"/>
          <p:cNvSpPr/>
          <p:nvPr/>
        </p:nvSpPr>
        <p:spPr>
          <a:xfrm>
            <a:off x="731520" y="114300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6" name="Shape 4"/>
          <p:cNvSpPr/>
          <p:nvPr/>
        </p:nvSpPr>
        <p:spPr>
          <a:xfrm>
            <a:off x="731520" y="1143000"/>
            <a:ext cx="54864" cy="1051560"/>
          </a:xfrm>
          <a:prstGeom prst="rect">
            <a:avLst/>
          </a:prstGeom>
          <a:solidFill>
            <a:srgbClr val="00D4FF"/>
          </a:solidFill>
          <a:ln/>
        </p:spPr>
      </p:sp>
      <p:pic>
        <p:nvPicPr>
          <p:cNvPr id="7" name="Image 0" descr="preencoded.png">    </p:cNvPr>
          <p:cNvPicPr>
            <a:picLocks noChangeAspect="1"/>
          </p:cNvPicPr>
          <p:nvPr/>
        </p:nvPicPr>
        <p:blipFill>
          <a:blip r:embed="rId1"/>
          <a:stretch>
            <a:fillRect/>
          </a:stretch>
        </p:blipFill>
        <p:spPr>
          <a:xfrm>
            <a:off x="914400" y="1280160"/>
            <a:ext cx="274320" cy="274320"/>
          </a:xfrm>
          <a:prstGeom prst="rect">
            <a:avLst/>
          </a:prstGeom>
        </p:spPr>
      </p:pic>
      <p:sp>
        <p:nvSpPr>
          <p:cNvPr id="8" name="Text 5"/>
          <p:cNvSpPr/>
          <p:nvPr/>
        </p:nvSpPr>
        <p:spPr>
          <a:xfrm>
            <a:off x="1325880" y="125272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5x Decision Velocity</a:t>
            </a:r>
            <a:endParaRPr lang="en-US" sz="1100" dirty="0"/>
          </a:p>
        </p:txBody>
      </p:sp>
      <p:sp>
        <p:nvSpPr>
          <p:cNvPr id="9" name="Text 6"/>
          <p:cNvSpPr/>
          <p:nvPr/>
        </p:nvSpPr>
        <p:spPr>
          <a:xfrm>
            <a:off x="914400" y="160020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Move from reactive reports to proactive AI-driven insights. Real-time predictions and scenario simulations replace weekly meetings.</a:t>
            </a:r>
            <a:endParaRPr lang="en-US" sz="800" dirty="0"/>
          </a:p>
        </p:txBody>
      </p:sp>
      <p:sp>
        <p:nvSpPr>
          <p:cNvPr id="10" name="Shape 7"/>
          <p:cNvSpPr/>
          <p:nvPr/>
        </p:nvSpPr>
        <p:spPr>
          <a:xfrm>
            <a:off x="4846320" y="114300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1" name="Shape 8"/>
          <p:cNvSpPr/>
          <p:nvPr/>
        </p:nvSpPr>
        <p:spPr>
          <a:xfrm>
            <a:off x="4846320" y="1143000"/>
            <a:ext cx="54864" cy="1051560"/>
          </a:xfrm>
          <a:prstGeom prst="rect">
            <a:avLst/>
          </a:prstGeom>
          <a:solidFill>
            <a:srgbClr val="00C9A7"/>
          </a:solidFill>
          <a:ln/>
        </p:spPr>
      </p:sp>
      <p:pic>
        <p:nvPicPr>
          <p:cNvPr id="12" name="Image 1" descr="preencoded.png">    </p:cNvPr>
          <p:cNvPicPr>
            <a:picLocks noChangeAspect="1"/>
          </p:cNvPicPr>
          <p:nvPr/>
        </p:nvPicPr>
        <p:blipFill>
          <a:blip r:embed="rId2"/>
          <a:stretch>
            <a:fillRect/>
          </a:stretch>
        </p:blipFill>
        <p:spPr>
          <a:xfrm>
            <a:off x="5029200" y="1280160"/>
            <a:ext cx="274320" cy="274320"/>
          </a:xfrm>
          <a:prstGeom prst="rect">
            <a:avLst/>
          </a:prstGeom>
        </p:spPr>
      </p:pic>
      <p:sp>
        <p:nvSpPr>
          <p:cNvPr id="13" name="Text 9"/>
          <p:cNvSpPr/>
          <p:nvPr/>
        </p:nvSpPr>
        <p:spPr>
          <a:xfrm>
            <a:off x="5440680" y="125272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30-40% Task Automation</a:t>
            </a:r>
            <a:endParaRPr lang="en-US" sz="1100" dirty="0"/>
          </a:p>
        </p:txBody>
      </p:sp>
      <p:sp>
        <p:nvSpPr>
          <p:cNvPr id="14" name="Text 10"/>
          <p:cNvSpPr/>
          <p:nvPr/>
        </p:nvSpPr>
        <p:spPr>
          <a:xfrm>
            <a:off x="5029200" y="160020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Autonomous agents handle reconciliation, document processing, reporting, and customer inquiries — freeing your team for strategic work.</a:t>
            </a:r>
            <a:endParaRPr lang="en-US" sz="800" dirty="0"/>
          </a:p>
        </p:txBody>
      </p:sp>
      <p:sp>
        <p:nvSpPr>
          <p:cNvPr id="15" name="Shape 11"/>
          <p:cNvSpPr/>
          <p:nvPr/>
        </p:nvSpPr>
        <p:spPr>
          <a:xfrm>
            <a:off x="731520" y="237744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6" name="Shape 12"/>
          <p:cNvSpPr/>
          <p:nvPr/>
        </p:nvSpPr>
        <p:spPr>
          <a:xfrm>
            <a:off x="731520" y="2377440"/>
            <a:ext cx="54864" cy="1051560"/>
          </a:xfrm>
          <a:prstGeom prst="rect">
            <a:avLst/>
          </a:prstGeom>
          <a:solidFill>
            <a:srgbClr val="FF6B8A"/>
          </a:solidFill>
          <a:ln/>
        </p:spPr>
      </p:sp>
      <p:pic>
        <p:nvPicPr>
          <p:cNvPr id="17" name="Image 2" descr="preencoded.png">    </p:cNvPr>
          <p:cNvPicPr>
            <a:picLocks noChangeAspect="1"/>
          </p:cNvPicPr>
          <p:nvPr/>
        </p:nvPicPr>
        <p:blipFill>
          <a:blip r:embed="rId3"/>
          <a:stretch>
            <a:fillRect/>
          </a:stretch>
        </p:blipFill>
        <p:spPr>
          <a:xfrm>
            <a:off x="914400" y="2514600"/>
            <a:ext cx="274320" cy="274320"/>
          </a:xfrm>
          <a:prstGeom prst="rect">
            <a:avLst/>
          </a:prstGeom>
        </p:spPr>
      </p:pic>
      <p:sp>
        <p:nvSpPr>
          <p:cNvPr id="18" name="Text 13"/>
          <p:cNvSpPr/>
          <p:nvPr/>
        </p:nvSpPr>
        <p:spPr>
          <a:xfrm>
            <a:off x="1325880" y="248716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Regulatory Readiness</a:t>
            </a:r>
            <a:endParaRPr lang="en-US" sz="1100" dirty="0"/>
          </a:p>
        </p:txBody>
      </p:sp>
      <p:sp>
        <p:nvSpPr>
          <p:cNvPr id="19" name="Text 14"/>
          <p:cNvSpPr/>
          <p:nvPr/>
        </p:nvSpPr>
        <p:spPr>
          <a:xfrm>
            <a:off x="914400" y="283464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EU AI Act (August 2026), GDPR, and sector-specific compliance built into every solution. Explainability and audit trails from day one.</a:t>
            </a:r>
            <a:endParaRPr lang="en-US" sz="800" dirty="0"/>
          </a:p>
        </p:txBody>
      </p:sp>
      <p:sp>
        <p:nvSpPr>
          <p:cNvPr id="20" name="Shape 15"/>
          <p:cNvSpPr/>
          <p:nvPr/>
        </p:nvSpPr>
        <p:spPr>
          <a:xfrm>
            <a:off x="4846320" y="237744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1" name="Shape 16"/>
          <p:cNvSpPr/>
          <p:nvPr/>
        </p:nvSpPr>
        <p:spPr>
          <a:xfrm>
            <a:off x="4846320" y="2377440"/>
            <a:ext cx="54864" cy="1051560"/>
          </a:xfrm>
          <a:prstGeom prst="rect">
            <a:avLst/>
          </a:prstGeom>
          <a:solidFill>
            <a:srgbClr val="FFB547"/>
          </a:solidFill>
          <a:ln/>
        </p:spPr>
      </p:sp>
      <p:pic>
        <p:nvPicPr>
          <p:cNvPr id="22" name="Image 3" descr="preencoded.png">    </p:cNvPr>
          <p:cNvPicPr>
            <a:picLocks noChangeAspect="1"/>
          </p:cNvPicPr>
          <p:nvPr/>
        </p:nvPicPr>
        <p:blipFill>
          <a:blip r:embed="rId4"/>
          <a:stretch>
            <a:fillRect/>
          </a:stretch>
        </p:blipFill>
        <p:spPr>
          <a:xfrm>
            <a:off x="5029200" y="2514600"/>
            <a:ext cx="274320" cy="274320"/>
          </a:xfrm>
          <a:prstGeom prst="rect">
            <a:avLst/>
          </a:prstGeom>
        </p:spPr>
      </p:pic>
      <p:sp>
        <p:nvSpPr>
          <p:cNvPr id="23" name="Text 17"/>
          <p:cNvSpPr/>
          <p:nvPr/>
        </p:nvSpPr>
        <p:spPr>
          <a:xfrm>
            <a:off x="5440680" y="248716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ROI in 4 Weeks</a:t>
            </a:r>
            <a:endParaRPr lang="en-US" sz="1100" dirty="0"/>
          </a:p>
        </p:txBody>
      </p:sp>
      <p:sp>
        <p:nvSpPr>
          <p:cNvPr id="24" name="Text 18"/>
          <p:cNvSpPr/>
          <p:nvPr/>
        </p:nvSpPr>
        <p:spPr>
          <a:xfrm>
            <a:off x="5029200" y="283464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Rapid PoC framework delivers measurable results before commitment. Every engagement starts with proof, not promises.</a:t>
            </a:r>
            <a:endParaRPr lang="en-US" sz="800" dirty="0"/>
          </a:p>
        </p:txBody>
      </p:sp>
      <p:sp>
        <p:nvSpPr>
          <p:cNvPr id="25" name="Shape 19"/>
          <p:cNvSpPr/>
          <p:nvPr/>
        </p:nvSpPr>
        <p:spPr>
          <a:xfrm>
            <a:off x="731520" y="361188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6" name="Shape 20"/>
          <p:cNvSpPr/>
          <p:nvPr/>
        </p:nvSpPr>
        <p:spPr>
          <a:xfrm>
            <a:off x="731520" y="3611880"/>
            <a:ext cx="54864" cy="1051560"/>
          </a:xfrm>
          <a:prstGeom prst="rect">
            <a:avLst/>
          </a:prstGeom>
          <a:solidFill>
            <a:srgbClr val="7B61FF"/>
          </a:solidFill>
          <a:ln/>
        </p:spPr>
      </p:sp>
      <p:pic>
        <p:nvPicPr>
          <p:cNvPr id="27" name="Image 4" descr="preencoded.png">    </p:cNvPr>
          <p:cNvPicPr>
            <a:picLocks noChangeAspect="1"/>
          </p:cNvPicPr>
          <p:nvPr/>
        </p:nvPicPr>
        <p:blipFill>
          <a:blip r:embed="rId5"/>
          <a:stretch>
            <a:fillRect/>
          </a:stretch>
        </p:blipFill>
        <p:spPr>
          <a:xfrm>
            <a:off x="914400" y="3749040"/>
            <a:ext cx="274320" cy="274320"/>
          </a:xfrm>
          <a:prstGeom prst="rect">
            <a:avLst/>
          </a:prstGeom>
        </p:spPr>
      </p:pic>
      <p:sp>
        <p:nvSpPr>
          <p:cNvPr id="28" name="Text 21"/>
          <p:cNvSpPr/>
          <p:nvPr/>
        </p:nvSpPr>
        <p:spPr>
          <a:xfrm>
            <a:off x="1325880" y="372160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Scalable Architecture</a:t>
            </a:r>
            <a:endParaRPr lang="en-US" sz="1100" dirty="0"/>
          </a:p>
        </p:txBody>
      </p:sp>
      <p:sp>
        <p:nvSpPr>
          <p:cNvPr id="29" name="Text 22"/>
          <p:cNvSpPr/>
          <p:nvPr/>
        </p:nvSpPr>
        <p:spPr>
          <a:xfrm>
            <a:off x="914400" y="406908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Cloud-agnostic intelligence stack that grows with you. From one use case to enterprise-wide AI operations.</a:t>
            </a:r>
            <a:endParaRPr lang="en-US" sz="800" dirty="0"/>
          </a:p>
        </p:txBody>
      </p:sp>
      <p:sp>
        <p:nvSpPr>
          <p:cNvPr id="30" name="Shape 23"/>
          <p:cNvSpPr/>
          <p:nvPr/>
        </p:nvSpPr>
        <p:spPr>
          <a:xfrm>
            <a:off x="4846320" y="3611880"/>
            <a:ext cx="3840480" cy="10515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31" name="Shape 24"/>
          <p:cNvSpPr/>
          <p:nvPr/>
        </p:nvSpPr>
        <p:spPr>
          <a:xfrm>
            <a:off x="4846320" y="3611880"/>
            <a:ext cx="54864" cy="1051560"/>
          </a:xfrm>
          <a:prstGeom prst="rect">
            <a:avLst/>
          </a:prstGeom>
          <a:solidFill>
            <a:srgbClr val="0072BC"/>
          </a:solidFill>
          <a:ln/>
        </p:spPr>
      </p:sp>
      <p:pic>
        <p:nvPicPr>
          <p:cNvPr id="32" name="Image 5" descr="preencoded.png">    </p:cNvPr>
          <p:cNvPicPr>
            <a:picLocks noChangeAspect="1"/>
          </p:cNvPicPr>
          <p:nvPr/>
        </p:nvPicPr>
        <p:blipFill>
          <a:blip r:embed="rId6"/>
          <a:stretch>
            <a:fillRect/>
          </a:stretch>
        </p:blipFill>
        <p:spPr>
          <a:xfrm>
            <a:off x="5029200" y="3749040"/>
            <a:ext cx="274320" cy="274320"/>
          </a:xfrm>
          <a:prstGeom prst="rect">
            <a:avLst/>
          </a:prstGeom>
        </p:spPr>
      </p:pic>
      <p:sp>
        <p:nvSpPr>
          <p:cNvPr id="33" name="Text 25"/>
          <p:cNvSpPr/>
          <p:nvPr/>
        </p:nvSpPr>
        <p:spPr>
          <a:xfrm>
            <a:off x="5440680" y="3721608"/>
            <a:ext cx="301752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AI-Ready Organization</a:t>
            </a:r>
            <a:endParaRPr lang="en-US" sz="1100" dirty="0"/>
          </a:p>
        </p:txBody>
      </p:sp>
      <p:sp>
        <p:nvSpPr>
          <p:cNvPr id="34" name="Text 26"/>
          <p:cNvSpPr/>
          <p:nvPr/>
        </p:nvSpPr>
        <p:spPr>
          <a:xfrm>
            <a:off x="5029200" y="4069080"/>
            <a:ext cx="3474720" cy="50292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We don't just deploy technology — we build capability. Training, change management, and governance frameworks included.</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INDUSTRY EXPERTISE</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Deep Domain Knowledge Across Sectors</a:t>
            </a:r>
            <a:endParaRPr lang="en-US" sz="2400" dirty="0"/>
          </a:p>
        </p:txBody>
      </p:sp>
      <p:sp>
        <p:nvSpPr>
          <p:cNvPr id="5" name="Text 3"/>
          <p:cNvSpPr/>
          <p:nvPr/>
        </p:nvSpPr>
        <p:spPr>
          <a:xfrm>
            <a:off x="731520" y="1051560"/>
            <a:ext cx="7315200" cy="320040"/>
          </a:xfrm>
          <a:prstGeom prst="rect">
            <a:avLst/>
          </a:prstGeom>
          <a:noFill/>
          <a:ln/>
        </p:spPr>
        <p:txBody>
          <a:bodyPr wrap="square" lIns="0" tIns="0" rIns="0" bIns="0" rtlCol="0" anchor="ctr"/>
          <a:lstStyle/>
          <a:p>
            <a:pPr indent="0" marL="0">
              <a:buNone/>
            </a:pPr>
            <a:r>
              <a:rPr lang="en-US" sz="1000" dirty="0">
                <a:solidFill>
                  <a:srgbClr val="8B9DC3"/>
                </a:solidFill>
                <a:latin typeface="Calibri" pitchFamily="34" charset="0"/>
                <a:ea typeface="Calibri" pitchFamily="34" charset="-122"/>
                <a:cs typeface="Calibri" pitchFamily="34" charset="-120"/>
              </a:rPr>
              <a:t>Each sector has dedicated Domain Data Scientists, Business Translators, and AI Engineers with proven track records.</a:t>
            </a:r>
            <a:endParaRPr lang="en-US" sz="1000" dirty="0"/>
          </a:p>
        </p:txBody>
      </p:sp>
      <p:sp>
        <p:nvSpPr>
          <p:cNvPr id="6" name="Shape 4"/>
          <p:cNvSpPr/>
          <p:nvPr/>
        </p:nvSpPr>
        <p:spPr>
          <a:xfrm>
            <a:off x="731520" y="155448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7" name="Shape 5"/>
          <p:cNvSpPr/>
          <p:nvPr/>
        </p:nvSpPr>
        <p:spPr>
          <a:xfrm>
            <a:off x="731520" y="1554480"/>
            <a:ext cx="54864" cy="1508760"/>
          </a:xfrm>
          <a:prstGeom prst="rect">
            <a:avLst/>
          </a:prstGeom>
          <a:solidFill>
            <a:srgbClr val="00D4FF"/>
          </a:solidFill>
          <a:ln/>
        </p:spPr>
      </p:sp>
      <p:pic>
        <p:nvPicPr>
          <p:cNvPr id="8" name="Image 0" descr="preencoded.png">    </p:cNvPr>
          <p:cNvPicPr>
            <a:picLocks noChangeAspect="1"/>
          </p:cNvPicPr>
          <p:nvPr/>
        </p:nvPicPr>
        <p:blipFill>
          <a:blip r:embed="rId1"/>
          <a:stretch>
            <a:fillRect/>
          </a:stretch>
        </p:blipFill>
        <p:spPr>
          <a:xfrm>
            <a:off x="914400" y="1691640"/>
            <a:ext cx="256032" cy="256032"/>
          </a:xfrm>
          <a:prstGeom prst="rect">
            <a:avLst/>
          </a:prstGeom>
        </p:spPr>
      </p:pic>
      <p:sp>
        <p:nvSpPr>
          <p:cNvPr id="9" name="Text 6"/>
          <p:cNvSpPr/>
          <p:nvPr/>
        </p:nvSpPr>
        <p:spPr>
          <a:xfrm>
            <a:off x="1280160" y="169164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Public Sector</a:t>
            </a:r>
            <a:endParaRPr lang="en-US" sz="1100" dirty="0"/>
          </a:p>
        </p:txBody>
      </p:sp>
      <p:sp>
        <p:nvSpPr>
          <p:cNvPr id="10" name="Text 7"/>
          <p:cNvSpPr/>
          <p:nvPr/>
        </p:nvSpPr>
        <p:spPr>
          <a:xfrm>
            <a:off x="914400" y="205740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Health, social services, education,</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justice, sustainability, mobility.</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AI-driven citizen services.</a:t>
            </a:r>
            <a:endParaRPr lang="en-US" sz="800" dirty="0"/>
          </a:p>
        </p:txBody>
      </p:sp>
      <p:sp>
        <p:nvSpPr>
          <p:cNvPr id="11" name="Shape 8"/>
          <p:cNvSpPr/>
          <p:nvPr/>
        </p:nvSpPr>
        <p:spPr>
          <a:xfrm>
            <a:off x="3429000" y="155448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2" name="Shape 9"/>
          <p:cNvSpPr/>
          <p:nvPr/>
        </p:nvSpPr>
        <p:spPr>
          <a:xfrm>
            <a:off x="3429000" y="1554480"/>
            <a:ext cx="54864" cy="1508760"/>
          </a:xfrm>
          <a:prstGeom prst="rect">
            <a:avLst/>
          </a:prstGeom>
          <a:solidFill>
            <a:srgbClr val="FFB547"/>
          </a:solidFill>
          <a:ln/>
        </p:spPr>
      </p:sp>
      <p:pic>
        <p:nvPicPr>
          <p:cNvPr id="13" name="Image 1" descr="preencoded.png">    </p:cNvPr>
          <p:cNvPicPr>
            <a:picLocks noChangeAspect="1"/>
          </p:cNvPicPr>
          <p:nvPr/>
        </p:nvPicPr>
        <p:blipFill>
          <a:blip r:embed="rId2"/>
          <a:stretch>
            <a:fillRect/>
          </a:stretch>
        </p:blipFill>
        <p:spPr>
          <a:xfrm>
            <a:off x="3611880" y="1691640"/>
            <a:ext cx="256032" cy="256032"/>
          </a:xfrm>
          <a:prstGeom prst="rect">
            <a:avLst/>
          </a:prstGeom>
        </p:spPr>
      </p:pic>
      <p:sp>
        <p:nvSpPr>
          <p:cNvPr id="14" name="Text 10"/>
          <p:cNvSpPr/>
          <p:nvPr/>
        </p:nvSpPr>
        <p:spPr>
          <a:xfrm>
            <a:off x="3977640" y="169164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Industry</a:t>
            </a:r>
            <a:endParaRPr lang="en-US" sz="1100" dirty="0"/>
          </a:p>
        </p:txBody>
      </p:sp>
      <p:sp>
        <p:nvSpPr>
          <p:cNvPr id="15" name="Text 11"/>
          <p:cNvSpPr/>
          <p:nvPr/>
        </p:nvSpPr>
        <p:spPr>
          <a:xfrm>
            <a:off x="3611880" y="205740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Retail, life sciences, automotive,</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manufacturing. Smart operations,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predictive maintenance.</a:t>
            </a:r>
            <a:endParaRPr lang="en-US" sz="800" dirty="0"/>
          </a:p>
        </p:txBody>
      </p:sp>
      <p:sp>
        <p:nvSpPr>
          <p:cNvPr id="16" name="Shape 12"/>
          <p:cNvSpPr/>
          <p:nvPr/>
        </p:nvSpPr>
        <p:spPr>
          <a:xfrm>
            <a:off x="6126480" y="155448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7" name="Shape 13"/>
          <p:cNvSpPr/>
          <p:nvPr/>
        </p:nvSpPr>
        <p:spPr>
          <a:xfrm>
            <a:off x="6126480" y="1554480"/>
            <a:ext cx="54864" cy="1508760"/>
          </a:xfrm>
          <a:prstGeom prst="rect">
            <a:avLst/>
          </a:prstGeom>
          <a:solidFill>
            <a:srgbClr val="00C9A7"/>
          </a:solidFill>
          <a:ln/>
        </p:spPr>
      </p:sp>
      <p:pic>
        <p:nvPicPr>
          <p:cNvPr id="18" name="Image 2" descr="preencoded.png">    </p:cNvPr>
          <p:cNvPicPr>
            <a:picLocks noChangeAspect="1"/>
          </p:cNvPicPr>
          <p:nvPr/>
        </p:nvPicPr>
        <p:blipFill>
          <a:blip r:embed="rId3"/>
          <a:stretch>
            <a:fillRect/>
          </a:stretch>
        </p:blipFill>
        <p:spPr>
          <a:xfrm>
            <a:off x="6309360" y="1691640"/>
            <a:ext cx="256032" cy="256032"/>
          </a:xfrm>
          <a:prstGeom prst="rect">
            <a:avLst/>
          </a:prstGeom>
        </p:spPr>
      </p:pic>
      <p:sp>
        <p:nvSpPr>
          <p:cNvPr id="19" name="Text 14"/>
          <p:cNvSpPr/>
          <p:nvPr/>
        </p:nvSpPr>
        <p:spPr>
          <a:xfrm>
            <a:off x="6675120" y="169164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Utilities</a:t>
            </a:r>
            <a:endParaRPr lang="en-US" sz="1100" dirty="0"/>
          </a:p>
        </p:txBody>
      </p:sp>
      <p:sp>
        <p:nvSpPr>
          <p:cNvPr id="20" name="Text 15"/>
          <p:cNvSpPr/>
          <p:nvPr/>
        </p:nvSpPr>
        <p:spPr>
          <a:xfrm>
            <a:off x="6309360" y="205740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Energy market optimization, grid</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analytics, sustainability compliance,</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IT/OT convergence.</a:t>
            </a:r>
            <a:endParaRPr lang="en-US" sz="800" dirty="0"/>
          </a:p>
        </p:txBody>
      </p:sp>
      <p:sp>
        <p:nvSpPr>
          <p:cNvPr id="21" name="Shape 16"/>
          <p:cNvSpPr/>
          <p:nvPr/>
        </p:nvSpPr>
        <p:spPr>
          <a:xfrm>
            <a:off x="731520" y="324612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2" name="Shape 17"/>
          <p:cNvSpPr/>
          <p:nvPr/>
        </p:nvSpPr>
        <p:spPr>
          <a:xfrm>
            <a:off x="731520" y="3246120"/>
            <a:ext cx="54864" cy="1508760"/>
          </a:xfrm>
          <a:prstGeom prst="rect">
            <a:avLst/>
          </a:prstGeom>
          <a:solidFill>
            <a:srgbClr val="7B61FF"/>
          </a:solidFill>
          <a:ln/>
        </p:spPr>
      </p:sp>
      <p:pic>
        <p:nvPicPr>
          <p:cNvPr id="23" name="Image 3" descr="preencoded.png">    </p:cNvPr>
          <p:cNvPicPr>
            <a:picLocks noChangeAspect="1"/>
          </p:cNvPicPr>
          <p:nvPr/>
        </p:nvPicPr>
        <p:blipFill>
          <a:blip r:embed="rId4"/>
          <a:stretch>
            <a:fillRect/>
          </a:stretch>
        </p:blipFill>
        <p:spPr>
          <a:xfrm>
            <a:off x="914400" y="3383280"/>
            <a:ext cx="256032" cy="256032"/>
          </a:xfrm>
          <a:prstGeom prst="rect">
            <a:avLst/>
          </a:prstGeom>
        </p:spPr>
      </p:pic>
      <p:sp>
        <p:nvSpPr>
          <p:cNvPr id="24" name="Text 18"/>
          <p:cNvSpPr/>
          <p:nvPr/>
        </p:nvSpPr>
        <p:spPr>
          <a:xfrm>
            <a:off x="1280160" y="338328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Banking</a:t>
            </a:r>
            <a:endParaRPr lang="en-US" sz="1100" dirty="0"/>
          </a:p>
        </p:txBody>
      </p:sp>
      <p:sp>
        <p:nvSpPr>
          <p:cNvPr id="25" name="Text 19"/>
          <p:cNvSpPr/>
          <p:nvPr/>
        </p:nvSpPr>
        <p:spPr>
          <a:xfrm>
            <a:off x="914400" y="374904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Fraud, AML, CIB, customer analytics,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consumer finance, ESG. Real-time</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risk and regulatory intelligence.</a:t>
            </a:r>
            <a:endParaRPr lang="en-US" sz="800" dirty="0"/>
          </a:p>
        </p:txBody>
      </p:sp>
      <p:sp>
        <p:nvSpPr>
          <p:cNvPr id="26" name="Shape 20"/>
          <p:cNvSpPr/>
          <p:nvPr/>
        </p:nvSpPr>
        <p:spPr>
          <a:xfrm>
            <a:off x="3429000" y="324612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7" name="Shape 21"/>
          <p:cNvSpPr/>
          <p:nvPr/>
        </p:nvSpPr>
        <p:spPr>
          <a:xfrm>
            <a:off x="3429000" y="3246120"/>
            <a:ext cx="54864" cy="1508760"/>
          </a:xfrm>
          <a:prstGeom prst="rect">
            <a:avLst/>
          </a:prstGeom>
          <a:solidFill>
            <a:srgbClr val="FF6B8A"/>
          </a:solidFill>
          <a:ln/>
        </p:spPr>
      </p:sp>
      <p:pic>
        <p:nvPicPr>
          <p:cNvPr id="28" name="Image 4" descr="preencoded.png">    </p:cNvPr>
          <p:cNvPicPr>
            <a:picLocks noChangeAspect="1"/>
          </p:cNvPicPr>
          <p:nvPr/>
        </p:nvPicPr>
        <p:blipFill>
          <a:blip r:embed="rId5"/>
          <a:stretch>
            <a:fillRect/>
          </a:stretch>
        </p:blipFill>
        <p:spPr>
          <a:xfrm>
            <a:off x="3611880" y="3383280"/>
            <a:ext cx="256032" cy="256032"/>
          </a:xfrm>
          <a:prstGeom prst="rect">
            <a:avLst/>
          </a:prstGeom>
        </p:spPr>
      </p:pic>
      <p:sp>
        <p:nvSpPr>
          <p:cNvPr id="29" name="Text 22"/>
          <p:cNvSpPr/>
          <p:nvPr/>
        </p:nvSpPr>
        <p:spPr>
          <a:xfrm>
            <a:off x="3977640" y="338328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Insurance</a:t>
            </a:r>
            <a:endParaRPr lang="en-US" sz="1100" dirty="0"/>
          </a:p>
        </p:txBody>
      </p:sp>
      <p:sp>
        <p:nvSpPr>
          <p:cNvPr id="30" name="Text 23"/>
          <p:cNvSpPr/>
          <p:nvPr/>
        </p:nvSpPr>
        <p:spPr>
          <a:xfrm>
            <a:off x="3611880" y="374904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Actuarial modeling, claims automation,</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underwriting AI, policyholder analytics.</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Life and non-life.</a:t>
            </a:r>
            <a:endParaRPr lang="en-US" sz="800" dirty="0"/>
          </a:p>
        </p:txBody>
      </p:sp>
      <p:sp>
        <p:nvSpPr>
          <p:cNvPr id="31" name="Shape 24"/>
          <p:cNvSpPr/>
          <p:nvPr/>
        </p:nvSpPr>
        <p:spPr>
          <a:xfrm>
            <a:off x="6126480" y="3246120"/>
            <a:ext cx="251460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32" name="Shape 25"/>
          <p:cNvSpPr/>
          <p:nvPr/>
        </p:nvSpPr>
        <p:spPr>
          <a:xfrm>
            <a:off x="6126480" y="3246120"/>
            <a:ext cx="54864" cy="1508760"/>
          </a:xfrm>
          <a:prstGeom prst="rect">
            <a:avLst/>
          </a:prstGeom>
          <a:solidFill>
            <a:srgbClr val="0072BC"/>
          </a:solidFill>
          <a:ln/>
        </p:spPr>
      </p:sp>
      <p:pic>
        <p:nvPicPr>
          <p:cNvPr id="33" name="Image 5" descr="preencoded.png">    </p:cNvPr>
          <p:cNvPicPr>
            <a:picLocks noChangeAspect="1"/>
          </p:cNvPicPr>
          <p:nvPr/>
        </p:nvPicPr>
        <p:blipFill>
          <a:blip r:embed="rId6"/>
          <a:stretch>
            <a:fillRect/>
          </a:stretch>
        </p:blipFill>
        <p:spPr>
          <a:xfrm>
            <a:off x="6309360" y="3383280"/>
            <a:ext cx="256032" cy="256032"/>
          </a:xfrm>
          <a:prstGeom prst="rect">
            <a:avLst/>
          </a:prstGeom>
        </p:spPr>
      </p:pic>
      <p:sp>
        <p:nvSpPr>
          <p:cNvPr id="34" name="Text 26"/>
          <p:cNvSpPr/>
          <p:nvPr/>
        </p:nvSpPr>
        <p:spPr>
          <a:xfrm>
            <a:off x="6675120" y="3383280"/>
            <a:ext cx="1737360" cy="27432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Telco</a:t>
            </a:r>
            <a:endParaRPr lang="en-US" sz="1100" dirty="0"/>
          </a:p>
        </p:txBody>
      </p:sp>
      <p:sp>
        <p:nvSpPr>
          <p:cNvPr id="35" name="Text 27"/>
          <p:cNvSpPr/>
          <p:nvPr/>
        </p:nvSpPr>
        <p:spPr>
          <a:xfrm>
            <a:off x="6309360" y="3749040"/>
            <a:ext cx="2148840" cy="777240"/>
          </a:xfrm>
          <a:prstGeom prst="rect">
            <a:avLst/>
          </a:prstGeom>
          <a:noFill/>
          <a:ln/>
        </p:spPr>
        <p:txBody>
          <a:bodyPr wrap="square" lIns="0" tIns="0" rIns="0" bIns="0" rtlCol="0" anchor="ctr"/>
          <a:lstStyle/>
          <a:p>
            <a:pPr indent="0" marL="0">
              <a:buNone/>
            </a:pPr>
            <a:r>
              <a:rPr lang="en-US" sz="800" dirty="0">
                <a:solidFill>
                  <a:srgbClr val="8B9DC3"/>
                </a:solidFill>
                <a:latin typeface="Calibri" pitchFamily="34" charset="0"/>
                <a:ea typeface="Calibri" pitchFamily="34" charset="-122"/>
                <a:cs typeface="Calibri" pitchFamily="34" charset="-120"/>
              </a:rPr>
              <a:t>Marketing analytics, network optimization,</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churn prediction, hyper-personalization,</a:t>
            </a:r>
            <a:endParaRPr lang="en-US" sz="800" dirty="0"/>
          </a:p>
          <a:p>
            <a:pPr indent="0" marL="0">
              <a:buNone/>
            </a:pPr>
            <a:r>
              <a:rPr lang="en-US" sz="800" dirty="0">
                <a:solidFill>
                  <a:srgbClr val="8B9DC3"/>
                </a:solidFill>
                <a:latin typeface="Calibri" pitchFamily="34" charset="0"/>
                <a:ea typeface="Calibri" pitchFamily="34" charset="-122"/>
                <a:cs typeface="Calibri" pitchFamily="34" charset="-120"/>
              </a:rPr>
              <a:t>CLTV maximization.</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274320"/>
            <a:ext cx="7315200" cy="320040"/>
          </a:xfrm>
          <a:prstGeom prst="rect">
            <a:avLst/>
          </a:prstGeom>
          <a:noFill/>
          <a:ln/>
        </p:spPr>
        <p:txBody>
          <a:bodyPr wrap="square" lIns="0" tIns="0" rIns="0" bIns="0" rtlCol="0" anchor="ctr"/>
          <a:lstStyle/>
          <a:p>
            <a:pPr indent="0" marL="0">
              <a:buNone/>
            </a:pPr>
            <a:r>
              <a:rPr lang="en-US" sz="900" b="1" spc="300" kern="0" dirty="0">
                <a:solidFill>
                  <a:srgbClr val="00D4FF"/>
                </a:solidFill>
                <a:latin typeface="Calibri" pitchFamily="34" charset="0"/>
                <a:ea typeface="Calibri" pitchFamily="34" charset="-122"/>
                <a:cs typeface="Calibri" pitchFamily="34" charset="-120"/>
              </a:rPr>
              <a:t>WHY NTT DATA</a:t>
            </a:r>
            <a:endParaRPr lang="en-US" sz="900" dirty="0"/>
          </a:p>
        </p:txBody>
      </p:sp>
      <p:sp>
        <p:nvSpPr>
          <p:cNvPr id="4" name="Text 2"/>
          <p:cNvSpPr/>
          <p:nvPr/>
        </p:nvSpPr>
        <p:spPr>
          <a:xfrm>
            <a:off x="731520" y="594360"/>
            <a:ext cx="7315200" cy="45720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Your Partner for AI-Native Transformation</a:t>
            </a:r>
            <a:endParaRPr lang="en-US" sz="2400" dirty="0"/>
          </a:p>
        </p:txBody>
      </p:sp>
      <p:sp>
        <p:nvSpPr>
          <p:cNvPr id="5" name="Shape 3"/>
          <p:cNvSpPr/>
          <p:nvPr/>
        </p:nvSpPr>
        <p:spPr>
          <a:xfrm>
            <a:off x="731520" y="1143000"/>
            <a:ext cx="384048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6" name="Shape 4"/>
          <p:cNvSpPr/>
          <p:nvPr/>
        </p:nvSpPr>
        <p:spPr>
          <a:xfrm>
            <a:off x="731520" y="1143000"/>
            <a:ext cx="54864" cy="1508760"/>
          </a:xfrm>
          <a:prstGeom prst="rect">
            <a:avLst/>
          </a:prstGeom>
          <a:solidFill>
            <a:srgbClr val="FFB547"/>
          </a:solidFill>
          <a:ln/>
        </p:spPr>
      </p:sp>
      <p:pic>
        <p:nvPicPr>
          <p:cNvPr id="7" name="Image 0" descr="preencoded.png">    </p:cNvPr>
          <p:cNvPicPr>
            <a:picLocks noChangeAspect="1"/>
          </p:cNvPicPr>
          <p:nvPr/>
        </p:nvPicPr>
        <p:blipFill>
          <a:blip r:embed="rId1"/>
          <a:stretch>
            <a:fillRect/>
          </a:stretch>
        </p:blipFill>
        <p:spPr>
          <a:xfrm>
            <a:off x="960120" y="1325880"/>
            <a:ext cx="320040" cy="320040"/>
          </a:xfrm>
          <a:prstGeom prst="rect">
            <a:avLst/>
          </a:prstGeom>
        </p:spPr>
      </p:pic>
      <p:sp>
        <p:nvSpPr>
          <p:cNvPr id="8" name="Text 5"/>
          <p:cNvSpPr/>
          <p:nvPr/>
        </p:nvSpPr>
        <p:spPr>
          <a:xfrm>
            <a:off x="1417320" y="132588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ISG Leader: Agentic AI &amp; GenAI</a:t>
            </a:r>
            <a:endParaRPr lang="en-US" sz="1200" dirty="0"/>
          </a:p>
        </p:txBody>
      </p:sp>
      <p:sp>
        <p:nvSpPr>
          <p:cNvPr id="9" name="Text 6"/>
          <p:cNvSpPr/>
          <p:nvPr/>
        </p:nvSpPr>
        <p:spPr>
          <a:xfrm>
            <a:off x="960120" y="1783080"/>
            <a:ext cx="3383280" cy="64008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Recognized by ISG Provider Lens® as Leader in both Agentic AI and Generative AI Services.</a:t>
            </a:r>
            <a:endParaRPr lang="en-US" sz="900" dirty="0"/>
          </a:p>
        </p:txBody>
      </p:sp>
      <p:sp>
        <p:nvSpPr>
          <p:cNvPr id="10" name="Shape 7"/>
          <p:cNvSpPr/>
          <p:nvPr/>
        </p:nvSpPr>
        <p:spPr>
          <a:xfrm>
            <a:off x="4846320" y="1143000"/>
            <a:ext cx="384048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1" name="Shape 8"/>
          <p:cNvSpPr/>
          <p:nvPr/>
        </p:nvSpPr>
        <p:spPr>
          <a:xfrm>
            <a:off x="4846320" y="1143000"/>
            <a:ext cx="54864" cy="1508760"/>
          </a:xfrm>
          <a:prstGeom prst="rect">
            <a:avLst/>
          </a:prstGeom>
          <a:solidFill>
            <a:srgbClr val="00D4FF"/>
          </a:solidFill>
          <a:ln/>
        </p:spPr>
      </p:sp>
      <p:pic>
        <p:nvPicPr>
          <p:cNvPr id="12" name="Image 1" descr="preencoded.png">    </p:cNvPr>
          <p:cNvPicPr>
            <a:picLocks noChangeAspect="1"/>
          </p:cNvPicPr>
          <p:nvPr/>
        </p:nvPicPr>
        <p:blipFill>
          <a:blip r:embed="rId2"/>
          <a:stretch>
            <a:fillRect/>
          </a:stretch>
        </p:blipFill>
        <p:spPr>
          <a:xfrm>
            <a:off x="5074920" y="1325880"/>
            <a:ext cx="320040" cy="320040"/>
          </a:xfrm>
          <a:prstGeom prst="rect">
            <a:avLst/>
          </a:prstGeom>
        </p:spPr>
      </p:pic>
      <p:sp>
        <p:nvSpPr>
          <p:cNvPr id="13" name="Text 9"/>
          <p:cNvSpPr/>
          <p:nvPr/>
        </p:nvSpPr>
        <p:spPr>
          <a:xfrm>
            <a:off x="5532120" y="132588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Smart AI Agent™ Ecosystem</a:t>
            </a:r>
            <a:endParaRPr lang="en-US" sz="1200" dirty="0"/>
          </a:p>
        </p:txBody>
      </p:sp>
      <p:sp>
        <p:nvSpPr>
          <p:cNvPr id="14" name="Text 10"/>
          <p:cNvSpPr/>
          <p:nvPr/>
        </p:nvSpPr>
        <p:spPr>
          <a:xfrm>
            <a:off x="5074920" y="1783080"/>
            <a:ext cx="3383280" cy="64008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Proprietary full-stack: infrastructure, orchestration, development, observability. Client Zero tested.</a:t>
            </a:r>
            <a:endParaRPr lang="en-US" sz="900" dirty="0"/>
          </a:p>
        </p:txBody>
      </p:sp>
      <p:sp>
        <p:nvSpPr>
          <p:cNvPr id="15" name="Shape 11"/>
          <p:cNvSpPr/>
          <p:nvPr/>
        </p:nvSpPr>
        <p:spPr>
          <a:xfrm>
            <a:off x="731520" y="2834640"/>
            <a:ext cx="384048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16" name="Shape 12"/>
          <p:cNvSpPr/>
          <p:nvPr/>
        </p:nvSpPr>
        <p:spPr>
          <a:xfrm>
            <a:off x="731520" y="2834640"/>
            <a:ext cx="54864" cy="1508760"/>
          </a:xfrm>
          <a:prstGeom prst="rect">
            <a:avLst/>
          </a:prstGeom>
          <a:solidFill>
            <a:srgbClr val="0072BC"/>
          </a:solidFill>
          <a:ln/>
        </p:spPr>
      </p:sp>
      <p:pic>
        <p:nvPicPr>
          <p:cNvPr id="17" name="Image 2" descr="preencoded.png">    </p:cNvPr>
          <p:cNvPicPr>
            <a:picLocks noChangeAspect="1"/>
          </p:cNvPicPr>
          <p:nvPr/>
        </p:nvPicPr>
        <p:blipFill>
          <a:blip r:embed="rId3"/>
          <a:stretch>
            <a:fillRect/>
          </a:stretch>
        </p:blipFill>
        <p:spPr>
          <a:xfrm>
            <a:off x="960120" y="3017520"/>
            <a:ext cx="320040" cy="320040"/>
          </a:xfrm>
          <a:prstGeom prst="rect">
            <a:avLst/>
          </a:prstGeom>
        </p:spPr>
      </p:pic>
      <p:sp>
        <p:nvSpPr>
          <p:cNvPr id="18" name="Text 13"/>
          <p:cNvSpPr/>
          <p:nvPr/>
        </p:nvSpPr>
        <p:spPr>
          <a:xfrm>
            <a:off x="1417320" y="301752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Global Scale, Local Expertise</a:t>
            </a:r>
            <a:endParaRPr lang="en-US" sz="1200" dirty="0"/>
          </a:p>
        </p:txBody>
      </p:sp>
      <p:sp>
        <p:nvSpPr>
          <p:cNvPr id="19" name="Text 14"/>
          <p:cNvSpPr/>
          <p:nvPr/>
        </p:nvSpPr>
        <p:spPr>
          <a:xfrm>
            <a:off x="960120" y="3474720"/>
            <a:ext cx="3383280" cy="64008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$30B+ organization with ~200,000 employees across 70+ countries. Deep local expertise in your sector and region.</a:t>
            </a:r>
            <a:endParaRPr lang="en-US" sz="900" dirty="0"/>
          </a:p>
        </p:txBody>
      </p:sp>
      <p:sp>
        <p:nvSpPr>
          <p:cNvPr id="20" name="Shape 15"/>
          <p:cNvSpPr/>
          <p:nvPr/>
        </p:nvSpPr>
        <p:spPr>
          <a:xfrm>
            <a:off x="4846320" y="2834640"/>
            <a:ext cx="3840480" cy="1508760"/>
          </a:xfrm>
          <a:prstGeom prst="rect">
            <a:avLst/>
          </a:prstGeom>
          <a:solidFill>
            <a:srgbClr val="131D33"/>
          </a:solidFill>
          <a:ln/>
          <a:effectLst>
            <a:outerShdw sx="100000" sy="100000" kx="0" ky="0" algn="bl" rotWithShape="0" blurRad="76200" dist="25400" dir="8100000">
              <a:srgbClr val="000000">
                <a:alpha val="12000"/>
              </a:srgbClr>
            </a:outerShdw>
          </a:effectLst>
        </p:spPr>
      </p:sp>
      <p:sp>
        <p:nvSpPr>
          <p:cNvPr id="21" name="Shape 16"/>
          <p:cNvSpPr/>
          <p:nvPr/>
        </p:nvSpPr>
        <p:spPr>
          <a:xfrm>
            <a:off x="4846320" y="2834640"/>
            <a:ext cx="54864" cy="1508760"/>
          </a:xfrm>
          <a:prstGeom prst="rect">
            <a:avLst/>
          </a:prstGeom>
          <a:solidFill>
            <a:srgbClr val="7B61FF"/>
          </a:solidFill>
          <a:ln/>
        </p:spPr>
      </p:sp>
      <p:pic>
        <p:nvPicPr>
          <p:cNvPr id="22" name="Image 3" descr="preencoded.png">    </p:cNvPr>
          <p:cNvPicPr>
            <a:picLocks noChangeAspect="1"/>
          </p:cNvPicPr>
          <p:nvPr/>
        </p:nvPicPr>
        <p:blipFill>
          <a:blip r:embed="rId4"/>
          <a:stretch>
            <a:fillRect/>
          </a:stretch>
        </p:blipFill>
        <p:spPr>
          <a:xfrm>
            <a:off x="5074920" y="3017520"/>
            <a:ext cx="320040" cy="320040"/>
          </a:xfrm>
          <a:prstGeom prst="rect">
            <a:avLst/>
          </a:prstGeom>
        </p:spPr>
      </p:pic>
      <p:sp>
        <p:nvSpPr>
          <p:cNvPr id="23" name="Text 17"/>
          <p:cNvSpPr/>
          <p:nvPr/>
        </p:nvSpPr>
        <p:spPr>
          <a:xfrm>
            <a:off x="5532120" y="3017520"/>
            <a:ext cx="2926080" cy="320040"/>
          </a:xfrm>
          <a:prstGeom prst="rect">
            <a:avLst/>
          </a:prstGeom>
          <a:noFill/>
          <a:ln/>
        </p:spPr>
        <p:txBody>
          <a:bodyPr wrap="square" lIns="0" tIns="0" rIns="0" bIns="0"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Hyperscaler Alliances</a:t>
            </a:r>
            <a:endParaRPr lang="en-US" sz="1200" dirty="0"/>
          </a:p>
        </p:txBody>
      </p:sp>
      <p:sp>
        <p:nvSpPr>
          <p:cNvPr id="24" name="Text 18"/>
          <p:cNvSpPr/>
          <p:nvPr/>
        </p:nvSpPr>
        <p:spPr>
          <a:xfrm>
            <a:off x="5074920" y="3474720"/>
            <a:ext cx="3383280" cy="640080"/>
          </a:xfrm>
          <a:prstGeom prst="rect">
            <a:avLst/>
          </a:prstGeom>
          <a:noFill/>
          <a:ln/>
        </p:spPr>
        <p:txBody>
          <a:bodyPr wrap="square" lIns="0" tIns="0" rIns="0" bIns="0" rtlCol="0" anchor="ctr"/>
          <a:lstStyle/>
          <a:p>
            <a:pPr indent="0" marL="0">
              <a:buNone/>
            </a:pPr>
            <a:r>
              <a:rPr lang="en-US" sz="900" dirty="0">
                <a:solidFill>
                  <a:srgbClr val="8B9DC3"/>
                </a:solidFill>
                <a:latin typeface="Calibri" pitchFamily="34" charset="0"/>
                <a:ea typeface="Calibri" pitchFamily="34" charset="-122"/>
                <a:cs typeface="Calibri" pitchFamily="34" charset="-120"/>
              </a:rPr>
              <a:t>Strategic partnerships with Google Cloud, Microsoft Azure, and AWS. Multi-cloud certified.</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A1628"/>
        </a:solidFill>
      </p:bgPr>
    </p:bg>
    <p:spTree>
      <p:nvGrpSpPr>
        <p:cNvPr id="1" name=""/>
        <p:cNvGrpSpPr/>
        <p:nvPr/>
      </p:nvGrpSpPr>
      <p:grpSpPr>
        <a:xfrm>
          <a:off x="0" y="0"/>
          <a:ext cx="0" cy="0"/>
          <a:chOff x="0" y="0"/>
          <a:chExt cx="0" cy="0"/>
        </a:xfrm>
      </p:grpSpPr>
      <p:sp>
        <p:nvSpPr>
          <p:cNvPr id="2" name="Shape 0"/>
          <p:cNvSpPr/>
          <p:nvPr/>
        </p:nvSpPr>
        <p:spPr>
          <a:xfrm>
            <a:off x="0" y="0"/>
            <a:ext cx="9144000" cy="36576"/>
          </a:xfrm>
          <a:prstGeom prst="rect">
            <a:avLst/>
          </a:prstGeom>
          <a:solidFill>
            <a:srgbClr val="00D4FF"/>
          </a:solidFill>
          <a:ln/>
        </p:spPr>
      </p:sp>
      <p:sp>
        <p:nvSpPr>
          <p:cNvPr id="3" name="Text 1"/>
          <p:cNvSpPr/>
          <p:nvPr/>
        </p:nvSpPr>
        <p:spPr>
          <a:xfrm>
            <a:off x="731520" y="731520"/>
            <a:ext cx="7315200" cy="1463040"/>
          </a:xfrm>
          <a:prstGeom prst="rect">
            <a:avLst/>
          </a:prstGeom>
          <a:noFill/>
          <a:ln/>
        </p:spPr>
        <p:txBody>
          <a:bodyPr wrap="square" lIns="0" tIns="0" rIns="0" bIns="0" rtlCol="0" anchor="ctr"/>
          <a:lstStyle/>
          <a:p>
            <a:pPr indent="0" marL="0">
              <a:buNone/>
            </a:pPr>
            <a:r>
              <a:rPr lang="en-US" sz="3400" b="1" dirty="0">
                <a:solidFill>
                  <a:srgbClr val="FFFFFF"/>
                </a:solidFill>
                <a:latin typeface="Calibri" pitchFamily="34" charset="0"/>
                <a:ea typeface="Calibri" pitchFamily="34" charset="-122"/>
                <a:cs typeface="Calibri" pitchFamily="34" charset="-120"/>
              </a:rPr>
              <a:t>Let's Build Your</a:t>
            </a:r>
            <a:endParaRPr lang="en-US" sz="3400" dirty="0"/>
          </a:p>
          <a:p>
            <a:pPr indent="0" marL="0">
              <a:buNone/>
            </a:pPr>
            <a:r>
              <a:rPr lang="en-US" sz="3400" b="1" i="1" dirty="0">
                <a:solidFill>
                  <a:srgbClr val="00D4FF"/>
                </a:solidFill>
                <a:latin typeface="Calibri" pitchFamily="34" charset="0"/>
                <a:ea typeface="Calibri" pitchFamily="34" charset="-122"/>
                <a:cs typeface="Calibri" pitchFamily="34" charset="-120"/>
              </a:rPr>
              <a:t>Autonomous Intelligence</a:t>
            </a:r>
            <a:endParaRPr lang="en-US" sz="3400" dirty="0"/>
          </a:p>
        </p:txBody>
      </p:sp>
      <p:sp>
        <p:nvSpPr>
          <p:cNvPr id="4" name="Text 2"/>
          <p:cNvSpPr/>
          <p:nvPr/>
        </p:nvSpPr>
        <p:spPr>
          <a:xfrm>
            <a:off x="731520" y="2286000"/>
            <a:ext cx="3657600" cy="274320"/>
          </a:xfrm>
          <a:prstGeom prst="rect">
            <a:avLst/>
          </a:prstGeom>
          <a:noFill/>
          <a:ln/>
        </p:spPr>
        <p:txBody>
          <a:bodyPr wrap="square" lIns="0" tIns="0" rIns="0" bIns="0" rtlCol="0" anchor="ctr"/>
          <a:lstStyle/>
          <a:p>
            <a:pPr indent="0" marL="0">
              <a:buNone/>
            </a:pPr>
            <a:r>
              <a:rPr lang="en-US" sz="900" b="1" spc="300" kern="0" dirty="0">
                <a:solidFill>
                  <a:srgbClr val="00C9A7"/>
                </a:solidFill>
                <a:latin typeface="Calibri" pitchFamily="34" charset="0"/>
                <a:ea typeface="Calibri" pitchFamily="34" charset="-122"/>
                <a:cs typeface="Calibri" pitchFamily="34" charset="-120"/>
              </a:rPr>
              <a:t>PROPOSED NEXT STEPS</a:t>
            </a:r>
            <a:endParaRPr lang="en-US" sz="900" dirty="0"/>
          </a:p>
        </p:txBody>
      </p:sp>
      <p:sp>
        <p:nvSpPr>
          <p:cNvPr id="5" name="Text 3"/>
          <p:cNvSpPr/>
          <p:nvPr/>
        </p:nvSpPr>
        <p:spPr>
          <a:xfrm>
            <a:off x="731520" y="2651760"/>
            <a:ext cx="3657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01</a:t>
            </a:r>
            <a:endParaRPr lang="en-US" sz="1400" dirty="0"/>
          </a:p>
        </p:txBody>
      </p:sp>
      <p:sp>
        <p:nvSpPr>
          <p:cNvPr id="6" name="Text 4"/>
          <p:cNvSpPr/>
          <p:nvPr/>
        </p:nvSpPr>
        <p:spPr>
          <a:xfrm>
            <a:off x="1280160" y="2651760"/>
            <a:ext cx="6858000" cy="320040"/>
          </a:xfrm>
          <a:prstGeom prst="rect">
            <a:avLst/>
          </a:prstGeom>
          <a:noFill/>
          <a:ln/>
        </p:spPr>
        <p:txBody>
          <a:bodyPr wrap="square" lIns="0" tIns="0" rIns="0" bIns="0" rtlCol="0" anchor="ctr"/>
          <a:lstStyle/>
          <a:p>
            <a:pPr indent="0" marL="0">
              <a:buNone/>
            </a:pPr>
            <a:r>
              <a:rPr lang="en-US" sz="1200" dirty="0">
                <a:solidFill>
                  <a:srgbClr val="8B9DC3"/>
                </a:solidFill>
                <a:latin typeface="Calibri" pitchFamily="34" charset="0"/>
                <a:ea typeface="Calibri" pitchFamily="34" charset="-122"/>
                <a:cs typeface="Calibri" pitchFamily="34" charset="-120"/>
              </a:rPr>
              <a:t>Discovery workshop: align on priority use cases and business domains</a:t>
            </a:r>
            <a:endParaRPr lang="en-US" sz="1200" dirty="0"/>
          </a:p>
        </p:txBody>
      </p:sp>
      <p:sp>
        <p:nvSpPr>
          <p:cNvPr id="7" name="Text 5"/>
          <p:cNvSpPr/>
          <p:nvPr/>
        </p:nvSpPr>
        <p:spPr>
          <a:xfrm>
            <a:off x="731520" y="3063240"/>
            <a:ext cx="3657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02</a:t>
            </a:r>
            <a:endParaRPr lang="en-US" sz="1400" dirty="0"/>
          </a:p>
        </p:txBody>
      </p:sp>
      <p:sp>
        <p:nvSpPr>
          <p:cNvPr id="8" name="Text 6"/>
          <p:cNvSpPr/>
          <p:nvPr/>
        </p:nvSpPr>
        <p:spPr>
          <a:xfrm>
            <a:off x="1280160" y="3063240"/>
            <a:ext cx="6858000" cy="320040"/>
          </a:xfrm>
          <a:prstGeom prst="rect">
            <a:avLst/>
          </a:prstGeom>
          <a:noFill/>
          <a:ln/>
        </p:spPr>
        <p:txBody>
          <a:bodyPr wrap="square" lIns="0" tIns="0" rIns="0" bIns="0" rtlCol="0" anchor="ctr"/>
          <a:lstStyle/>
          <a:p>
            <a:pPr indent="0" marL="0">
              <a:buNone/>
            </a:pPr>
            <a:r>
              <a:rPr lang="en-US" sz="1200" dirty="0">
                <a:solidFill>
                  <a:srgbClr val="8B9DC3"/>
                </a:solidFill>
                <a:latin typeface="Calibri" pitchFamily="34" charset="0"/>
                <a:ea typeface="Calibri" pitchFamily="34" charset="-122"/>
                <a:cs typeface="Calibri" pitchFamily="34" charset="-120"/>
              </a:rPr>
              <a:t>Launch 4-week Rapid PoC on highest-impact opportunity</a:t>
            </a:r>
            <a:endParaRPr lang="en-US" sz="1200" dirty="0"/>
          </a:p>
        </p:txBody>
      </p:sp>
      <p:sp>
        <p:nvSpPr>
          <p:cNvPr id="9" name="Text 7"/>
          <p:cNvSpPr/>
          <p:nvPr/>
        </p:nvSpPr>
        <p:spPr>
          <a:xfrm>
            <a:off x="731520" y="3474720"/>
            <a:ext cx="3657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03</a:t>
            </a:r>
            <a:endParaRPr lang="en-US" sz="1400" dirty="0"/>
          </a:p>
        </p:txBody>
      </p:sp>
      <p:sp>
        <p:nvSpPr>
          <p:cNvPr id="10" name="Text 8"/>
          <p:cNvSpPr/>
          <p:nvPr/>
        </p:nvSpPr>
        <p:spPr>
          <a:xfrm>
            <a:off x="1280160" y="3474720"/>
            <a:ext cx="6858000" cy="320040"/>
          </a:xfrm>
          <a:prstGeom prst="rect">
            <a:avLst/>
          </a:prstGeom>
          <a:noFill/>
          <a:ln/>
        </p:spPr>
        <p:txBody>
          <a:bodyPr wrap="square" lIns="0" tIns="0" rIns="0" bIns="0" rtlCol="0" anchor="ctr"/>
          <a:lstStyle/>
          <a:p>
            <a:pPr indent="0" marL="0">
              <a:buNone/>
            </a:pPr>
            <a:r>
              <a:rPr lang="en-US" sz="1200" dirty="0">
                <a:solidFill>
                  <a:srgbClr val="8B9DC3"/>
                </a:solidFill>
                <a:latin typeface="Calibri" pitchFamily="34" charset="0"/>
                <a:ea typeface="Calibri" pitchFamily="34" charset="-122"/>
                <a:cs typeface="Calibri" pitchFamily="34" charset="-120"/>
              </a:rPr>
              <a:t>Build business case with measurable ROI from PoC results</a:t>
            </a:r>
            <a:endParaRPr lang="en-US" sz="1200" dirty="0"/>
          </a:p>
        </p:txBody>
      </p:sp>
      <p:sp>
        <p:nvSpPr>
          <p:cNvPr id="11" name="Text 9"/>
          <p:cNvSpPr/>
          <p:nvPr/>
        </p:nvSpPr>
        <p:spPr>
          <a:xfrm>
            <a:off x="731520" y="3886200"/>
            <a:ext cx="365760" cy="320040"/>
          </a:xfrm>
          <a:prstGeom prst="rect">
            <a:avLst/>
          </a:prstGeom>
          <a:noFill/>
          <a:ln/>
        </p:spPr>
        <p:txBody>
          <a:bodyPr wrap="square" lIns="0" tIns="0" rIns="0" bIns="0" rtlCol="0" anchor="ctr"/>
          <a:lstStyle/>
          <a:p>
            <a:pPr indent="0" marL="0">
              <a:buNone/>
            </a:pPr>
            <a:r>
              <a:rPr lang="en-US" sz="1400" b="1" dirty="0">
                <a:solidFill>
                  <a:srgbClr val="00D4FF"/>
                </a:solidFill>
                <a:latin typeface="Calibri" pitchFamily="34" charset="0"/>
                <a:ea typeface="Calibri" pitchFamily="34" charset="-122"/>
                <a:cs typeface="Calibri" pitchFamily="34" charset="-120"/>
              </a:rPr>
              <a:t>04</a:t>
            </a:r>
            <a:endParaRPr lang="en-US" sz="1400" dirty="0"/>
          </a:p>
        </p:txBody>
      </p:sp>
      <p:sp>
        <p:nvSpPr>
          <p:cNvPr id="12" name="Text 10"/>
          <p:cNvSpPr/>
          <p:nvPr/>
        </p:nvSpPr>
        <p:spPr>
          <a:xfrm>
            <a:off x="1280160" y="3886200"/>
            <a:ext cx="6858000" cy="320040"/>
          </a:xfrm>
          <a:prstGeom prst="rect">
            <a:avLst/>
          </a:prstGeom>
          <a:noFill/>
          <a:ln/>
        </p:spPr>
        <p:txBody>
          <a:bodyPr wrap="square" lIns="0" tIns="0" rIns="0" bIns="0" rtlCol="0" anchor="ctr"/>
          <a:lstStyle/>
          <a:p>
            <a:pPr indent="0" marL="0">
              <a:buNone/>
            </a:pPr>
            <a:r>
              <a:rPr lang="en-US" sz="1200" dirty="0">
                <a:solidFill>
                  <a:srgbClr val="8B9DC3"/>
                </a:solidFill>
                <a:latin typeface="Calibri" pitchFamily="34" charset="0"/>
                <a:ea typeface="Calibri" pitchFamily="34" charset="-122"/>
                <a:cs typeface="Calibri" pitchFamily="34" charset="-120"/>
              </a:rPr>
              <a:t>Define transformation roadmap and long-term partnership model</a:t>
            </a:r>
            <a:endParaRPr lang="en-US" sz="1200" dirty="0"/>
          </a:p>
        </p:txBody>
      </p:sp>
      <p:sp>
        <p:nvSpPr>
          <p:cNvPr id="13" name="Shape 11"/>
          <p:cNvSpPr/>
          <p:nvPr/>
        </p:nvSpPr>
        <p:spPr>
          <a:xfrm>
            <a:off x="0" y="4389120"/>
            <a:ext cx="9144000" cy="754380"/>
          </a:xfrm>
          <a:prstGeom prst="rect">
            <a:avLst/>
          </a:prstGeom>
          <a:solidFill>
            <a:srgbClr val="0D1F3C"/>
          </a:solidFill>
          <a:ln/>
        </p:spPr>
      </p:sp>
      <p:sp>
        <p:nvSpPr>
          <p:cNvPr id="14" name="Text 12"/>
          <p:cNvSpPr/>
          <p:nvPr/>
        </p:nvSpPr>
        <p:spPr>
          <a:xfrm>
            <a:off x="731520" y="4526280"/>
            <a:ext cx="3657600" cy="320040"/>
          </a:xfrm>
          <a:prstGeom prst="rect">
            <a:avLst/>
          </a:prstGeom>
          <a:noFill/>
          <a:ln/>
        </p:spPr>
        <p:txBody>
          <a:bodyPr wrap="square" lIns="0" tIns="0" rIns="0" bIns="0" rtlCol="0" anchor="ctr"/>
          <a:lstStyle/>
          <a:p>
            <a:pPr indent="0" marL="0">
              <a:buNone/>
            </a:pPr>
            <a:r>
              <a:rPr lang="en-US" sz="1000" b="1" dirty="0">
                <a:solidFill>
                  <a:srgbClr val="8B9DC3"/>
                </a:solidFill>
                <a:latin typeface="Calibri" pitchFamily="34" charset="0"/>
                <a:ea typeface="Calibri" pitchFamily="34" charset="-122"/>
                <a:cs typeface="Calibri" pitchFamily="34" charset="-120"/>
              </a:rPr>
              <a:t>NTT DATA  ·  Autonomous Intelligence</a:t>
            </a:r>
            <a:endParaRPr lang="en-US" sz="1000" dirty="0"/>
          </a:p>
        </p:txBody>
      </p:sp>
      <p:sp>
        <p:nvSpPr>
          <p:cNvPr id="15" name="Text 13"/>
          <p:cNvSpPr/>
          <p:nvPr/>
        </p:nvSpPr>
        <p:spPr>
          <a:xfrm>
            <a:off x="4572000" y="4526280"/>
            <a:ext cx="3840480" cy="320040"/>
          </a:xfrm>
          <a:prstGeom prst="rect">
            <a:avLst/>
          </a:prstGeom>
          <a:noFill/>
          <a:ln/>
        </p:spPr>
        <p:txBody>
          <a:bodyPr wrap="square" lIns="0" tIns="0" rIns="0" bIns="0" rtlCol="0" anchor="ctr"/>
          <a:lstStyle/>
          <a:p>
            <a:pPr algn="r" indent="0" marL="0">
              <a:buNone/>
            </a:pPr>
            <a:r>
              <a:rPr lang="en-US" sz="900" dirty="0">
                <a:solidFill>
                  <a:srgbClr val="5A6F94"/>
                </a:solidFill>
                <a:latin typeface="Calibri" pitchFamily="34" charset="0"/>
                <a:ea typeface="Calibri" pitchFamily="34" charset="-122"/>
                <a:cs typeface="Calibri" pitchFamily="34" charset="-120"/>
              </a:rPr>
              <a:t>© 2026 NTT DATA, Inc.</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Autonomous Intelligence - Data &amp; Analytics</dc:title>
  <dc:subject>PptxGenJS Presentation</dc:subject>
  <dc:creator>NTT DATA</dc:creator>
  <cp:lastModifiedBy>NTT DATA</cp:lastModifiedBy>
  <cp:revision>1</cp:revision>
  <dcterms:created xsi:type="dcterms:W3CDTF">2026-02-23T17:12:55Z</dcterms:created>
  <dcterms:modified xsi:type="dcterms:W3CDTF">2026-02-23T17:12:55Z</dcterms:modified>
</cp:coreProperties>
</file>