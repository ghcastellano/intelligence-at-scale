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NTT DATA  ·  DATA &amp; ANALYTICS  ·  IBIOL  ·  INTERNAL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D&amp;A Offering</a:t>
            </a:r>
            <a:endParaRPr lang="en-US" sz="4000" dirty="0"/>
          </a:p>
          <a:p>
            <a:pPr indent="0" marL="0">
              <a:buNone/>
            </a:pPr>
            <a:r>
              <a:rPr lang="en-US" sz="4000" b="1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Hyperautomation to Autonomous Intelligence  |  Two-Track Strategy  |  2026 – 2027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526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 ·  Internal Leadership Only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0" y="4526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NTT DATA, Inc.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APPROACH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Two-Track Model: Maintain + Innovate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abandon what works. We maintain and optimize Track 1 while building the future with Track 2.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3749040" cy="3200400"/>
          </a:xfrm>
          <a:prstGeom prst="rect">
            <a:avLst/>
          </a:prstGeom>
          <a:solidFill>
            <a:srgbClr val="131D33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554480"/>
            <a:ext cx="3749040" cy="36576"/>
          </a:xfrm>
          <a:prstGeom prst="rect">
            <a:avLst/>
          </a:prstGeom>
          <a:solidFill>
            <a:srgbClr val="3A4A5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6916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A6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1  ·  MAINTAIN &amp; OPTIMIZE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14400" y="19385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DSA-BAA / DNA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331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Process Mining &amp; Task Mining (Celonis, QPR)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14400" y="2651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RPA (UiPath, Blue Prism, Automation Anywhere)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914400" y="2971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AI / ML (Predictive models, Copilot)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14400" y="32918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iBPMN &amp; Low-Code (Bizagi, Appian, OutSystems)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914400" y="3611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Document Processing (ABBYY, UiPath)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14400" y="3931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Syntphony by NTT DATA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914400" y="43891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Revenue-generating. Maintained. Clients served.</a:t>
            </a:r>
            <a:endParaRPr lang="en-US" sz="8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2880360"/>
            <a:ext cx="320040" cy="32004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4846320" y="1554480"/>
            <a:ext cx="3749040" cy="3200400"/>
          </a:xfrm>
          <a:prstGeom prst="rect">
            <a:avLst/>
          </a:prstGeom>
          <a:solidFill>
            <a:srgbClr val="131D33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846320" y="1554480"/>
            <a:ext cx="374904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0" name="Text 17"/>
          <p:cNvSpPr/>
          <p:nvPr/>
        </p:nvSpPr>
        <p:spPr>
          <a:xfrm>
            <a:off x="5029200" y="16916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2  ·  BUILD THE FUTURE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029200" y="19385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Intelligence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029200" y="2331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Agentic AI &amp; Multi-Agent Orchestration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5029200" y="2651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AI-Native Data Platforms (Mesh + Fabric)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5029200" y="2971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Decision Intelligence &amp; Closed-Loop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5029200" y="32918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AI Factory &amp; GenAI Industrialization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5029200" y="3611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Responsible AI &amp; EU AI Act Governance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5029200" y="3931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Autonomous Analytics Copilots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5029200" y="43891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revenue streams. Market differentiation.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DE-PARA  ·  CAPABILITY EVOLUTION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Where We Were to Where We're Going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3200400" cy="320040"/>
          </a:xfrm>
          <a:prstGeom prst="rect">
            <a:avLst/>
          </a:prstGeom>
          <a:solidFill>
            <a:srgbClr val="3A4A5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88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(Track 1)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212080" y="1188720"/>
            <a:ext cx="3200400" cy="32004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8" name="Text 6"/>
          <p:cNvSpPr/>
          <p:nvPr/>
        </p:nvSpPr>
        <p:spPr>
          <a:xfrm>
            <a:off x="5212080" y="1188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+ FUTURE (Track 2)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627632"/>
            <a:ext cx="3200400" cy="475488"/>
          </a:xfrm>
          <a:prstGeom prst="rect">
            <a:avLst/>
          </a:prstGeom>
          <a:solidFill>
            <a:srgbClr val="131D33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164592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RPA bots executing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A6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scripted tasks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977640" y="167335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212080" y="1627632"/>
            <a:ext cx="3200400" cy="475488"/>
          </a:xfrm>
          <a:prstGeom prst="rect">
            <a:avLst/>
          </a:prstGeom>
          <a:solidFill>
            <a:srgbClr val="182440"/>
          </a:solidFill>
          <a:ln/>
        </p:spPr>
      </p:sp>
      <p:sp>
        <p:nvSpPr>
          <p:cNvPr id="13" name="Text 11"/>
          <p:cNvSpPr/>
          <p:nvPr/>
        </p:nvSpPr>
        <p:spPr>
          <a:xfrm>
            <a:off x="5349240" y="164592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that plans, executes,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self-corrects autonomously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31520" y="2176272"/>
            <a:ext cx="3200400" cy="475488"/>
          </a:xfrm>
          <a:prstGeom prst="rect">
            <a:avLst/>
          </a:prstGeom>
          <a:solidFill>
            <a:srgbClr val="131D33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19456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Mining for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A6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discovery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977640" y="222199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212080" y="2176272"/>
            <a:ext cx="3200400" cy="475488"/>
          </a:xfrm>
          <a:prstGeom prst="rect">
            <a:avLst/>
          </a:prstGeom>
          <a:solidFill>
            <a:srgbClr val="182440"/>
          </a:solidFill>
          <a:ln/>
        </p:spPr>
      </p:sp>
      <p:sp>
        <p:nvSpPr>
          <p:cNvPr id="18" name="Text 16"/>
          <p:cNvSpPr/>
          <p:nvPr/>
        </p:nvSpPr>
        <p:spPr>
          <a:xfrm>
            <a:off x="5349240" y="219456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Intelligence with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feedback systems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31520" y="2724912"/>
            <a:ext cx="3200400" cy="475488"/>
          </a:xfrm>
          <a:prstGeom prst="rect">
            <a:avLst/>
          </a:prstGeom>
          <a:solidFill>
            <a:srgbClr val="131D33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274320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data warehouse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A6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ETL pipelines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977640" y="277063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212080" y="2724912"/>
            <a:ext cx="3200400" cy="475488"/>
          </a:xfrm>
          <a:prstGeom prst="rect">
            <a:avLst/>
          </a:prstGeom>
          <a:solidFill>
            <a:srgbClr val="182440"/>
          </a:solidFill>
          <a:ln/>
        </p:spPr>
      </p:sp>
      <p:sp>
        <p:nvSpPr>
          <p:cNvPr id="23" name="Text 21"/>
          <p:cNvSpPr/>
          <p:nvPr/>
        </p:nvSpPr>
        <p:spPr>
          <a:xfrm>
            <a:off x="5349240" y="274320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Data Platforms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(Mesh + Fabric + Semantic)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31520" y="3273552"/>
            <a:ext cx="3200400" cy="475488"/>
          </a:xfrm>
          <a:prstGeom prst="rect">
            <a:avLst/>
          </a:prstGeom>
          <a:solidFill>
            <a:srgbClr val="131D33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329184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PoC-stage ML models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A6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project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977640" y="331927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212080" y="3273552"/>
            <a:ext cx="3200400" cy="475488"/>
          </a:xfrm>
          <a:prstGeom prst="rect">
            <a:avLst/>
          </a:prstGeom>
          <a:solidFill>
            <a:srgbClr val="182440"/>
          </a:solidFill>
          <a:ln/>
        </p:spPr>
      </p:sp>
      <p:sp>
        <p:nvSpPr>
          <p:cNvPr id="28" name="Text 26"/>
          <p:cNvSpPr/>
          <p:nvPr/>
        </p:nvSpPr>
        <p:spPr>
          <a:xfrm>
            <a:off x="5349240" y="329184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Factory: industrialized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at enterprise scale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31520" y="3822192"/>
            <a:ext cx="3200400" cy="475488"/>
          </a:xfrm>
          <a:prstGeom prst="rect">
            <a:avLst/>
          </a:prstGeom>
          <a:solidFill>
            <a:srgbClr val="131D33"/>
          </a:solidFill>
          <a:ln/>
        </p:spPr>
      </p:sp>
      <p:sp>
        <p:nvSpPr>
          <p:cNvPr id="30" name="Text 28"/>
          <p:cNvSpPr/>
          <p:nvPr/>
        </p:nvSpPr>
        <p:spPr>
          <a:xfrm>
            <a:off x="868680" y="384048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compliance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A6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audit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977640" y="386791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212080" y="3822192"/>
            <a:ext cx="3200400" cy="475488"/>
          </a:xfrm>
          <a:prstGeom prst="rect">
            <a:avLst/>
          </a:prstGeom>
          <a:solidFill>
            <a:srgbClr val="182440"/>
          </a:solidFill>
          <a:ln/>
        </p:spPr>
      </p:sp>
      <p:sp>
        <p:nvSpPr>
          <p:cNvPr id="33" name="Text 31"/>
          <p:cNvSpPr/>
          <p:nvPr/>
        </p:nvSpPr>
        <p:spPr>
          <a:xfrm>
            <a:off x="5349240" y="384048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with automated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governance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31520" y="4370832"/>
            <a:ext cx="3200400" cy="475488"/>
          </a:xfrm>
          <a:prstGeom prst="rect">
            <a:avLst/>
          </a:prstGeom>
          <a:solidFill>
            <a:srgbClr val="131D33"/>
          </a:solidFill>
          <a:ln/>
        </p:spPr>
      </p:sp>
      <p:sp>
        <p:nvSpPr>
          <p:cNvPr id="35" name="Text 33"/>
          <p:cNvSpPr/>
          <p:nvPr/>
        </p:nvSpPr>
        <p:spPr>
          <a:xfrm>
            <a:off x="868680" y="438912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dashboards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A6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BI reports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977640" y="441655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212080" y="4370832"/>
            <a:ext cx="3200400" cy="475488"/>
          </a:xfrm>
          <a:prstGeom prst="rect">
            <a:avLst/>
          </a:prstGeom>
          <a:solidFill>
            <a:srgbClr val="182440"/>
          </a:solidFill>
          <a:ln/>
        </p:spPr>
      </p:sp>
      <p:sp>
        <p:nvSpPr>
          <p:cNvPr id="38" name="Text 36"/>
          <p:cNvSpPr/>
          <p:nvPr/>
        </p:nvSpPr>
        <p:spPr>
          <a:xfrm>
            <a:off x="5349240" y="438912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Analytics Copilots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NL interfaces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31520" y="475488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1 capabilities are maintained and serve as foundation. Track 2 is additive, not replacement.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DE-PARA  ·  TECHNOLOGY EVOLUTION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Stack: Then vs. Now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188720" cy="640080"/>
          </a:xfrm>
          <a:prstGeom prst="rect">
            <a:avLst/>
          </a:prstGeom>
          <a:solidFill>
            <a:srgbClr val="131D33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188720"/>
            <a:ext cx="54864" cy="64008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188720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11680" y="1188720"/>
            <a:ext cx="2834640" cy="640080"/>
          </a:xfrm>
          <a:prstGeom prst="rect">
            <a:avLst/>
          </a:prstGeom>
          <a:solidFill>
            <a:srgbClr val="131D33"/>
          </a:solidFill>
          <a:ln/>
        </p:spPr>
      </p:sp>
      <p:sp>
        <p:nvSpPr>
          <p:cNvPr id="9" name="Text 7"/>
          <p:cNvSpPr/>
          <p:nvPr/>
        </p:nvSpPr>
        <p:spPr>
          <a:xfrm>
            <a:off x="2148840" y="1188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UiPath, Blue Prism,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A6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Anywhere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89204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94960" y="1188720"/>
            <a:ext cx="3017520" cy="640080"/>
          </a:xfrm>
          <a:prstGeom prst="rect">
            <a:avLst/>
          </a:prstGeom>
          <a:solidFill>
            <a:srgbClr val="182440"/>
          </a:solidFill>
          <a:ln/>
        </p:spPr>
      </p:sp>
      <p:sp>
        <p:nvSpPr>
          <p:cNvPr id="12" name="Text 10"/>
          <p:cNvSpPr/>
          <p:nvPr/>
        </p:nvSpPr>
        <p:spPr>
          <a:xfrm>
            <a:off x="5532120" y="1188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LangGraph, CrewAI, AutoGen,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Kernel, MCP + UiPath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31520" y="1938528"/>
            <a:ext cx="1188720" cy="640080"/>
          </a:xfrm>
          <a:prstGeom prst="rect">
            <a:avLst/>
          </a:prstGeom>
          <a:solidFill>
            <a:srgbClr val="131D33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1938528"/>
            <a:ext cx="54864" cy="640080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1938528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011680" y="1938528"/>
            <a:ext cx="2834640" cy="640080"/>
          </a:xfrm>
          <a:prstGeom prst="rect">
            <a:avLst/>
          </a:prstGeom>
          <a:solidFill>
            <a:srgbClr val="131D33"/>
          </a:solidFill>
          <a:ln/>
        </p:spPr>
      </p:sp>
      <p:sp>
        <p:nvSpPr>
          <p:cNvPr id="17" name="Text 15"/>
          <p:cNvSpPr/>
          <p:nvPr/>
        </p:nvSpPr>
        <p:spPr>
          <a:xfrm>
            <a:off x="2148840" y="193852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Scikit-learn, TensorFlow,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A6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ML per project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892040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394960" y="1938528"/>
            <a:ext cx="3017520" cy="640080"/>
          </a:xfrm>
          <a:prstGeom prst="rect">
            <a:avLst/>
          </a:prstGeom>
          <a:solidFill>
            <a:srgbClr val="182440"/>
          </a:solidFill>
          <a:ln/>
        </p:spPr>
      </p:sp>
      <p:sp>
        <p:nvSpPr>
          <p:cNvPr id="20" name="Text 18"/>
          <p:cNvSpPr/>
          <p:nvPr/>
        </p:nvSpPr>
        <p:spPr>
          <a:xfrm>
            <a:off x="5532120" y="193852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OpenAI, Vertex AI, Bedrock,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NTT Smart AI Agent, Syntphony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31520" y="2688336"/>
            <a:ext cx="1188720" cy="640080"/>
          </a:xfrm>
          <a:prstGeom prst="rect">
            <a:avLst/>
          </a:prstGeom>
          <a:solidFill>
            <a:srgbClr val="131D33"/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" y="2688336"/>
            <a:ext cx="54864" cy="64008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2688336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011680" y="2688336"/>
            <a:ext cx="2834640" cy="640080"/>
          </a:xfrm>
          <a:prstGeom prst="rect">
            <a:avLst/>
          </a:prstGeom>
          <a:solidFill>
            <a:srgbClr val="131D33"/>
          </a:solidFill>
          <a:ln/>
        </p:spPr>
      </p:sp>
      <p:sp>
        <p:nvSpPr>
          <p:cNvPr id="25" name="Text 23"/>
          <p:cNvSpPr/>
          <p:nvPr/>
        </p:nvSpPr>
        <p:spPr>
          <a:xfrm>
            <a:off x="2148840" y="2688336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BI, Tableau,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A6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(traditional BI)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892040" y="2779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394960" y="2688336"/>
            <a:ext cx="3017520" cy="640080"/>
          </a:xfrm>
          <a:prstGeom prst="rect">
            <a:avLst/>
          </a:prstGeom>
          <a:solidFill>
            <a:srgbClr val="182440"/>
          </a:solidFill>
          <a:ln/>
        </p:spPr>
      </p:sp>
      <p:sp>
        <p:nvSpPr>
          <p:cNvPr id="28" name="Text 26"/>
          <p:cNvSpPr/>
          <p:nvPr/>
        </p:nvSpPr>
        <p:spPr>
          <a:xfrm>
            <a:off x="5532120" y="2688336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+ Copilot, Celonis,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ML, NL Querying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31520" y="3438144"/>
            <a:ext cx="1188720" cy="640080"/>
          </a:xfrm>
          <a:prstGeom prst="rect">
            <a:avLst/>
          </a:prstGeom>
          <a:solidFill>
            <a:srgbClr val="131D33"/>
          </a:solidFill>
          <a:ln/>
        </p:spPr>
      </p:sp>
      <p:sp>
        <p:nvSpPr>
          <p:cNvPr id="30" name="Shape 28"/>
          <p:cNvSpPr/>
          <p:nvPr/>
        </p:nvSpPr>
        <p:spPr>
          <a:xfrm>
            <a:off x="731520" y="3438144"/>
            <a:ext cx="54864" cy="640080"/>
          </a:xfrm>
          <a:prstGeom prst="rect">
            <a:avLst/>
          </a:prstGeom>
          <a:solidFill>
            <a:srgbClr val="FFB547"/>
          </a:solidFill>
          <a:ln/>
        </p:spPr>
      </p:sp>
      <p:sp>
        <p:nvSpPr>
          <p:cNvPr id="31" name="Text 29"/>
          <p:cNvSpPr/>
          <p:nvPr/>
        </p:nvSpPr>
        <p:spPr>
          <a:xfrm>
            <a:off x="868680" y="3438144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Platform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011680" y="3438144"/>
            <a:ext cx="2834640" cy="640080"/>
          </a:xfrm>
          <a:prstGeom prst="rect">
            <a:avLst/>
          </a:prstGeom>
          <a:solidFill>
            <a:srgbClr val="131D33"/>
          </a:solidFill>
          <a:ln/>
        </p:spPr>
      </p:sp>
      <p:sp>
        <p:nvSpPr>
          <p:cNvPr id="33" name="Text 31"/>
          <p:cNvSpPr/>
          <p:nvPr/>
        </p:nvSpPr>
        <p:spPr>
          <a:xfrm>
            <a:off x="2148840" y="3438144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DW, SSIS,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A6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Informatica, basic ETL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892040" y="3529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394960" y="3438144"/>
            <a:ext cx="3017520" cy="640080"/>
          </a:xfrm>
          <a:prstGeom prst="rect">
            <a:avLst/>
          </a:prstGeom>
          <a:solidFill>
            <a:srgbClr val="182440"/>
          </a:solidFill>
          <a:ln/>
        </p:spPr>
      </p:sp>
      <p:sp>
        <p:nvSpPr>
          <p:cNvPr id="36" name="Text 34"/>
          <p:cNvSpPr/>
          <p:nvPr/>
        </p:nvSpPr>
        <p:spPr>
          <a:xfrm>
            <a:off x="5532120" y="343814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Databricks, Snowflake, dbt,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Kafka, Airflow, BigQuery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731520" y="4187952"/>
            <a:ext cx="1188720" cy="640080"/>
          </a:xfrm>
          <a:prstGeom prst="rect">
            <a:avLst/>
          </a:prstGeom>
          <a:solidFill>
            <a:srgbClr val="131D33"/>
          </a:solidFill>
          <a:ln/>
        </p:spPr>
      </p:sp>
      <p:sp>
        <p:nvSpPr>
          <p:cNvPr id="38" name="Shape 36"/>
          <p:cNvSpPr/>
          <p:nvPr/>
        </p:nvSpPr>
        <p:spPr>
          <a:xfrm>
            <a:off x="731520" y="4187952"/>
            <a:ext cx="54864" cy="640080"/>
          </a:xfrm>
          <a:prstGeom prst="rect">
            <a:avLst/>
          </a:prstGeom>
          <a:solidFill>
            <a:srgbClr val="FF6B8A"/>
          </a:solidFill>
          <a:ln/>
        </p:spPr>
      </p:sp>
      <p:sp>
        <p:nvSpPr>
          <p:cNvPr id="39" name="Text 37"/>
          <p:cNvSpPr/>
          <p:nvPr/>
        </p:nvSpPr>
        <p:spPr>
          <a:xfrm>
            <a:off x="868680" y="4187952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011680" y="4187952"/>
            <a:ext cx="2834640" cy="640080"/>
          </a:xfrm>
          <a:prstGeom prst="rect">
            <a:avLst/>
          </a:prstGeom>
          <a:solidFill>
            <a:srgbClr val="131D33"/>
          </a:solidFill>
          <a:ln/>
        </p:spPr>
      </p:sp>
      <p:sp>
        <p:nvSpPr>
          <p:cNvPr id="41" name="Text 39"/>
          <p:cNvSpPr/>
          <p:nvPr/>
        </p:nvSpPr>
        <p:spPr>
          <a:xfrm>
            <a:off x="2148840" y="418795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audits, Excel-based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A6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frameworks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892040" y="4279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394960" y="4187952"/>
            <a:ext cx="3017520" cy="640080"/>
          </a:xfrm>
          <a:prstGeom prst="rect">
            <a:avLst/>
          </a:prstGeom>
          <a:solidFill>
            <a:srgbClr val="182440"/>
          </a:solidFill>
          <a:ln/>
        </p:spPr>
      </p:sp>
      <p:sp>
        <p:nvSpPr>
          <p:cNvPr id="44" name="Text 42"/>
          <p:cNvSpPr/>
          <p:nvPr/>
        </p:nvSpPr>
        <p:spPr>
          <a:xfrm>
            <a:off x="5532120" y="418795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AI, Model Cards,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EU AI Act checks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DE-PARA  ·  GO-TO-MARKET EVOLUTION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Sell: Then vs. Now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1188720" cy="640080"/>
          </a:xfrm>
          <a:prstGeom prst="rect">
            <a:avLst/>
          </a:prstGeom>
          <a:solidFill>
            <a:srgbClr val="131D33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1430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Approach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011680" y="1143000"/>
            <a:ext cx="2834640" cy="640080"/>
          </a:xfrm>
          <a:prstGeom prst="rect">
            <a:avLst/>
          </a:prstGeom>
          <a:solidFill>
            <a:srgbClr val="131D33"/>
          </a:solidFill>
          <a:ln/>
        </p:spPr>
      </p:sp>
      <p:sp>
        <p:nvSpPr>
          <p:cNvPr id="8" name="Text 6"/>
          <p:cNvSpPr/>
          <p:nvPr/>
        </p:nvSpPr>
        <p:spPr>
          <a:xfrm>
            <a:off x="2148840" y="11430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 to RFPs and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A6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requests reactively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89204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394960" y="1143000"/>
            <a:ext cx="3017520" cy="640080"/>
          </a:xfrm>
          <a:prstGeom prst="rect">
            <a:avLst/>
          </a:prstGeom>
          <a:solidFill>
            <a:srgbClr val="182440"/>
          </a:solidFill>
          <a:ln/>
        </p:spPr>
      </p:sp>
      <p:sp>
        <p:nvSpPr>
          <p:cNvPr id="11" name="Text 9"/>
          <p:cNvSpPr/>
          <p:nvPr/>
        </p:nvSpPr>
        <p:spPr>
          <a:xfrm>
            <a:off x="5532120" y="11430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Insight-led outreach with AI maturity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assessments. Proactive positioning.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731520" y="1892808"/>
            <a:ext cx="1188720" cy="640080"/>
          </a:xfrm>
          <a:prstGeom prst="rect">
            <a:avLst/>
          </a:prstGeom>
          <a:solidFill>
            <a:srgbClr val="131D33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1892808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Value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011680" y="1892808"/>
            <a:ext cx="2834640" cy="640080"/>
          </a:xfrm>
          <a:prstGeom prst="rect">
            <a:avLst/>
          </a:prstGeom>
          <a:solidFill>
            <a:srgbClr val="131D33"/>
          </a:solidFill>
          <a:ln/>
        </p:spPr>
      </p:sp>
      <p:sp>
        <p:nvSpPr>
          <p:cNvPr id="15" name="Text 13"/>
          <p:cNvSpPr/>
          <p:nvPr/>
        </p:nvSpPr>
        <p:spPr>
          <a:xfrm>
            <a:off x="2148840" y="189280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discovery phase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A6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(8-12 weeks before results)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892040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94960" y="1892808"/>
            <a:ext cx="3017520" cy="640080"/>
          </a:xfrm>
          <a:prstGeom prst="rect">
            <a:avLst/>
          </a:prstGeom>
          <a:solidFill>
            <a:srgbClr val="182440"/>
          </a:solidFill>
          <a:ln/>
        </p:spPr>
      </p:sp>
      <p:sp>
        <p:nvSpPr>
          <p:cNvPr id="18" name="Text 16"/>
          <p:cNvSpPr/>
          <p:nvPr/>
        </p:nvSpPr>
        <p:spPr>
          <a:xfrm>
            <a:off x="5532120" y="189280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4-week Rapid PoC with pre-built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templates. Measurable results fast.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31520" y="2642616"/>
            <a:ext cx="1188720" cy="640080"/>
          </a:xfrm>
          <a:prstGeom prst="rect">
            <a:avLst/>
          </a:prstGeom>
          <a:solidFill>
            <a:srgbClr val="131D33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2642616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011680" y="2642616"/>
            <a:ext cx="2834640" cy="640080"/>
          </a:xfrm>
          <a:prstGeom prst="rect">
            <a:avLst/>
          </a:prstGeom>
          <a:solidFill>
            <a:srgbClr val="131D33"/>
          </a:solidFill>
          <a:ln/>
        </p:spPr>
      </p:sp>
      <p:sp>
        <p:nvSpPr>
          <p:cNvPr id="22" name="Text 20"/>
          <p:cNvSpPr/>
          <p:nvPr/>
        </p:nvSpPr>
        <p:spPr>
          <a:xfrm>
            <a:off x="2148840" y="2642616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Project-by-project delivery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A6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limited cross-sell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892040" y="2734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394960" y="2642616"/>
            <a:ext cx="3017520" cy="640080"/>
          </a:xfrm>
          <a:prstGeom prst="rect">
            <a:avLst/>
          </a:prstGeom>
          <a:solidFill>
            <a:srgbClr val="182440"/>
          </a:solidFill>
          <a:ln/>
        </p:spPr>
      </p:sp>
      <p:sp>
        <p:nvSpPr>
          <p:cNvPr id="25" name="Text 23"/>
          <p:cNvSpPr/>
          <p:nvPr/>
        </p:nvSpPr>
        <p:spPr>
          <a:xfrm>
            <a:off x="5532120" y="2642616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&amp; expand: PoC converts into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strategy across BUs.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31520" y="3392424"/>
            <a:ext cx="1188720" cy="640080"/>
          </a:xfrm>
          <a:prstGeom prst="rect">
            <a:avLst/>
          </a:prstGeom>
          <a:solidFill>
            <a:srgbClr val="131D33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3392424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011680" y="3392424"/>
            <a:ext cx="2834640" cy="640080"/>
          </a:xfrm>
          <a:prstGeom prst="rect">
            <a:avLst/>
          </a:prstGeom>
          <a:solidFill>
            <a:srgbClr val="131D33"/>
          </a:solidFill>
          <a:ln/>
        </p:spPr>
      </p:sp>
      <p:sp>
        <p:nvSpPr>
          <p:cNvPr id="29" name="Text 27"/>
          <p:cNvSpPr/>
          <p:nvPr/>
        </p:nvSpPr>
        <p:spPr>
          <a:xfrm>
            <a:off x="2148840" y="3392424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relationship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A6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(project-based)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892040" y="3483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394960" y="3392424"/>
            <a:ext cx="3017520" cy="640080"/>
          </a:xfrm>
          <a:prstGeom prst="rect">
            <a:avLst/>
          </a:prstGeom>
          <a:solidFill>
            <a:srgbClr val="182440"/>
          </a:solidFill>
          <a:ln/>
        </p:spPr>
      </p:sp>
      <p:sp>
        <p:nvSpPr>
          <p:cNvPr id="32" name="Text 30"/>
          <p:cNvSpPr/>
          <p:nvPr/>
        </p:nvSpPr>
        <p:spPr>
          <a:xfrm>
            <a:off x="5532120" y="339242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partner: multi-year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services + innovation.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31520" y="4142232"/>
            <a:ext cx="1188720" cy="640080"/>
          </a:xfrm>
          <a:prstGeom prst="rect">
            <a:avLst/>
          </a:prstGeom>
          <a:solidFill>
            <a:srgbClr val="131D33"/>
          </a:solidFill>
          <a:ln/>
        </p:spPr>
      </p:sp>
      <p:sp>
        <p:nvSpPr>
          <p:cNvPr id="34" name="Text 32"/>
          <p:cNvSpPr/>
          <p:nvPr/>
        </p:nvSpPr>
        <p:spPr>
          <a:xfrm>
            <a:off x="868680" y="4142232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011680" y="4142232"/>
            <a:ext cx="2834640" cy="640080"/>
          </a:xfrm>
          <a:prstGeom prst="rect">
            <a:avLst/>
          </a:prstGeom>
          <a:solidFill>
            <a:srgbClr val="131D33"/>
          </a:solidFill>
          <a:ln/>
        </p:spPr>
      </p:sp>
      <p:sp>
        <p:nvSpPr>
          <p:cNvPr id="36" name="Text 34"/>
          <p:cNvSpPr/>
          <p:nvPr/>
        </p:nvSpPr>
        <p:spPr>
          <a:xfrm>
            <a:off x="2148840" y="414223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Hyperautomation vendor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A6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(competitive, commoditized)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892040" y="4233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394960" y="4142232"/>
            <a:ext cx="3017520" cy="640080"/>
          </a:xfrm>
          <a:prstGeom prst="rect">
            <a:avLst/>
          </a:prstGeom>
          <a:solidFill>
            <a:srgbClr val="182440"/>
          </a:solidFill>
          <a:ln/>
        </p:spPr>
      </p:sp>
      <p:sp>
        <p:nvSpPr>
          <p:cNvPr id="39" name="Text 37"/>
          <p:cNvSpPr/>
          <p:nvPr/>
        </p:nvSpPr>
        <p:spPr>
          <a:xfrm>
            <a:off x="5532120" y="414223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transformation partner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(differentiated, strategic).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2  ·  THE NEW OFFERING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Pillars of Autonomous Intelligence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2514600" cy="1737360"/>
          </a:xfrm>
          <a:prstGeom prst="rect">
            <a:avLst/>
          </a:prstGeom>
          <a:solidFill>
            <a:srgbClr val="131D33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188720"/>
            <a:ext cx="2514600" cy="36576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32588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2984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&amp;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Orchestration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868680" y="17373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LangGraph, CrewAI, AutoGen,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Kernel, MCP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429000" y="1188720"/>
            <a:ext cx="2514600" cy="1737360"/>
          </a:xfrm>
          <a:prstGeom prst="rect">
            <a:avLst/>
          </a:prstGeom>
          <a:solidFill>
            <a:srgbClr val="131D33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29000" y="1188720"/>
            <a:ext cx="2514600" cy="36576"/>
          </a:xfrm>
          <a:prstGeom prst="rect">
            <a:avLst/>
          </a:prstGeom>
          <a:solidFill>
            <a:srgbClr val="7B61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32588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31920" y="12984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Platforms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3566160" y="17373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Databricks, Snowflake, dbt,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Kafka, Data Mesh + Fabric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6126480" y="1188720"/>
            <a:ext cx="2514600" cy="1737360"/>
          </a:xfrm>
          <a:prstGeom prst="rect">
            <a:avLst/>
          </a:prstGeom>
          <a:solidFill>
            <a:srgbClr val="131D33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26480" y="1188720"/>
            <a:ext cx="2514600" cy="36576"/>
          </a:xfrm>
          <a:prstGeom prst="rect">
            <a:avLst/>
          </a:prstGeom>
          <a:solidFill>
            <a:srgbClr val="00C9A7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2588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29400" y="12984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Intelligence &amp;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Analytics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6263640" y="17373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AI, Digital Twins,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Inference</a:t>
            </a:r>
            <a:endParaRPr lang="en-US" sz="800" dirty="0"/>
          </a:p>
        </p:txBody>
      </p:sp>
      <p:sp>
        <p:nvSpPr>
          <p:cNvPr id="20" name="Shape 15"/>
          <p:cNvSpPr/>
          <p:nvPr/>
        </p:nvSpPr>
        <p:spPr>
          <a:xfrm>
            <a:off x="731520" y="3108960"/>
            <a:ext cx="2514600" cy="1737360"/>
          </a:xfrm>
          <a:prstGeom prst="rect">
            <a:avLst/>
          </a:prstGeom>
          <a:solidFill>
            <a:srgbClr val="131D33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31520" y="3108960"/>
            <a:ext cx="2514600" cy="36576"/>
          </a:xfrm>
          <a:prstGeom prst="rect">
            <a:avLst/>
          </a:prstGeom>
          <a:solidFill>
            <a:srgbClr val="FFB547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246120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34440" y="32186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Factory &amp;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Industrialization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868680" y="36576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OpenAI, Vertex AI,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Bedrock, MLOps, FinOps</a:t>
            </a:r>
            <a:endParaRPr lang="en-US" sz="800" dirty="0"/>
          </a:p>
        </p:txBody>
      </p:sp>
      <p:sp>
        <p:nvSpPr>
          <p:cNvPr id="25" name="Shape 19"/>
          <p:cNvSpPr/>
          <p:nvPr/>
        </p:nvSpPr>
        <p:spPr>
          <a:xfrm>
            <a:off x="3429000" y="3108960"/>
            <a:ext cx="2514600" cy="1737360"/>
          </a:xfrm>
          <a:prstGeom prst="rect">
            <a:avLst/>
          </a:prstGeom>
          <a:solidFill>
            <a:srgbClr val="131D33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429000" y="3108960"/>
            <a:ext cx="2514600" cy="36576"/>
          </a:xfrm>
          <a:prstGeom prst="rect">
            <a:avLst/>
          </a:prstGeom>
          <a:solidFill>
            <a:srgbClr val="FF6B8A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3246120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931920" y="32186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Governance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3566160" y="36576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XAI, Model Cards, EU AI Act,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Detection</a:t>
            </a:r>
            <a:endParaRPr lang="en-US" sz="800" dirty="0"/>
          </a:p>
        </p:txBody>
      </p:sp>
      <p:sp>
        <p:nvSpPr>
          <p:cNvPr id="30" name="Shape 23"/>
          <p:cNvSpPr/>
          <p:nvPr/>
        </p:nvSpPr>
        <p:spPr>
          <a:xfrm>
            <a:off x="6126480" y="3108960"/>
            <a:ext cx="2514600" cy="1737360"/>
          </a:xfrm>
          <a:prstGeom prst="rect">
            <a:avLst/>
          </a:prstGeom>
          <a:solidFill>
            <a:srgbClr val="131D33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126480" y="3108960"/>
            <a:ext cx="2514600" cy="36576"/>
          </a:xfrm>
          <a:prstGeom prst="rect">
            <a:avLst/>
          </a:prstGeom>
          <a:solidFill>
            <a:srgbClr val="0072BC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3246120"/>
            <a:ext cx="274320" cy="27432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629400" y="32186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Copilots</a:t>
            </a:r>
            <a:endParaRPr lang="en-US" sz="950" dirty="0"/>
          </a:p>
        </p:txBody>
      </p:sp>
      <p:sp>
        <p:nvSpPr>
          <p:cNvPr id="34" name="Text 26"/>
          <p:cNvSpPr/>
          <p:nvPr/>
        </p:nvSpPr>
        <p:spPr>
          <a:xfrm>
            <a:off x="6263640" y="36576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Querying, Power BI + AI,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Text-to-SQL, Lineage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Intelligence Stack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7680960" cy="777240"/>
          </a:xfrm>
          <a:prstGeom prst="rect">
            <a:avLst/>
          </a:prstGeom>
          <a:solidFill>
            <a:srgbClr val="131D33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188720"/>
            <a:ext cx="54864" cy="7772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2344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05840" y="1463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Execution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0" y="128016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/ CrewAI  ·  AutoGen  ·  Semantic Kernel  ·  MCP  ·  UiPath + AI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2103120"/>
            <a:ext cx="7680960" cy="777240"/>
          </a:xfrm>
          <a:prstGeom prst="rect">
            <a:avLst/>
          </a:prstGeom>
          <a:solidFill>
            <a:srgbClr val="131D33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2103120"/>
            <a:ext cx="54864" cy="777240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1488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05840" y="23774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GenAI Models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017520" y="219456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 ·  Vertex AI  ·  Bedrock  ·  NTT Smart AI Agent™  ·  Syntphony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31520" y="3017520"/>
            <a:ext cx="7680960" cy="777240"/>
          </a:xfrm>
          <a:prstGeom prst="rect">
            <a:avLst/>
          </a:prstGeom>
          <a:solidFill>
            <a:srgbClr val="131D33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3017520"/>
            <a:ext cx="54864" cy="77724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0632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005840" y="32918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&amp; Decision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017520" y="310896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+ Copilot  ·  Tableau  ·  Celonis  ·  Databricks ML  ·  Superset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1520" y="3931920"/>
            <a:ext cx="7680960" cy="777240"/>
          </a:xfrm>
          <a:prstGeom prst="rect">
            <a:avLst/>
          </a:prstGeom>
          <a:solidFill>
            <a:srgbClr val="131D33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3931920"/>
            <a:ext cx="54864" cy="777240"/>
          </a:xfrm>
          <a:prstGeom prst="rect">
            <a:avLst/>
          </a:prstGeom>
          <a:solidFill>
            <a:srgbClr val="FFB547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39776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005840" y="4206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Platform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017520" y="402336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 ·  Snowflake  ·  dbt / Airflow  ·  Kafka  ·  BigQuery  ·  Synapse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POC FRAMEWORK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4-Week Value Demonstration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920240" cy="2286000"/>
          </a:xfrm>
          <a:prstGeom prst="rect">
            <a:avLst/>
          </a:prstGeom>
          <a:solidFill>
            <a:srgbClr val="131D33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188720"/>
            <a:ext cx="192024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29844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" y="152704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&amp;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Assessment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20574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Deliverables: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" y="22402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readiness report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prioritization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651760" y="21031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834640" y="1188720"/>
            <a:ext cx="1920240" cy="2286000"/>
          </a:xfrm>
          <a:prstGeom prst="rect">
            <a:avLst/>
          </a:prstGeom>
          <a:solidFill>
            <a:srgbClr val="131D33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834640" y="1188720"/>
            <a:ext cx="192024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4" name="Text 12"/>
          <p:cNvSpPr/>
          <p:nvPr/>
        </p:nvSpPr>
        <p:spPr>
          <a:xfrm>
            <a:off x="2971800" y="129844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971800" y="152704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Prototyping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Agent Design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971800" y="20574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Deliverables: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971800" y="22402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diagram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map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754880" y="21031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937760" y="1188720"/>
            <a:ext cx="1920240" cy="2286000"/>
          </a:xfrm>
          <a:prstGeom prst="rect">
            <a:avLst/>
          </a:prstGeom>
          <a:solidFill>
            <a:srgbClr val="131D33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37760" y="1188720"/>
            <a:ext cx="192024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1" name="Text 19"/>
          <p:cNvSpPr/>
          <p:nvPr/>
        </p:nvSpPr>
        <p:spPr>
          <a:xfrm>
            <a:off x="5074920" y="129844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074920" y="152704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Iteration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74920" y="20574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Deliverables: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074920" y="22402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feedback report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benchmarks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log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858000" y="21031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040880" y="1188720"/>
            <a:ext cx="1920240" cy="2286000"/>
          </a:xfrm>
          <a:prstGeom prst="rect">
            <a:avLst/>
          </a:prstGeom>
          <a:solidFill>
            <a:srgbClr val="131D33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040880" y="1188720"/>
            <a:ext cx="192024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8" name="Text 26"/>
          <p:cNvSpPr/>
          <p:nvPr/>
        </p:nvSpPr>
        <p:spPr>
          <a:xfrm>
            <a:off x="7178040" y="129844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178040" y="152704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 &amp;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Roadmap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178040" y="20574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Deliverables: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7178040" y="22402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presentation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projection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Comm. proposal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31520" y="3703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POC TEMPLATES</a:t>
            </a:r>
            <a:endParaRPr lang="en-US" sz="800" dirty="0"/>
          </a:p>
        </p:txBody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995928"/>
            <a:ext cx="137160" cy="137160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914400" y="39593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Document Processing</a:t>
            </a:r>
            <a:endParaRPr lang="en-US" sz="850" dirty="0"/>
          </a:p>
        </p:txBody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3995928"/>
            <a:ext cx="137160" cy="13716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3749040" y="39593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Revenue Analytics</a:t>
            </a:r>
            <a:endParaRPr lang="en-US" sz="850" dirty="0"/>
          </a:p>
        </p:txBody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995928"/>
            <a:ext cx="137160" cy="137160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6583680" y="39593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Service AI Agent</a:t>
            </a:r>
            <a:endParaRPr lang="en-US" sz="850" dirty="0"/>
          </a:p>
        </p:txBody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270248"/>
            <a:ext cx="137160" cy="137160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914400" y="42336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Digital Twin</a:t>
            </a:r>
            <a:endParaRPr lang="en-US" sz="850" dirty="0"/>
          </a:p>
        </p:txBody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4270248"/>
            <a:ext cx="137160" cy="137160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3749040" y="42336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&amp; AML Agent</a:t>
            </a:r>
            <a:endParaRPr lang="en-US" sz="850" dirty="0"/>
          </a:p>
        </p:txBody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4270248"/>
            <a:ext cx="137160" cy="137160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6583680" y="42336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Analytics Copilot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ROADMAP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Three-Phase Transition Plan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2606040" cy="3474720"/>
          </a:xfrm>
          <a:prstGeom prst="rect">
            <a:avLst/>
          </a:prstGeom>
          <a:solidFill>
            <a:srgbClr val="131D33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097280"/>
            <a:ext cx="260604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23444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1º SEM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" y="14630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11680"/>
            <a:ext cx="137160" cy="1371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" y="197510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AI Governance frameworks</a:t>
            </a:r>
            <a:endParaRPr lang="en-US" sz="8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423160"/>
            <a:ext cx="137160" cy="1371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238658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Data Platform Modernization</a:t>
            </a:r>
            <a:endParaRPr lang="en-US" sz="8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834640"/>
            <a:ext cx="137160" cy="1371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97280" y="279806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first Agentic PoCs</a:t>
            </a:r>
            <a:endParaRPr lang="en-US" sz="8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246120"/>
            <a:ext cx="137160" cy="1371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97280" y="320954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upskilling on new stack</a:t>
            </a:r>
            <a:endParaRPr lang="en-US" sz="8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657600"/>
            <a:ext cx="137160" cy="13716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97280" y="362102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Zero internal testing</a:t>
            </a:r>
            <a:endParaRPr lang="en-US" sz="850" dirty="0"/>
          </a:p>
        </p:txBody>
      </p:sp>
      <p:sp>
        <p:nvSpPr>
          <p:cNvPr id="19" name="Shape 12"/>
          <p:cNvSpPr/>
          <p:nvPr/>
        </p:nvSpPr>
        <p:spPr>
          <a:xfrm>
            <a:off x="3520440" y="1097280"/>
            <a:ext cx="2606040" cy="3474720"/>
          </a:xfrm>
          <a:prstGeom prst="rect">
            <a:avLst/>
          </a:prstGeom>
          <a:solidFill>
            <a:srgbClr val="131D33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3"/>
          <p:cNvSpPr/>
          <p:nvPr/>
        </p:nvSpPr>
        <p:spPr>
          <a:xfrm>
            <a:off x="3520440" y="1097280"/>
            <a:ext cx="260604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1" name="Text 14"/>
          <p:cNvSpPr/>
          <p:nvPr/>
        </p:nvSpPr>
        <p:spPr>
          <a:xfrm>
            <a:off x="3657600" y="123444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2º SEM 2026</a:t>
            </a:r>
            <a:endParaRPr lang="en-US" sz="800" dirty="0"/>
          </a:p>
        </p:txBody>
      </p:sp>
      <p:sp>
        <p:nvSpPr>
          <p:cNvPr id="22" name="Text 15"/>
          <p:cNvSpPr/>
          <p:nvPr/>
        </p:nvSpPr>
        <p:spPr>
          <a:xfrm>
            <a:off x="3657600" y="14630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8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0" y="2011680"/>
            <a:ext cx="137160" cy="13716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3886200" y="197510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Factory infrastructure setup</a:t>
            </a:r>
            <a:endParaRPr lang="en-US" sz="85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0" y="2423160"/>
            <a:ext cx="137160" cy="13716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3886200" y="238658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industrialization rollout</a:t>
            </a:r>
            <a:endParaRPr lang="en-US" sz="85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7600" y="2834640"/>
            <a:ext cx="137160" cy="13716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3886200" y="279806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Intelligence pilots</a:t>
            </a:r>
            <a:endParaRPr lang="en-US" sz="850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57600" y="3246120"/>
            <a:ext cx="137160" cy="137160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3886200" y="320954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client engagements on Track 2</a:t>
            </a:r>
            <a:endParaRPr lang="en-US" sz="850" dirty="0"/>
          </a:p>
        </p:txBody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57600" y="3657600"/>
            <a:ext cx="137160" cy="137160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3886200" y="362102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 to existing Track 1 clients</a:t>
            </a:r>
            <a:endParaRPr lang="en-US" sz="850" dirty="0"/>
          </a:p>
        </p:txBody>
      </p:sp>
      <p:sp>
        <p:nvSpPr>
          <p:cNvPr id="33" name="Shape 21"/>
          <p:cNvSpPr/>
          <p:nvPr/>
        </p:nvSpPr>
        <p:spPr>
          <a:xfrm>
            <a:off x="6309360" y="1097280"/>
            <a:ext cx="2606040" cy="3474720"/>
          </a:xfrm>
          <a:prstGeom prst="rect">
            <a:avLst/>
          </a:prstGeom>
          <a:solidFill>
            <a:srgbClr val="131D33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22"/>
          <p:cNvSpPr/>
          <p:nvPr/>
        </p:nvSpPr>
        <p:spPr>
          <a:xfrm>
            <a:off x="6309360" y="1097280"/>
            <a:ext cx="2606040" cy="36576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35" name="Text 23"/>
          <p:cNvSpPr/>
          <p:nvPr/>
        </p:nvSpPr>
        <p:spPr>
          <a:xfrm>
            <a:off x="6446520" y="123444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·  2027</a:t>
            </a:r>
            <a:endParaRPr lang="en-US" sz="800" dirty="0"/>
          </a:p>
        </p:txBody>
      </p:sp>
      <p:sp>
        <p:nvSpPr>
          <p:cNvPr id="36" name="Text 24"/>
          <p:cNvSpPr/>
          <p:nvPr/>
        </p:nvSpPr>
        <p:spPr>
          <a:xfrm>
            <a:off x="6446520" y="14630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</a:t>
            </a:r>
            <a:endParaRPr lang="en-US" sz="1800" dirty="0"/>
          </a:p>
        </p:txBody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46520" y="2011680"/>
            <a:ext cx="137160" cy="137160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6675120" y="197510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Analytics at scale</a:t>
            </a:r>
            <a:endParaRPr lang="en-US" sz="850" dirty="0"/>
          </a:p>
        </p:txBody>
      </p:sp>
      <p:pic>
        <p:nvPicPr>
          <p:cNvPr id="3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46520" y="2423160"/>
            <a:ext cx="137160" cy="137160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6675120" y="238658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systems in production</a:t>
            </a:r>
            <a:endParaRPr lang="en-US" sz="850" dirty="0"/>
          </a:p>
        </p:txBody>
      </p:sp>
      <p:pic>
        <p:nvPicPr>
          <p:cNvPr id="4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46520" y="2834640"/>
            <a:ext cx="137160" cy="137160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6675120" y="279806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AI-native operations</a:t>
            </a:r>
            <a:endParaRPr lang="en-US" sz="850" dirty="0"/>
          </a:p>
        </p:txBody>
      </p:sp>
      <p:pic>
        <p:nvPicPr>
          <p:cNvPr id="43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46520" y="3246120"/>
            <a:ext cx="137160" cy="137160"/>
          </a:xfrm>
          <a:prstGeom prst="rect">
            <a:avLst/>
          </a:prstGeom>
        </p:spPr>
      </p:pic>
      <p:sp>
        <p:nvSpPr>
          <p:cNvPr id="44" name="Text 28"/>
          <p:cNvSpPr/>
          <p:nvPr/>
        </p:nvSpPr>
        <p:spPr>
          <a:xfrm>
            <a:off x="6675120" y="320954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partnerships established</a:t>
            </a:r>
            <a:endParaRPr lang="en-US" sz="850" dirty="0"/>
          </a:p>
        </p:txBody>
      </p:sp>
      <p:pic>
        <p:nvPicPr>
          <p:cNvPr id="45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46520" y="3657600"/>
            <a:ext cx="137160" cy="137160"/>
          </a:xfrm>
          <a:prstGeom prst="rect">
            <a:avLst/>
          </a:prstGeom>
        </p:spPr>
      </p:pic>
      <p:sp>
        <p:nvSpPr>
          <p:cNvPr id="46" name="Text 29"/>
          <p:cNvSpPr/>
          <p:nvPr/>
        </p:nvSpPr>
        <p:spPr>
          <a:xfrm>
            <a:off x="6675120" y="362102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2 as primary revenue driver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WIN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Competitive Differentiators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3840480" cy="1508760"/>
          </a:xfrm>
          <a:prstGeom prst="rect">
            <a:avLst/>
          </a:prstGeom>
          <a:solidFill>
            <a:srgbClr val="131D33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143000"/>
            <a:ext cx="54864" cy="1508760"/>
          </a:xfrm>
          <a:prstGeom prst="rect">
            <a:avLst/>
          </a:prstGeom>
          <a:solidFill>
            <a:srgbClr val="FFB54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32588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325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ISG Leader: Agentic AI &amp; GenAI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0120" y="17830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consecutive years. Independent validation by ISG Provider Lens. Both categories.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846320" y="1143000"/>
            <a:ext cx="3840480" cy="1508760"/>
          </a:xfrm>
          <a:prstGeom prst="rect">
            <a:avLst/>
          </a:prstGeom>
          <a:solidFill>
            <a:srgbClr val="131D33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46320" y="1143000"/>
            <a:ext cx="54864" cy="1508760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32588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32120" y="1325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AI Agent™ Ecosystem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074920" y="17830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full-stack. Client Zero tested. Infrastructure + Orchestration + Dev + Observability.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731520" y="2834640"/>
            <a:ext cx="3840480" cy="1508760"/>
          </a:xfrm>
          <a:prstGeom prst="rect">
            <a:avLst/>
          </a:prstGeom>
          <a:solidFill>
            <a:srgbClr val="131D33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31520" y="2834640"/>
            <a:ext cx="54864" cy="1508760"/>
          </a:xfrm>
          <a:prstGeom prst="rect">
            <a:avLst/>
          </a:prstGeom>
          <a:solidFill>
            <a:srgbClr val="0072B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01752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17320" y="30175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Scale, Local Expertise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960120" y="34747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$30B+ organization. ~200,000 employees across 70+ countries. 75% of Fortune Global 100 served.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4846320" y="2834640"/>
            <a:ext cx="3840480" cy="1508760"/>
          </a:xfrm>
          <a:prstGeom prst="rect">
            <a:avLst/>
          </a:prstGeom>
          <a:solidFill>
            <a:srgbClr val="131D33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846320" y="2834640"/>
            <a:ext cx="54864" cy="1508760"/>
          </a:xfrm>
          <a:prstGeom prst="rect">
            <a:avLst/>
          </a:prstGeom>
          <a:solidFill>
            <a:srgbClr val="7B61F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301752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32120" y="30175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Hyperscaler Alliances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074920" y="34747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partnerships with Google Cloud, Microsoft Azure, AWS. Multi-cloud certified.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Hyperautomation to</a:t>
            </a:r>
            <a:endParaRPr lang="en-US" sz="3000" dirty="0"/>
          </a:p>
          <a:p>
            <a:pPr indent="0" marL="0">
              <a:buNone/>
            </a:pPr>
            <a:r>
              <a:rPr lang="en-US" sz="3000" b="1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Intelligence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ACTION ITEMS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80160" y="2468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leadership on two-track strategy and resource allocation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28163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28163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team upskilling: GenAI, Agentic AI, modern data platforms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316382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80160" y="316382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Client Zero internal PoCs for credibility building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351129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351129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top 5 existing clients for Track 2 cross-sell pilots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38587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80160" y="385876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sector-specific PoC templates and sales enablement materials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4206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4206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Responsible AI governance framework before EU AI Act deadline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526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NTT DATA  ·  Intelligence at Scale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0" y="4526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NTT DATA, Inc.  ·  Internal Use Only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D&amp;A Offering Evolution - Internal</dc:title>
  <dc:subject>PptxGenJS Presentation</dc:subject>
  <dc:creator>NTT DATA</dc:creator>
  <cp:lastModifiedBy>NTT DATA</cp:lastModifiedBy>
  <cp:revision>1</cp:revision>
  <dcterms:created xsi:type="dcterms:W3CDTF">2026-02-23T17:12:56Z</dcterms:created>
  <dcterms:modified xsi:type="dcterms:W3CDTF">2026-02-23T17:12:56Z</dcterms:modified>
</cp:coreProperties>
</file>